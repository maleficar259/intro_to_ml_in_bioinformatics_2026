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1"/>
  </p:notesMasterIdLst>
  <p:sldIdLst>
    <p:sldId id="291" r:id="rId5"/>
    <p:sldId id="273" r:id="rId6"/>
    <p:sldId id="293" r:id="rId7"/>
    <p:sldId id="314" r:id="rId8"/>
    <p:sldId id="312" r:id="rId9"/>
    <p:sldId id="310" r:id="rId10"/>
    <p:sldId id="311" r:id="rId11"/>
    <p:sldId id="316" r:id="rId12"/>
    <p:sldId id="313" r:id="rId13"/>
    <p:sldId id="317" r:id="rId14"/>
    <p:sldId id="319" r:id="rId15"/>
    <p:sldId id="335" r:id="rId16"/>
    <p:sldId id="320" r:id="rId17"/>
    <p:sldId id="318" r:id="rId18"/>
    <p:sldId id="321" r:id="rId19"/>
    <p:sldId id="326" r:id="rId20"/>
    <p:sldId id="331" r:id="rId21"/>
    <p:sldId id="332" r:id="rId22"/>
    <p:sldId id="337" r:id="rId23"/>
    <p:sldId id="338" r:id="rId24"/>
    <p:sldId id="339" r:id="rId25"/>
    <p:sldId id="323" r:id="rId26"/>
    <p:sldId id="324" r:id="rId27"/>
    <p:sldId id="325" r:id="rId28"/>
    <p:sldId id="327" r:id="rId29"/>
    <p:sldId id="330" r:id="rId30"/>
    <p:sldId id="328" r:id="rId31"/>
    <p:sldId id="329" r:id="rId32"/>
    <p:sldId id="333" r:id="rId33"/>
    <p:sldId id="336" r:id="rId34"/>
    <p:sldId id="334" r:id="rId35"/>
    <p:sldId id="306" r:id="rId36"/>
    <p:sldId id="340" r:id="rId37"/>
    <p:sldId id="322" r:id="rId38"/>
    <p:sldId id="307" r:id="rId39"/>
    <p:sldId id="285" r:id="rId40"/>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506AA7"/>
    <a:srgbClr val="029C63"/>
    <a:srgbClr val="96628C"/>
    <a:srgbClr val="11A0D7"/>
    <a:srgbClr val="E61F3D"/>
    <a:srgbClr val="CD5A5A"/>
    <a:srgbClr val="FFD746"/>
    <a:srgbClr val="0E2D69"/>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C21501-8AC7-D24B-9BD4-4AB280FA19DE}" v="6" dt="2021-11-26T18:08:21.5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368" autoAdjust="0"/>
  </p:normalViewPr>
  <p:slideViewPr>
    <p:cSldViewPr snapToGrid="0" snapToObjects="1">
      <p:cViewPr varScale="1">
        <p:scale>
          <a:sx n="120" d="100"/>
          <a:sy n="120" d="100"/>
        </p:scale>
        <p:origin x="1880" y="72"/>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09/16/2026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2</a:t>
            </a:fld>
            <a:endParaRPr lang="en-RU"/>
          </a:p>
        </p:txBody>
      </p:sp>
    </p:spTree>
    <p:extLst>
      <p:ext uri="{BB962C8B-B14F-4D97-AF65-F5344CB8AC3E}">
        <p14:creationId xmlns:p14="http://schemas.microsoft.com/office/powerpoint/2010/main" val="1148269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baseline="0" dirty="0"/>
          </a:p>
        </p:txBody>
      </p:sp>
      <p:sp>
        <p:nvSpPr>
          <p:cNvPr id="4" name="Номер слайда 3"/>
          <p:cNvSpPr>
            <a:spLocks noGrp="1"/>
          </p:cNvSpPr>
          <p:nvPr>
            <p:ph type="sldNum" sz="quarter" idx="5"/>
          </p:nvPr>
        </p:nvSpPr>
        <p:spPr/>
        <p:txBody>
          <a:bodyPr/>
          <a:lstStyle/>
          <a:p>
            <a:fld id="{6C748903-8EB5-294E-A216-6B54B0368783}" type="slidenum">
              <a:rPr lang="en-RU" smtClean="0"/>
              <a:t>3</a:t>
            </a:fld>
            <a:endParaRPr lang="en-RU"/>
          </a:p>
        </p:txBody>
      </p:sp>
    </p:spTree>
    <p:extLst>
      <p:ext uri="{BB962C8B-B14F-4D97-AF65-F5344CB8AC3E}">
        <p14:creationId xmlns:p14="http://schemas.microsoft.com/office/powerpoint/2010/main" val="513151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4</a:t>
            </a:fld>
            <a:endParaRPr lang="en-RU"/>
          </a:p>
        </p:txBody>
      </p:sp>
    </p:spTree>
    <p:extLst>
      <p:ext uri="{BB962C8B-B14F-4D97-AF65-F5344CB8AC3E}">
        <p14:creationId xmlns:p14="http://schemas.microsoft.com/office/powerpoint/2010/main" val="2693201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6C748903-8EB5-294E-A216-6B54B0368783}" type="slidenum">
              <a:rPr lang="en-RU" smtClean="0"/>
              <a:t>5</a:t>
            </a:fld>
            <a:endParaRPr lang="en-RU"/>
          </a:p>
        </p:txBody>
      </p:sp>
    </p:spTree>
    <p:extLst>
      <p:ext uri="{BB962C8B-B14F-4D97-AF65-F5344CB8AC3E}">
        <p14:creationId xmlns:p14="http://schemas.microsoft.com/office/powerpoint/2010/main" val="3996826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6C748903-8EB5-294E-A216-6B54B0368783}" type="slidenum">
              <a:rPr lang="en-RU" smtClean="0"/>
              <a:t>7</a:t>
            </a:fld>
            <a:endParaRPr lang="en-RU"/>
          </a:p>
        </p:txBody>
      </p:sp>
    </p:spTree>
    <p:extLst>
      <p:ext uri="{BB962C8B-B14F-4D97-AF65-F5344CB8AC3E}">
        <p14:creationId xmlns:p14="http://schemas.microsoft.com/office/powerpoint/2010/main" val="1541452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6C748903-8EB5-294E-A216-6B54B0368783}" type="slidenum">
              <a:rPr lang="en-RU" smtClean="0"/>
              <a:t>8</a:t>
            </a:fld>
            <a:endParaRPr lang="en-RU"/>
          </a:p>
        </p:txBody>
      </p:sp>
    </p:spTree>
    <p:extLst>
      <p:ext uri="{BB962C8B-B14F-4D97-AF65-F5344CB8AC3E}">
        <p14:creationId xmlns:p14="http://schemas.microsoft.com/office/powerpoint/2010/main" val="2434932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9</a:t>
            </a:fld>
            <a:endParaRPr lang="en-RU"/>
          </a:p>
        </p:txBody>
      </p:sp>
    </p:spTree>
    <p:extLst>
      <p:ext uri="{BB962C8B-B14F-4D97-AF65-F5344CB8AC3E}">
        <p14:creationId xmlns:p14="http://schemas.microsoft.com/office/powerpoint/2010/main" val="30578516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10</a:t>
            </a:fld>
            <a:endParaRPr lang="en-RU"/>
          </a:p>
        </p:txBody>
      </p:sp>
    </p:spTree>
    <p:extLst>
      <p:ext uri="{BB962C8B-B14F-4D97-AF65-F5344CB8AC3E}">
        <p14:creationId xmlns:p14="http://schemas.microsoft.com/office/powerpoint/2010/main" val="469667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6C748903-8EB5-294E-A216-6B54B0368783}" type="slidenum">
              <a:rPr lang="en-RU" smtClean="0"/>
              <a:t>11</a:t>
            </a:fld>
            <a:endParaRPr lang="en-RU"/>
          </a:p>
        </p:txBody>
      </p:sp>
    </p:spTree>
    <p:extLst>
      <p:ext uri="{BB962C8B-B14F-4D97-AF65-F5344CB8AC3E}">
        <p14:creationId xmlns:p14="http://schemas.microsoft.com/office/powerpoint/2010/main" val="2761590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12</a:t>
            </a:fld>
            <a:endParaRPr lang="en-RU"/>
          </a:p>
        </p:txBody>
      </p:sp>
    </p:spTree>
    <p:extLst>
      <p:ext uri="{BB962C8B-B14F-4D97-AF65-F5344CB8AC3E}">
        <p14:creationId xmlns:p14="http://schemas.microsoft.com/office/powerpoint/2010/main" val="3378075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13</a:t>
            </a:fld>
            <a:endParaRPr lang="en-RU"/>
          </a:p>
        </p:txBody>
      </p:sp>
    </p:spTree>
    <p:extLst>
      <p:ext uri="{BB962C8B-B14F-4D97-AF65-F5344CB8AC3E}">
        <p14:creationId xmlns:p14="http://schemas.microsoft.com/office/powerpoint/2010/main" val="1820713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14</a:t>
            </a:fld>
            <a:endParaRPr lang="en-RU"/>
          </a:p>
        </p:txBody>
      </p:sp>
    </p:spTree>
    <p:extLst>
      <p:ext uri="{BB962C8B-B14F-4D97-AF65-F5344CB8AC3E}">
        <p14:creationId xmlns:p14="http://schemas.microsoft.com/office/powerpoint/2010/main" val="2214186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b="0" dirty="0"/>
          </a:p>
        </p:txBody>
      </p:sp>
      <p:sp>
        <p:nvSpPr>
          <p:cNvPr id="4" name="Номер слайда 3"/>
          <p:cNvSpPr>
            <a:spLocks noGrp="1"/>
          </p:cNvSpPr>
          <p:nvPr>
            <p:ph type="sldNum" sz="quarter" idx="5"/>
          </p:nvPr>
        </p:nvSpPr>
        <p:spPr/>
        <p:txBody>
          <a:bodyPr/>
          <a:lstStyle/>
          <a:p>
            <a:fld id="{6C748903-8EB5-294E-A216-6B54B0368783}" type="slidenum">
              <a:rPr lang="en-RU" smtClean="0"/>
              <a:t>15</a:t>
            </a:fld>
            <a:endParaRPr lang="en-RU"/>
          </a:p>
        </p:txBody>
      </p:sp>
    </p:spTree>
    <p:extLst>
      <p:ext uri="{BB962C8B-B14F-4D97-AF65-F5344CB8AC3E}">
        <p14:creationId xmlns:p14="http://schemas.microsoft.com/office/powerpoint/2010/main" val="14203924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17</a:t>
            </a:fld>
            <a:endParaRPr lang="en-RU"/>
          </a:p>
        </p:txBody>
      </p:sp>
    </p:spTree>
    <p:extLst>
      <p:ext uri="{BB962C8B-B14F-4D97-AF65-F5344CB8AC3E}">
        <p14:creationId xmlns:p14="http://schemas.microsoft.com/office/powerpoint/2010/main" val="1311278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18</a:t>
            </a:fld>
            <a:endParaRPr lang="en-RU"/>
          </a:p>
        </p:txBody>
      </p:sp>
    </p:spTree>
    <p:extLst>
      <p:ext uri="{BB962C8B-B14F-4D97-AF65-F5344CB8AC3E}">
        <p14:creationId xmlns:p14="http://schemas.microsoft.com/office/powerpoint/2010/main" val="1115455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19</a:t>
            </a:fld>
            <a:endParaRPr lang="en-RU"/>
          </a:p>
        </p:txBody>
      </p:sp>
    </p:spTree>
    <p:extLst>
      <p:ext uri="{BB962C8B-B14F-4D97-AF65-F5344CB8AC3E}">
        <p14:creationId xmlns:p14="http://schemas.microsoft.com/office/powerpoint/2010/main" val="923420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20</a:t>
            </a:fld>
            <a:endParaRPr lang="en-RU"/>
          </a:p>
        </p:txBody>
      </p:sp>
    </p:spTree>
    <p:extLst>
      <p:ext uri="{BB962C8B-B14F-4D97-AF65-F5344CB8AC3E}">
        <p14:creationId xmlns:p14="http://schemas.microsoft.com/office/powerpoint/2010/main" val="42564663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21</a:t>
            </a:fld>
            <a:endParaRPr lang="en-RU"/>
          </a:p>
        </p:txBody>
      </p:sp>
    </p:spTree>
    <p:extLst>
      <p:ext uri="{BB962C8B-B14F-4D97-AF65-F5344CB8AC3E}">
        <p14:creationId xmlns:p14="http://schemas.microsoft.com/office/powerpoint/2010/main" val="6393597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22</a:t>
            </a:fld>
            <a:endParaRPr lang="en-RU"/>
          </a:p>
        </p:txBody>
      </p:sp>
    </p:spTree>
    <p:extLst>
      <p:ext uri="{BB962C8B-B14F-4D97-AF65-F5344CB8AC3E}">
        <p14:creationId xmlns:p14="http://schemas.microsoft.com/office/powerpoint/2010/main" val="3511350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218D7-61CB-C3E7-8FDF-DA9961EC3AD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77769F7E-57DC-841C-97C2-992B5E4FED07}"/>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4265A625-C204-2450-F164-C260CDD414F4}"/>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C5A8A627-3B96-F2EB-643B-B6D4E03A83BF}"/>
              </a:ext>
            </a:extLst>
          </p:cNvPr>
          <p:cNvSpPr>
            <a:spLocks noGrp="1"/>
          </p:cNvSpPr>
          <p:nvPr>
            <p:ph type="sldNum" sz="quarter" idx="5"/>
          </p:nvPr>
        </p:nvSpPr>
        <p:spPr/>
        <p:txBody>
          <a:bodyPr/>
          <a:lstStyle/>
          <a:p>
            <a:fld id="{6C748903-8EB5-294E-A216-6B54B0368783}" type="slidenum">
              <a:rPr lang="en-RU" smtClean="0"/>
              <a:t>23</a:t>
            </a:fld>
            <a:endParaRPr lang="en-RU"/>
          </a:p>
        </p:txBody>
      </p:sp>
    </p:spTree>
    <p:extLst>
      <p:ext uri="{BB962C8B-B14F-4D97-AF65-F5344CB8AC3E}">
        <p14:creationId xmlns:p14="http://schemas.microsoft.com/office/powerpoint/2010/main" val="19892777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D5C90-5609-43EB-5530-28D660F7040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499387B9-BF6A-52F8-9DEA-A8D2CCD9D26C}"/>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619AB52D-8726-BAA0-3F90-615E46596B58}"/>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50390E24-1601-BCD0-A897-F83AD481BA15}"/>
              </a:ext>
            </a:extLst>
          </p:cNvPr>
          <p:cNvSpPr>
            <a:spLocks noGrp="1"/>
          </p:cNvSpPr>
          <p:nvPr>
            <p:ph type="sldNum" sz="quarter" idx="5"/>
          </p:nvPr>
        </p:nvSpPr>
        <p:spPr/>
        <p:txBody>
          <a:bodyPr/>
          <a:lstStyle/>
          <a:p>
            <a:fld id="{6C748903-8EB5-294E-A216-6B54B0368783}" type="slidenum">
              <a:rPr lang="en-RU" smtClean="0"/>
              <a:t>24</a:t>
            </a:fld>
            <a:endParaRPr lang="en-RU"/>
          </a:p>
        </p:txBody>
      </p:sp>
    </p:spTree>
    <p:extLst>
      <p:ext uri="{BB962C8B-B14F-4D97-AF65-F5344CB8AC3E}">
        <p14:creationId xmlns:p14="http://schemas.microsoft.com/office/powerpoint/2010/main" val="469751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25</a:t>
            </a:fld>
            <a:endParaRPr lang="en-RU"/>
          </a:p>
        </p:txBody>
      </p:sp>
    </p:spTree>
    <p:extLst>
      <p:ext uri="{BB962C8B-B14F-4D97-AF65-F5344CB8AC3E}">
        <p14:creationId xmlns:p14="http://schemas.microsoft.com/office/powerpoint/2010/main" val="57623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B6D7-739F-C092-F81F-799D62A41A67}"/>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CEE184C-0205-6151-2EF3-6C88F9778282}"/>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2750E58-ACE0-6C8F-8C68-D2D393D8CD2A}"/>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ADFEB65E-13AD-E15E-2B16-6452662EE668}"/>
              </a:ext>
            </a:extLst>
          </p:cNvPr>
          <p:cNvSpPr>
            <a:spLocks noGrp="1"/>
          </p:cNvSpPr>
          <p:nvPr>
            <p:ph type="sldNum" sz="quarter" idx="5"/>
          </p:nvPr>
        </p:nvSpPr>
        <p:spPr/>
        <p:txBody>
          <a:bodyPr/>
          <a:lstStyle/>
          <a:p>
            <a:fld id="{6C748903-8EB5-294E-A216-6B54B0368783}" type="slidenum">
              <a:rPr lang="en-RU" smtClean="0"/>
              <a:t>26</a:t>
            </a:fld>
            <a:endParaRPr lang="en-RU"/>
          </a:p>
        </p:txBody>
      </p:sp>
    </p:spTree>
    <p:extLst>
      <p:ext uri="{BB962C8B-B14F-4D97-AF65-F5344CB8AC3E}">
        <p14:creationId xmlns:p14="http://schemas.microsoft.com/office/powerpoint/2010/main" val="40349857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52A37-D5B2-B2BF-CACF-D9A0ED022D0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8BB6793A-6E1A-6F6B-B26A-578EDBABE83B}"/>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8D73B32-2E69-2FD1-EBB6-D3FF76AF3616}"/>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9ECEE26D-65B1-3C12-4E59-A661CA0FB53E}"/>
              </a:ext>
            </a:extLst>
          </p:cNvPr>
          <p:cNvSpPr>
            <a:spLocks noGrp="1"/>
          </p:cNvSpPr>
          <p:nvPr>
            <p:ph type="sldNum" sz="quarter" idx="5"/>
          </p:nvPr>
        </p:nvSpPr>
        <p:spPr/>
        <p:txBody>
          <a:bodyPr/>
          <a:lstStyle/>
          <a:p>
            <a:fld id="{6C748903-8EB5-294E-A216-6B54B0368783}" type="slidenum">
              <a:rPr lang="en-RU" smtClean="0"/>
              <a:t>27</a:t>
            </a:fld>
            <a:endParaRPr lang="en-RU"/>
          </a:p>
        </p:txBody>
      </p:sp>
    </p:spTree>
    <p:extLst>
      <p:ext uri="{BB962C8B-B14F-4D97-AF65-F5344CB8AC3E}">
        <p14:creationId xmlns:p14="http://schemas.microsoft.com/office/powerpoint/2010/main" val="20464890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06EED-04FF-8E74-064A-ACB6056B7497}"/>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29A1BC8-B6F4-E43B-6251-9617A64F88ED}"/>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19925BDB-8200-D684-468D-8C567FF54AC6}"/>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C7FE40B5-2391-CF99-E660-92DFBFE69789}"/>
              </a:ext>
            </a:extLst>
          </p:cNvPr>
          <p:cNvSpPr>
            <a:spLocks noGrp="1"/>
          </p:cNvSpPr>
          <p:nvPr>
            <p:ph type="sldNum" sz="quarter" idx="5"/>
          </p:nvPr>
        </p:nvSpPr>
        <p:spPr/>
        <p:txBody>
          <a:bodyPr/>
          <a:lstStyle/>
          <a:p>
            <a:fld id="{6C748903-8EB5-294E-A216-6B54B0368783}" type="slidenum">
              <a:rPr lang="en-RU" smtClean="0"/>
              <a:t>28</a:t>
            </a:fld>
            <a:endParaRPr lang="en-RU"/>
          </a:p>
        </p:txBody>
      </p:sp>
    </p:spTree>
    <p:extLst>
      <p:ext uri="{BB962C8B-B14F-4D97-AF65-F5344CB8AC3E}">
        <p14:creationId xmlns:p14="http://schemas.microsoft.com/office/powerpoint/2010/main" val="28635598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30</a:t>
            </a:fld>
            <a:endParaRPr lang="en-RU"/>
          </a:p>
        </p:txBody>
      </p:sp>
    </p:spTree>
    <p:extLst>
      <p:ext uri="{BB962C8B-B14F-4D97-AF65-F5344CB8AC3E}">
        <p14:creationId xmlns:p14="http://schemas.microsoft.com/office/powerpoint/2010/main" val="42513944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32</a:t>
            </a:fld>
            <a:endParaRPr lang="en-RU"/>
          </a:p>
        </p:txBody>
      </p:sp>
    </p:spTree>
    <p:extLst>
      <p:ext uri="{BB962C8B-B14F-4D97-AF65-F5344CB8AC3E}">
        <p14:creationId xmlns:p14="http://schemas.microsoft.com/office/powerpoint/2010/main" val="11397915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6C748903-8EB5-294E-A216-6B54B0368783}" type="slidenum">
              <a:rPr lang="en-RU" smtClean="0"/>
              <a:t>33</a:t>
            </a:fld>
            <a:endParaRPr lang="en-RU"/>
          </a:p>
        </p:txBody>
      </p:sp>
    </p:spTree>
    <p:extLst>
      <p:ext uri="{BB962C8B-B14F-4D97-AF65-F5344CB8AC3E}">
        <p14:creationId xmlns:p14="http://schemas.microsoft.com/office/powerpoint/2010/main" val="17681345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6C748903-8EB5-294E-A216-6B54B0368783}" type="slidenum">
              <a:rPr lang="en-RU" smtClean="0"/>
              <a:t>34</a:t>
            </a:fld>
            <a:endParaRPr lang="en-RU"/>
          </a:p>
        </p:txBody>
      </p:sp>
    </p:spTree>
    <p:extLst>
      <p:ext uri="{BB962C8B-B14F-4D97-AF65-F5344CB8AC3E}">
        <p14:creationId xmlns:p14="http://schemas.microsoft.com/office/powerpoint/2010/main" val="42156513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descr="A blue circle with white text&#10;&#10;Description automatically generated with low confidence">
            <a:extLst>
              <a:ext uri="{FF2B5EF4-FFF2-40B4-BE49-F238E27FC236}">
                <a16:creationId xmlns:a16="http://schemas.microsoft.com/office/drawing/2014/main" id="{BA292C80-0DA8-194A-9A66-279048FA2A54}"/>
              </a:ext>
            </a:extLst>
          </p:cNvPr>
          <p:cNvPicPr>
            <a:picLocks noChangeAspect="1"/>
          </p:cNvPicPr>
          <p:nvPr userDrawn="1"/>
        </p:nvPicPr>
        <p:blipFill>
          <a:blip r:embed="rId3"/>
          <a:stretch>
            <a:fill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ru-RU" sz="4400" dirty="0">
                <a:solidFill>
                  <a:srgbClr val="102D69"/>
                </a:solidFill>
                <a:latin typeface="HSE Sans" panose="02000000000000000000" pitchFamily="2" charset="0"/>
              </a:rPr>
              <a:t>Название презентации</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может быть набрано в две </a:t>
            </a:r>
            <a:br>
              <a:rPr lang="ru-RU" sz="4400" dirty="0">
                <a:solidFill>
                  <a:srgbClr val="102D69"/>
                </a:solidFill>
                <a:latin typeface="HSE Sans" panose="02000000000000000000" pitchFamily="2" charset="0"/>
              </a:rPr>
            </a:br>
            <a:r>
              <a:rPr lang="ru-RU" sz="4400" dirty="0">
                <a:solidFill>
                  <a:srgbClr val="102D69"/>
                </a:solidFill>
                <a:latin typeface="HSE Sans" panose="02000000000000000000" pitchFamily="2" charset="0"/>
              </a:rPr>
              <a:t>или три строки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ru-RU" dirty="0">
                <a:latin typeface="HSE Sans" panose="02000000000000000000" pitchFamily="2" charset="0"/>
              </a:rPr>
              <a:t>Название факультета</a:t>
            </a:r>
            <a:br>
              <a:rPr lang="ru-RU" dirty="0">
                <a:latin typeface="HSE Sans" panose="02000000000000000000" pitchFamily="2" charset="0"/>
              </a:rPr>
            </a:br>
            <a:r>
              <a:rPr lang="ru-RU" dirty="0">
                <a:latin typeface="HSE Sans" panose="02000000000000000000" pitchFamily="2" charset="0"/>
              </a:rPr>
              <a:t>в две строки</a:t>
            </a:r>
            <a:r>
              <a:rPr lang="en-GB" dirty="0">
                <a:latin typeface="HSE Sans" panose="02000000000000000000" pitchFamily="2" charset="0"/>
              </a:rPr>
              <a:t> (16 </a:t>
            </a:r>
            <a:r>
              <a:rPr lang="en-GB" dirty="0" err="1">
                <a:latin typeface="HSE Sans" panose="02000000000000000000" pitchFamily="2" charset="0"/>
              </a:rPr>
              <a:t>pt</a:t>
            </a:r>
            <a:r>
              <a:rPr lang="en-GB" dirty="0">
                <a:latin typeface="HSE Sans" panose="02000000000000000000" pitchFamily="2" charset="0"/>
              </a:rPr>
              <a:t>)</a:t>
            </a:r>
            <a:endParaRPr lang="ru-RU"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Название подразделения</a:t>
            </a:r>
            <a:br>
              <a:rPr lang="ru-RU" sz="1200" dirty="0">
                <a:latin typeface="HSE Sans" panose="02000000000000000000" pitchFamily="2" charset="0"/>
              </a:rPr>
            </a:br>
            <a:r>
              <a:rPr lang="ru-RU" sz="1200" dirty="0">
                <a:latin typeface="HSE Sans" panose="02000000000000000000" pitchFamily="2" charset="0"/>
              </a:rPr>
              <a:t>в две или три строки</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200" dirty="0">
                <a:latin typeface="HSE Sans" panose="02000000000000000000" pitchFamily="2" charset="0"/>
              </a:rPr>
              <a:t>Москва</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(12pt)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1600" dirty="0">
                <a:latin typeface="HSE Sans" panose="02000000000000000000" pitchFamily="2" charset="0"/>
              </a:rPr>
              <a:t>Если нужно больше места, то используйте подзаголовок</a:t>
            </a:r>
            <a:r>
              <a:rPr lang="en-GB" sz="1600" dirty="0">
                <a:latin typeface="HSE Sans" panose="02000000000000000000" pitchFamily="2" charset="0"/>
              </a:rPr>
              <a:t>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2800" dirty="0">
                <a:solidFill>
                  <a:schemeClr val="tx1"/>
                </a:solidFill>
                <a:latin typeface="HSE Sans" panose="02000000000000000000" pitchFamily="2" charset="0"/>
              </a:rPr>
              <a:t>Чтобы слайд не выглядел пустым, сюда можно поставить иллюстрацию или фотографию</a:t>
            </a:r>
            <a:endParaRPr lang="en-RU" sz="280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5026DBD8-54A3-1446-9D3B-BA2B38460F1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E8AA3569-5054-7D47-AB14-BCFB0440D0A6}"/>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lang="ru-RU" sz="1300" dirty="0">
                <a:latin typeface="HSE Sans" panose="02000000000000000000" pitchFamily="2" charset="0"/>
              </a:rPr>
              <a:t>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текста много, то рекомендуем набирать его в несколько колонок, две или три.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a:t>
            </a:r>
          </a:p>
        </p:txBody>
      </p:sp>
      <p:sp>
        <p:nvSpPr>
          <p:cNvPr id="18" name="Текст 39">
            <a:extLst>
              <a:ext uri="{FF2B5EF4-FFF2-40B4-BE49-F238E27FC236}">
                <a16:creationId xmlns:a16="http://schemas.microsoft.com/office/drawing/2014/main" id="{8A048480-30C9-044E-8C2E-0F67398FEE1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C2D710AE-3CBE-5940-A7EB-F96132E6592D}"/>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FCC5A33D-0A3C-F140-B745-367744A5F308}"/>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lvl="0"/>
            <a:r>
              <a:rPr lang="ru-RU" dirty="0"/>
              <a:t>Небольшие куски текста (13</a:t>
            </a:r>
            <a:r>
              <a:rPr lang="en-US" dirty="0" err="1"/>
              <a:t>pt</a:t>
            </a:r>
            <a:r>
              <a:rPr lang="en-US" dirty="0"/>
              <a:t>) </a:t>
            </a:r>
            <a:r>
              <a:rPr lang="ru-RU" dirty="0"/>
              <a:t>можно набирать в одну колонку, но не делайте колонку на всю ширину экрана. Текст, набранный длинной строкой очень трудно читать, подумайте о тех, кто будет читать вашу презентацию. Старайтесь чтобы в строке было в среднем семь — девять слов. Большее количество слов в строке способствует хорошему сну, но не чтению. Если у вас есть свободное пространство и вы считаете, что текст одинок и ему нужна компания, то поставьте рядом небольшое изображение, которое иллюстрирует ваш текст или дополняет его.</a:t>
            </a: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sz="3200" dirty="0">
                <a:solidFill>
                  <a:srgbClr val="102D69"/>
                </a:solidFill>
                <a:latin typeface="HSE Sans" panose="02000000000000000000" pitchFamily="2" charset="0"/>
              </a:rPr>
              <a:t>Небольшую фразу, с важной информацией, можно выделить, набрав ее более крупным кеглем, чем обычный  текст. Делать это часто не рекомендуется.</a:t>
            </a:r>
          </a:p>
          <a:p>
            <a:pPr lvl="0"/>
            <a:endParaRPr lang="ru-RU" dirty="0"/>
          </a:p>
        </p:txBody>
      </p:sp>
      <p:sp>
        <p:nvSpPr>
          <p:cNvPr id="24" name="Текст 39">
            <a:extLst>
              <a:ext uri="{FF2B5EF4-FFF2-40B4-BE49-F238E27FC236}">
                <a16:creationId xmlns:a16="http://schemas.microsoft.com/office/drawing/2014/main" id="{3BE4279A-8109-B244-B721-18F10C696B17}"/>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A9BD5ADD-B3F2-C342-82F7-83683F040D2F}"/>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4F15CBC0-FC8B-744E-95A7-C9863CDC31B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BC3B54AA-A0BD-E646-B3B7-C0E724D26D23}"/>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p:spPr>
        <p:txBody>
          <a:bodyPr/>
          <a:lstStyle/>
          <a:p>
            <a:endParaRPr lang="ru-RU"/>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3E0AB43B-5E98-6042-A282-C61E0C5A37B9}"/>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7388A8DF-D130-5445-A3F8-F96E1202BA19}"/>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02CBC466-1703-7541-94E4-AC76F4E6D938}"/>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графика. Обратите внимание, что название графика набирается меньшим кеглем, чем заголовок</a:t>
            </a:r>
            <a:r>
              <a:rPr lang="en-GB" sz="1600" dirty="0">
                <a:solidFill>
                  <a:srgbClr val="102D69"/>
                </a:solidFill>
                <a:latin typeface="HSE Sans" panose="02000000000000000000" pitchFamily="2" charset="0"/>
              </a:rPr>
              <a:t> (16pt)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Текст 37">
            <a:extLst>
              <a:ext uri="{FF2B5EF4-FFF2-40B4-BE49-F238E27FC236}">
                <a16:creationId xmlns:a16="http://schemas.microsoft.com/office/drawing/2014/main" id="{D9986185-6D5E-FD48-A5CA-AF2D5B58A3E7}"/>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3" name="Текст 39">
            <a:extLst>
              <a:ext uri="{FF2B5EF4-FFF2-40B4-BE49-F238E27FC236}">
                <a16:creationId xmlns:a16="http://schemas.microsoft.com/office/drawing/2014/main" id="{5DBFD327-E3A8-944A-AABF-7D813AD0F13C}"/>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D206FCE0-05C3-2C45-A7D6-1FC287C017B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Заголовок может быть набран в две или три строки</a:t>
            </a:r>
            <a:r>
              <a:rPr lang="en-GB" sz="2400" dirty="0">
                <a:solidFill>
                  <a:srgbClr val="102D69"/>
                </a:solidFill>
                <a:latin typeface="HSE Sans" panose="02000000000000000000" pitchFamily="2" charset="0"/>
              </a:rPr>
              <a:t> (24 </a:t>
            </a:r>
            <a:r>
              <a:rPr lang="en-GB" sz="2400" dirty="0" err="1">
                <a:solidFill>
                  <a:srgbClr val="102D69"/>
                </a:solidFill>
                <a:latin typeface="HSE Sans" panose="02000000000000000000" pitchFamily="2" charset="0"/>
              </a:rPr>
              <a:t>pt</a:t>
            </a:r>
            <a:r>
              <a:rPr lang="en-GB"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Если у вас мало данных, то не переживайте. Сделайте несколько крупных цифр и аккуратные подписи к ним, это позволит подать информацию красиво и аккуратно.</a:t>
            </a: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Текст 37">
            <a:extLst>
              <a:ext uri="{FF2B5EF4-FFF2-40B4-BE49-F238E27FC236}">
                <a16:creationId xmlns:a16="http://schemas.microsoft.com/office/drawing/2014/main" id="{6EC59AAD-5962-8D49-BF4D-7DA5D573073E}"/>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2" name="Текст 39">
            <a:extLst>
              <a:ext uri="{FF2B5EF4-FFF2-40B4-BE49-F238E27FC236}">
                <a16:creationId xmlns:a16="http://schemas.microsoft.com/office/drawing/2014/main" id="{49041ACC-EEF4-D34B-A7DE-87B1AF2ED383}"/>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BF93B2CC-81A4-0943-AF6C-C86576792995}"/>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p:spPr>
        <p:txBody>
          <a:bodyPr/>
          <a:lstStyle/>
          <a:p>
            <a:endParaRPr lang="ru-RU"/>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44D0326E-FD7A-3541-A998-62A1C30E2738}"/>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279CCCA0-F959-5245-8321-106D3C5E837D}"/>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8B839C6B-8494-8841-9714-4C8F710F8400}"/>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ru-RU" sz="1600" dirty="0">
                <a:solidFill>
                  <a:srgbClr val="102D69"/>
                </a:solidFill>
                <a:latin typeface="HSE Sans" panose="02000000000000000000" pitchFamily="2" charset="0"/>
              </a:rPr>
              <a:t>Название таблицы. Обратите внимание, что название графика набирается меньшим кеглем, чем заголовок (16</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ru-RU" sz="1300" b="0" dirty="0">
                <a:ln>
                  <a:noFill/>
                </a:ln>
                <a:latin typeface="HSE Sans" panose="02000000000000000000" pitchFamily="2" charset="0"/>
              </a:rPr>
              <a:t>Мы рекомендуем очень аккуратно использовать жирное начертание, старайтесь выделять жирным самое важное. </a:t>
            </a:r>
            <a:r>
              <a:rPr lang="ru-RU" sz="1300" dirty="0">
                <a:latin typeface="HSE Sans" panose="02000000000000000000" pitchFamily="2" charset="0"/>
              </a:rPr>
              <a:t>Также старайтесь не использовать выделение жирным начертанием вместе с заливкой ячеек каким-либо цветом, достаточно и одного акцента.</a:t>
            </a:r>
            <a:endParaRPr lang="en-RU" sz="1300" b="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3" name="Текст 37">
            <a:extLst>
              <a:ext uri="{FF2B5EF4-FFF2-40B4-BE49-F238E27FC236}">
                <a16:creationId xmlns:a16="http://schemas.microsoft.com/office/drawing/2014/main" id="{9C21DFE9-C3B2-C54E-9275-7776355F736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4" name="Текст 39">
            <a:extLst>
              <a:ext uri="{FF2B5EF4-FFF2-40B4-BE49-F238E27FC236}">
                <a16:creationId xmlns:a16="http://schemas.microsoft.com/office/drawing/2014/main" id="{5A73F99D-6D58-724E-ADB3-150D9B24F8CB}"/>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7E89E360-BE39-5041-BAD6-C7B708340AA2}"/>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p:spPr>
        <p:txBody>
          <a:bodyPr lIns="0" tIns="0" rIns="0" bIns="0" anchor="t">
            <a:normAutofit/>
          </a:bodyPr>
          <a:lstStyle>
            <a:lvl1pPr>
              <a:lnSpc>
                <a:spcPct val="100000"/>
              </a:lnSpc>
              <a:defRPr sz="2400" b="0" i="0">
                <a:latin typeface="HSE Sans" panose="02000000000000000000" pitchFamily="2" charset="0"/>
              </a:defRPr>
            </a:lvl1pPr>
          </a:lstStyle>
          <a:p>
            <a:r>
              <a:rPr lang="ru-RU" sz="2400" dirty="0">
                <a:solidFill>
                  <a:srgbClr val="102D69"/>
                </a:solidFill>
                <a:latin typeface="HSE Sans" panose="02000000000000000000" pitchFamily="2" charset="0"/>
              </a:rPr>
              <a:t>Дополнительная </a:t>
            </a:r>
            <a:br>
              <a:rPr lang="ru-RU" sz="2400" dirty="0">
                <a:solidFill>
                  <a:srgbClr val="102D69"/>
                </a:solidFill>
                <a:latin typeface="HSE Sans" panose="02000000000000000000" pitchFamily="2" charset="0"/>
              </a:rPr>
            </a:br>
            <a:r>
              <a:rPr lang="ru-RU" sz="2400" dirty="0">
                <a:solidFill>
                  <a:srgbClr val="102D69"/>
                </a:solidFill>
                <a:latin typeface="HSE Sans" panose="02000000000000000000" pitchFamily="2" charset="0"/>
              </a:rPr>
              <a:t>цветовая гамма</a:t>
            </a: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300" dirty="0">
                <a:latin typeface="HSE Sans" panose="02000000000000000000" pitchFamily="2" charset="0"/>
              </a:rPr>
              <a:t>Для оформления графиков, таблиц, диаграмм могут потребоваться дополнительные цвета и вы совершенно правы, задавая вопрос, какие цвета использовать и где их взять. Мы предлагаем использовать палитру цветов Вышки для этих целей.</a:t>
            </a: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4" name="Текст 37">
            <a:extLst>
              <a:ext uri="{FF2B5EF4-FFF2-40B4-BE49-F238E27FC236}">
                <a16:creationId xmlns:a16="http://schemas.microsoft.com/office/drawing/2014/main" id="{9856D01B-EC9A-6047-B7FB-D47084AB3F50}"/>
              </a:ext>
            </a:extLst>
          </p:cNvPr>
          <p:cNvSpPr>
            <a:spLocks noGrp="1"/>
          </p:cNvSpPr>
          <p:nvPr>
            <p:ph type="body" sz="quarter" idx="13" hasCustomPrompt="1"/>
          </p:nvPr>
        </p:nvSpPr>
        <p:spPr>
          <a:xfrm>
            <a:off x="1143689" y="540904"/>
            <a:ext cx="1901825" cy="415925"/>
          </a:xfr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ru-RU" sz="1000" dirty="0">
                <a:latin typeface="HSE Sans" panose="02000000000000000000" pitchFamily="2" charset="0"/>
              </a:rPr>
              <a:t>Название подразделения</a:t>
            </a:r>
            <a:br>
              <a:rPr lang="ru-RU" sz="1000" dirty="0">
                <a:latin typeface="HSE Sans" panose="02000000000000000000" pitchFamily="2" charset="0"/>
              </a:rPr>
            </a:br>
            <a:r>
              <a:rPr lang="ru-RU" sz="1000" dirty="0">
                <a:latin typeface="HSE Sans" panose="02000000000000000000" pitchFamily="2" charset="0"/>
              </a:rPr>
              <a:t>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5" name="Текст 39">
            <a:extLst>
              <a:ext uri="{FF2B5EF4-FFF2-40B4-BE49-F238E27FC236}">
                <a16:creationId xmlns:a16="http://schemas.microsoft.com/office/drawing/2014/main" id="{83E23342-AC91-354A-9A28-A14FF7BADCD2}"/>
              </a:ext>
            </a:extLst>
          </p:cNvPr>
          <p:cNvSpPr>
            <a:spLocks noGrp="1"/>
          </p:cNvSpPr>
          <p:nvPr>
            <p:ph type="body" sz="quarter" idx="14" hasCustomPrompt="1"/>
          </p:nvPr>
        </p:nvSpPr>
        <p:spPr>
          <a:xfrm>
            <a:off x="3459163"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презентации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
        <p:nvSpPr>
          <p:cNvPr id="17" name="Текст 39">
            <a:extLst>
              <a:ext uri="{FF2B5EF4-FFF2-40B4-BE49-F238E27FC236}">
                <a16:creationId xmlns:a16="http://schemas.microsoft.com/office/drawing/2014/main" id="{BB1CCE68-8F57-1A41-BC43-633D2EFC801E}"/>
              </a:ext>
            </a:extLst>
          </p:cNvPr>
          <p:cNvSpPr>
            <a:spLocks noGrp="1"/>
          </p:cNvSpPr>
          <p:nvPr>
            <p:ph type="body" sz="quarter" idx="15" hasCustomPrompt="1"/>
          </p:nvPr>
        </p:nvSpPr>
        <p:spPr>
          <a:xfrm>
            <a:off x="6259892" y="548720"/>
            <a:ext cx="2070100" cy="408109"/>
          </a:xfr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ru-RU" sz="1000" dirty="0">
                <a:latin typeface="HSE Sans" panose="02000000000000000000" pitchFamily="2" charset="0"/>
              </a:rPr>
              <a:t>Название раздела может быть набрано в две или три строки</a:t>
            </a:r>
            <a:r>
              <a:rPr lang="en-GB" sz="1000" dirty="0">
                <a:latin typeface="HSE Sans" panose="02000000000000000000" pitchFamily="2" charset="0"/>
              </a:rPr>
              <a:t> (10pt)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234703-C735-5D41-99C2-019C7EBECCF4}"/>
              </a:ext>
            </a:extLst>
          </p:cNvPr>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RU"/>
          </a:p>
        </p:txBody>
      </p:sp>
      <p:pic>
        <p:nvPicPr>
          <p:cNvPr id="2" name="Picture 1">
            <a:extLst>
              <a:ext uri="{FF2B5EF4-FFF2-40B4-BE49-F238E27FC236}">
                <a16:creationId xmlns:a16="http://schemas.microsoft.com/office/drawing/2014/main" id="{682F59B5-E815-AE43-BAE2-FA594BB42C02}"/>
              </a:ext>
            </a:extLst>
          </p:cNvPr>
          <p:cNvPicPr>
            <a:picLocks noChangeAspect="1"/>
          </p:cNvPicPr>
          <p:nvPr userDrawn="1"/>
        </p:nvPicPr>
        <p:blipFill>
          <a:blip r:embed="rId3"/>
          <a:srcRect/>
          <a:stretch/>
        </p:blipFill>
        <p:spPr>
          <a:xfrm>
            <a:off x="5310809" y="2643809"/>
            <a:ext cx="1570383" cy="1570383"/>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3F8FDE-7383-E947-8568-FF6B7A7765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6F8E6541-45CA-8B42-98B4-D42737B850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0E70645B-C5D9-8544-BBF2-E4A13F8E40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63DFB-8595-A44B-9F09-A50FA310E559}" type="datetimeFigureOut">
              <a:rPr lang="en-RU" smtClean="0"/>
              <a:t>09/16/2026</a:t>
            </a:fld>
            <a:endParaRPr lang="en-RU"/>
          </a:p>
        </p:txBody>
      </p:sp>
      <p:sp>
        <p:nvSpPr>
          <p:cNvPr id="5" name="Footer Placeholder 4">
            <a:extLst>
              <a:ext uri="{FF2B5EF4-FFF2-40B4-BE49-F238E27FC236}">
                <a16:creationId xmlns:a16="http://schemas.microsoft.com/office/drawing/2014/main" id="{71F52289-7F57-544F-95EE-F8B2E10627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A11C5F56-F795-5643-ABE3-DDED218698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20F133-126C-5944-A0E4-6A9616EDC0DA}" type="slidenum">
              <a:rPr lang="en-RU" smtClean="0"/>
              <a:t>‹#›</a:t>
            </a:fld>
            <a:endParaRPr lang="en-RU"/>
          </a:p>
        </p:txBody>
      </p:sp>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jpeg"/><Relationship Id="rId11" Type="http://schemas.openxmlformats.org/officeDocument/2006/relationships/image" Target="../media/image21.svg"/><Relationship Id="rId5" Type="http://schemas.openxmlformats.org/officeDocument/2006/relationships/image" Target="../media/image15.jpe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6.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9.sv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39.sv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9.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28F73-DFEE-9AAF-C63D-E7FE356AE56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A4F9BA-F2D8-F1D6-8708-ADFAB0910374}"/>
              </a:ext>
            </a:extLst>
          </p:cNvPr>
          <p:cNvSpPr>
            <a:spLocks noGrp="1"/>
          </p:cNvSpPr>
          <p:nvPr>
            <p:ph type="title"/>
          </p:nvPr>
        </p:nvSpPr>
        <p:spPr>
          <a:xfrm>
            <a:off x="1027967" y="2404670"/>
            <a:ext cx="9087583" cy="1978323"/>
          </a:xfrm>
        </p:spPr>
        <p:txBody>
          <a:bodyPr anchor="ctr">
            <a:noAutofit/>
          </a:bodyPr>
          <a:lstStyle/>
          <a:p>
            <a:r>
              <a:rPr lang="ru-RU" dirty="0"/>
              <a:t>Лекция </a:t>
            </a:r>
            <a:r>
              <a:rPr lang="en-US" dirty="0"/>
              <a:t>2</a:t>
            </a:r>
            <a:r>
              <a:rPr lang="ru-RU" dirty="0"/>
              <a:t>:</a:t>
            </a:r>
            <a:br>
              <a:rPr lang="ru-RU" dirty="0"/>
            </a:br>
            <a:r>
              <a:rPr lang="ru-RU" dirty="0"/>
              <a:t>Данные </a:t>
            </a:r>
            <a:r>
              <a:rPr lang="en-US" dirty="0"/>
              <a:t>-</a:t>
            </a:r>
            <a:r>
              <a:rPr lang="ru-RU" dirty="0"/>
              <a:t> сырье для ИИ</a:t>
            </a:r>
          </a:p>
        </p:txBody>
      </p:sp>
      <p:sp>
        <p:nvSpPr>
          <p:cNvPr id="3" name="Текст 2">
            <a:extLst>
              <a:ext uri="{FF2B5EF4-FFF2-40B4-BE49-F238E27FC236}">
                <a16:creationId xmlns:a16="http://schemas.microsoft.com/office/drawing/2014/main" id="{BEC2ED9E-A9AD-4811-EA42-397777183897}"/>
              </a:ext>
            </a:extLst>
          </p:cNvPr>
          <p:cNvSpPr>
            <a:spLocks noGrp="1"/>
          </p:cNvSpPr>
          <p:nvPr>
            <p:ph type="body" sz="quarter" idx="10"/>
          </p:nvPr>
        </p:nvSpPr>
        <p:spPr/>
        <p:txBody>
          <a:bodyPr anchor="ctr"/>
          <a:lstStyle/>
          <a:p>
            <a:r>
              <a:rPr lang="ru-RU" dirty="0"/>
              <a:t>Факультет</a:t>
            </a:r>
            <a:br>
              <a:rPr lang="ru-RU" dirty="0"/>
            </a:br>
            <a:r>
              <a:rPr lang="ru-RU" dirty="0"/>
              <a:t>Компьютерных</a:t>
            </a:r>
            <a:br>
              <a:rPr lang="ru-RU" dirty="0"/>
            </a:br>
            <a:r>
              <a:rPr lang="ru-RU" dirty="0"/>
              <a:t>Наук</a:t>
            </a:r>
          </a:p>
        </p:txBody>
      </p:sp>
      <p:sp>
        <p:nvSpPr>
          <p:cNvPr id="4" name="Текст 3">
            <a:extLst>
              <a:ext uri="{FF2B5EF4-FFF2-40B4-BE49-F238E27FC236}">
                <a16:creationId xmlns:a16="http://schemas.microsoft.com/office/drawing/2014/main" id="{A40699B9-7DB8-01F9-B616-F3BDB0C8D448}"/>
              </a:ext>
            </a:extLst>
          </p:cNvPr>
          <p:cNvSpPr>
            <a:spLocks noGrp="1"/>
          </p:cNvSpPr>
          <p:nvPr>
            <p:ph type="body" sz="quarter" idx="11"/>
          </p:nvPr>
        </p:nvSpPr>
        <p:spPr/>
        <p:txBody>
          <a:bodyPr anchor="ctr"/>
          <a:lstStyle/>
          <a:p>
            <a:r>
              <a:rPr lang="ru-RU" dirty="0"/>
              <a:t>Центр биомедицинских исследований и технологий</a:t>
            </a:r>
          </a:p>
        </p:txBody>
      </p:sp>
      <p:sp>
        <p:nvSpPr>
          <p:cNvPr id="5" name="Текст 4">
            <a:extLst>
              <a:ext uri="{FF2B5EF4-FFF2-40B4-BE49-F238E27FC236}">
                <a16:creationId xmlns:a16="http://schemas.microsoft.com/office/drawing/2014/main" id="{3DD2B9B7-151A-A8CC-749D-65AE2F09A883}"/>
              </a:ext>
            </a:extLst>
          </p:cNvPr>
          <p:cNvSpPr>
            <a:spLocks noGrp="1"/>
          </p:cNvSpPr>
          <p:nvPr>
            <p:ph type="body" idx="12"/>
          </p:nvPr>
        </p:nvSpPr>
        <p:spPr/>
        <p:txBody>
          <a:bodyPr anchor="ctr"/>
          <a:lstStyle/>
          <a:p>
            <a:r>
              <a:rPr lang="ru-RU" dirty="0"/>
              <a:t>Москва</a:t>
            </a:r>
            <a:br>
              <a:rPr lang="ru-RU" dirty="0"/>
            </a:br>
            <a:r>
              <a:rPr lang="ru-RU" dirty="0"/>
              <a:t>2026</a:t>
            </a:r>
          </a:p>
        </p:txBody>
      </p:sp>
      <p:sp>
        <p:nvSpPr>
          <p:cNvPr id="6" name="Текст 5">
            <a:extLst>
              <a:ext uri="{FF2B5EF4-FFF2-40B4-BE49-F238E27FC236}">
                <a16:creationId xmlns:a16="http://schemas.microsoft.com/office/drawing/2014/main" id="{3613304B-FCE9-7B64-0124-7A39A6324762}"/>
              </a:ext>
            </a:extLst>
          </p:cNvPr>
          <p:cNvSpPr>
            <a:spLocks noGrp="1"/>
          </p:cNvSpPr>
          <p:nvPr>
            <p:ph type="body" sz="quarter" idx="13"/>
          </p:nvPr>
        </p:nvSpPr>
        <p:spPr/>
        <p:txBody>
          <a:bodyPr/>
          <a:lstStyle/>
          <a:p>
            <a:r>
              <a:rPr lang="ru-RU" dirty="0"/>
              <a:t>Магистратура «Анализ данных в биологии и медицине»</a:t>
            </a:r>
          </a:p>
        </p:txBody>
      </p:sp>
      <p:pic>
        <p:nvPicPr>
          <p:cNvPr id="1026" name="Picture 2">
            <a:extLst>
              <a:ext uri="{FF2B5EF4-FFF2-40B4-BE49-F238E27FC236}">
                <a16:creationId xmlns:a16="http://schemas.microsoft.com/office/drawing/2014/main" id="{22BF5E7F-4251-0011-549C-40A552E38C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4022" y="1203016"/>
            <a:ext cx="2124545" cy="404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4875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0648CF85-8F56-2C4F-8090-85FF4624B587}"/>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5576F3CC-3C73-F441-AAE6-50AF712EACBF}"/>
              </a:ext>
            </a:extLst>
          </p:cNvPr>
          <p:cNvSpPr>
            <a:spLocks noGrp="1"/>
          </p:cNvSpPr>
          <p:nvPr>
            <p:ph type="body" sz="quarter" idx="14"/>
          </p:nvPr>
        </p:nvSpPr>
        <p:spPr/>
        <p:txBody>
          <a:bodyPr anchor="ctr"/>
          <a:lstStyle/>
          <a:p>
            <a:r>
              <a:rPr lang="ru-RU" dirty="0"/>
              <a:t>Введение в машинное обучение. Лекция </a:t>
            </a:r>
            <a:r>
              <a:rPr lang="en-US" dirty="0"/>
              <a:t>2</a:t>
            </a:r>
            <a:endParaRPr lang="ru-RU" dirty="0"/>
          </a:p>
        </p:txBody>
      </p:sp>
      <p:sp>
        <p:nvSpPr>
          <p:cNvPr id="4" name="Заголовок 3">
            <a:extLst>
              <a:ext uri="{FF2B5EF4-FFF2-40B4-BE49-F238E27FC236}">
                <a16:creationId xmlns:a16="http://schemas.microsoft.com/office/drawing/2014/main" id="{C7D49100-ECF5-A24F-9537-3BD16DFCCCC7}"/>
              </a:ext>
            </a:extLst>
          </p:cNvPr>
          <p:cNvSpPr>
            <a:spLocks noGrp="1"/>
          </p:cNvSpPr>
          <p:nvPr>
            <p:ph type="title"/>
          </p:nvPr>
        </p:nvSpPr>
        <p:spPr/>
        <p:txBody>
          <a:bodyPr>
            <a:normAutofit/>
          </a:bodyPr>
          <a:lstStyle/>
          <a:p>
            <a:r>
              <a:rPr lang="ru-RU" sz="3600" dirty="0"/>
              <a:t>План лекции</a:t>
            </a:r>
          </a:p>
        </p:txBody>
      </p:sp>
      <p:sp>
        <p:nvSpPr>
          <p:cNvPr id="6" name="Текст 5">
            <a:extLst>
              <a:ext uri="{FF2B5EF4-FFF2-40B4-BE49-F238E27FC236}">
                <a16:creationId xmlns:a16="http://schemas.microsoft.com/office/drawing/2014/main" id="{1F4B1D31-3576-0740-BA52-B317564F66BD}"/>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8" name="Rectangle 2">
            <a:extLst>
              <a:ext uri="{FF2B5EF4-FFF2-40B4-BE49-F238E27FC236}">
                <a16:creationId xmlns:a16="http://schemas.microsoft.com/office/drawing/2014/main" id="{041E80A7-9EC8-5199-B1F0-2228DBCF4760}"/>
              </a:ext>
            </a:extLst>
          </p:cNvPr>
          <p:cNvSpPr>
            <a:spLocks noChangeArrowheads="1"/>
          </p:cNvSpPr>
          <p:nvPr/>
        </p:nvSpPr>
        <p:spPr bwMode="auto">
          <a:xfrm>
            <a:off x="811080" y="2224815"/>
            <a:ext cx="9436366" cy="3600986"/>
          </a:xfrm>
          <a:prstGeom prst="rect">
            <a:avLst/>
          </a:prstGeom>
        </p:spPr>
        <p:txBody>
          <a:bodyPr vert="horz" lIns="0" tIns="0" rIns="0" bIns="45720" numCol="3" spcCol="252000" rtlCol="0">
            <a:noAutofit/>
          </a:bodyPr>
          <a:lstStyle/>
          <a:p>
            <a:pPr marL="285750" indent="-285750">
              <a:spcBef>
                <a:spcPts val="1200"/>
              </a:spcBef>
              <a:buFont typeface="Arial" panose="020B0604020202020204" pitchFamily="34" charset="0"/>
              <a:buChar char="•"/>
            </a:pPr>
            <a:r>
              <a:rPr lang="ru-RU" altLang="ru-RU" sz="2400" b="1" dirty="0">
                <a:solidFill>
                  <a:srgbClr val="0E2D69"/>
                </a:solidFill>
                <a:latin typeface="HSE Sans" panose="02000000000000000000" pitchFamily="2" charset="0"/>
              </a:rPr>
              <a:t>Важность данных </a:t>
            </a:r>
            <a:r>
              <a:rPr lang="ru-RU" altLang="ru-RU" sz="2400" dirty="0">
                <a:solidFill>
                  <a:srgbClr val="0E2D69"/>
                </a:solidFill>
                <a:latin typeface="HSE Sans" panose="02000000000000000000" pitchFamily="2" charset="0"/>
              </a:rPr>
              <a:t>для ИИ</a:t>
            </a:r>
            <a:endParaRPr lang="ru-RU" altLang="ru-RU" sz="2400" b="1" dirty="0">
              <a:solidFill>
                <a:srgbClr val="0E2D69"/>
              </a:solidFill>
              <a:latin typeface="HSE Sans" panose="02000000000000000000" pitchFamily="2" charset="0"/>
            </a:endParaRPr>
          </a:p>
          <a:p>
            <a:pPr marL="285750" indent="-285750">
              <a:spcBef>
                <a:spcPts val="1200"/>
              </a:spcBef>
              <a:buFont typeface="Arial" panose="020B0604020202020204" pitchFamily="34" charset="0"/>
              <a:buChar char="•"/>
            </a:pPr>
            <a:r>
              <a:rPr lang="ru-RU" altLang="ru-RU" sz="2400" b="1" dirty="0">
                <a:solidFill>
                  <a:srgbClr val="0E2D69"/>
                </a:solidFill>
                <a:latin typeface="HSE Sans" panose="02000000000000000000" pitchFamily="2" charset="0"/>
              </a:rPr>
              <a:t>Анатомия набора данных: </a:t>
            </a:r>
            <a:r>
              <a:rPr lang="ru-RU" altLang="ru-RU" sz="2400" dirty="0">
                <a:solidFill>
                  <a:srgbClr val="0E2D69"/>
                </a:solidFill>
                <a:latin typeface="HSE Sans" panose="02000000000000000000" pitchFamily="2" charset="0"/>
              </a:rPr>
              <a:t>признаки, цели, объекты</a:t>
            </a:r>
            <a:br>
              <a:rPr lang="en-US" altLang="ru-RU" sz="2400" dirty="0">
                <a:solidFill>
                  <a:srgbClr val="0E2D69"/>
                </a:solidFill>
                <a:latin typeface="HSE Sans" panose="02000000000000000000" pitchFamily="2" charset="0"/>
              </a:rPr>
            </a:br>
            <a:endParaRPr lang="en-US" altLang="ru-RU" sz="2400" dirty="0">
              <a:solidFill>
                <a:srgbClr val="0E2D69"/>
              </a:solidFill>
              <a:latin typeface="HSE Sans" panose="02000000000000000000" pitchFamily="2" charset="0"/>
            </a:endParaRPr>
          </a:p>
          <a:p>
            <a:pPr>
              <a:spcBef>
                <a:spcPts val="1200"/>
              </a:spcBef>
            </a:pPr>
            <a:br>
              <a:rPr lang="ru-RU" altLang="ru-RU" sz="2400" b="1" dirty="0">
                <a:solidFill>
                  <a:srgbClr val="0E2D69"/>
                </a:solidFill>
                <a:latin typeface="HSE Sans" panose="02000000000000000000" pitchFamily="2" charset="0"/>
              </a:rPr>
            </a:br>
            <a:endParaRPr lang="ru-RU" altLang="ru-RU" sz="2400" b="1" dirty="0">
              <a:solidFill>
                <a:srgbClr val="0E2D69"/>
              </a:solidFill>
              <a:latin typeface="HSE Sans" panose="02000000000000000000" pitchFamily="2" charset="0"/>
            </a:endParaRPr>
          </a:p>
          <a:p>
            <a:pPr marL="285750" indent="-285750">
              <a:spcBef>
                <a:spcPts val="1200"/>
              </a:spcBef>
              <a:buFont typeface="Arial" panose="020B0604020202020204" pitchFamily="34" charset="0"/>
              <a:buChar char="•"/>
            </a:pPr>
            <a:r>
              <a:rPr lang="ru-RU" altLang="ru-RU" sz="2400" b="1" dirty="0">
                <a:solidFill>
                  <a:srgbClr val="0E2D69"/>
                </a:solidFill>
                <a:latin typeface="HSE Sans" panose="02000000000000000000" pitchFamily="2" charset="0"/>
              </a:rPr>
              <a:t>Типы признаков: </a:t>
            </a:r>
            <a:r>
              <a:rPr lang="ru-RU" altLang="ru-RU" sz="2400" dirty="0">
                <a:solidFill>
                  <a:srgbClr val="0E2D69"/>
                </a:solidFill>
                <a:latin typeface="HSE Sans" panose="02000000000000000000" pitchFamily="2" charset="0"/>
              </a:rPr>
              <a:t>как говорить с моделью на одном языке</a:t>
            </a:r>
          </a:p>
          <a:p>
            <a:pPr marL="285750" indent="-285750">
              <a:spcBef>
                <a:spcPts val="1200"/>
              </a:spcBef>
              <a:buFont typeface="Arial" panose="020B0604020202020204" pitchFamily="34" charset="0"/>
              <a:buChar char="•"/>
            </a:pPr>
            <a:r>
              <a:rPr lang="ru-RU" altLang="ru-RU" sz="2400" b="1" dirty="0">
                <a:solidFill>
                  <a:srgbClr val="0E2D69"/>
                </a:solidFill>
                <a:latin typeface="HSE Sans" panose="02000000000000000000" pitchFamily="2" charset="0"/>
              </a:rPr>
              <a:t>Разведочный анализ данных (EDA): </a:t>
            </a:r>
            <a:br>
              <a:rPr lang="ru-RU" altLang="ru-RU" sz="2400" b="1" dirty="0">
                <a:solidFill>
                  <a:srgbClr val="0E2D69"/>
                </a:solidFill>
                <a:latin typeface="HSE Sans" panose="02000000000000000000" pitchFamily="2" charset="0"/>
              </a:rPr>
            </a:br>
            <a:r>
              <a:rPr lang="ru-RU" altLang="ru-RU" sz="2400" dirty="0">
                <a:solidFill>
                  <a:srgbClr val="0E2D69"/>
                </a:solidFill>
                <a:latin typeface="HSE Sans" panose="02000000000000000000" pitchFamily="2" charset="0"/>
              </a:rPr>
              <a:t>«осмотр пациента»</a:t>
            </a:r>
          </a:p>
          <a:p>
            <a:pPr marL="285750" indent="-285750">
              <a:spcBef>
                <a:spcPts val="1200"/>
              </a:spcBef>
              <a:buFont typeface="Arial" panose="020B0604020202020204" pitchFamily="34" charset="0"/>
              <a:buChar char="•"/>
            </a:pPr>
            <a:r>
              <a:rPr lang="ru-RU" altLang="ru-RU" sz="2400" b="1" dirty="0">
                <a:solidFill>
                  <a:srgbClr val="0E2D69"/>
                </a:solidFill>
                <a:latin typeface="HSE Sans" panose="02000000000000000000" pitchFamily="2" charset="0"/>
              </a:rPr>
              <a:t>Проблемы реальных данных: </a:t>
            </a:r>
            <a:r>
              <a:rPr lang="ru-RU" altLang="ru-RU" sz="2400" dirty="0">
                <a:solidFill>
                  <a:srgbClr val="0E2D69"/>
                </a:solidFill>
                <a:latin typeface="HSE Sans" panose="02000000000000000000" pitchFamily="2" charset="0"/>
              </a:rPr>
              <a:t>пропуски, выбросы, масштабирование</a:t>
            </a:r>
          </a:p>
          <a:p>
            <a:pPr marL="285750" indent="-285750">
              <a:spcBef>
                <a:spcPts val="1200"/>
              </a:spcBef>
              <a:buFont typeface="Arial" panose="020B0604020202020204" pitchFamily="34" charset="0"/>
              <a:buChar char="•"/>
            </a:pPr>
            <a:r>
              <a:rPr lang="ru-RU" altLang="ru-RU" sz="2400" b="1" dirty="0">
                <a:solidFill>
                  <a:srgbClr val="0E2D69"/>
                </a:solidFill>
                <a:latin typeface="HSE Sans" panose="02000000000000000000" pitchFamily="2" charset="0"/>
              </a:rPr>
              <a:t>Предобработка: </a:t>
            </a:r>
            <a:r>
              <a:rPr lang="ru-RU" altLang="ru-RU" sz="2400" dirty="0">
                <a:solidFill>
                  <a:srgbClr val="0E2D69"/>
                </a:solidFill>
                <a:latin typeface="HSE Sans" panose="02000000000000000000" pitchFamily="2" charset="0"/>
              </a:rPr>
              <a:t>искусство и наука подготовки данных</a:t>
            </a:r>
          </a:p>
        </p:txBody>
      </p:sp>
    </p:spTree>
    <p:extLst>
      <p:ext uri="{BB962C8B-B14F-4D97-AF65-F5344CB8AC3E}">
        <p14:creationId xmlns:p14="http://schemas.microsoft.com/office/powerpoint/2010/main" val="2710688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A49F-B89B-19D9-139B-79002FFA6F01}"/>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5686480E-3471-95DB-2890-DCB187AB2DC9}"/>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2A013701-F1C7-6AAB-D2DD-0E78C5C9614F}"/>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F4AF63CC-9BC3-E1FB-9970-46A48D6890FE}"/>
              </a:ext>
            </a:extLst>
          </p:cNvPr>
          <p:cNvSpPr>
            <a:spLocks noGrp="1"/>
          </p:cNvSpPr>
          <p:nvPr>
            <p:ph type="title"/>
          </p:nvPr>
        </p:nvSpPr>
        <p:spPr/>
        <p:txBody>
          <a:bodyPr>
            <a:normAutofit/>
          </a:bodyPr>
          <a:lstStyle/>
          <a:p>
            <a:r>
              <a:rPr lang="ru-RU" sz="3600" dirty="0"/>
              <a:t>Данные: фундамент любого </a:t>
            </a:r>
            <a:r>
              <a:rPr lang="en-US" sz="3600" dirty="0"/>
              <a:t>ML-</a:t>
            </a:r>
            <a:r>
              <a:rPr lang="ru-RU" sz="3600" dirty="0"/>
              <a:t>проекта</a:t>
            </a:r>
          </a:p>
        </p:txBody>
      </p:sp>
      <p:sp>
        <p:nvSpPr>
          <p:cNvPr id="6" name="Текст 5">
            <a:extLst>
              <a:ext uri="{FF2B5EF4-FFF2-40B4-BE49-F238E27FC236}">
                <a16:creationId xmlns:a16="http://schemas.microsoft.com/office/drawing/2014/main" id="{65E71811-CAB9-7E09-9D2F-3A881A1CBB63}"/>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927B9CDA-6719-D7BD-6F8F-C0AD1182D6F7}"/>
              </a:ext>
            </a:extLst>
          </p:cNvPr>
          <p:cNvSpPr txBox="1"/>
          <p:nvPr/>
        </p:nvSpPr>
        <p:spPr>
          <a:xfrm>
            <a:off x="722184" y="2387839"/>
            <a:ext cx="7607808" cy="3416320"/>
          </a:xfrm>
          <a:prstGeom prst="rect">
            <a:avLst/>
          </a:prstGeom>
          <a:noFill/>
        </p:spPr>
        <p:txBody>
          <a:bodyPr wrap="square" rtlCol="0">
            <a:spAutoFit/>
          </a:bodyPr>
          <a:lstStyle/>
          <a:p>
            <a:pPr marL="342900" indent="-342900">
              <a:buFont typeface="Arial" panose="020B0604020202020204" pitchFamily="34" charset="0"/>
              <a:buChar char="•"/>
            </a:pPr>
            <a:r>
              <a:rPr lang="ru-RU" sz="2400" b="1" dirty="0"/>
              <a:t>Данные – </a:t>
            </a:r>
            <a:r>
              <a:rPr lang="ru-RU" sz="2400" dirty="0"/>
              <a:t>это новая нефть</a:t>
            </a:r>
            <a:br>
              <a:rPr lang="ru-RU" sz="2400" b="1" dirty="0"/>
            </a:br>
            <a:endParaRPr lang="ru-RU" sz="2400" b="1" dirty="0"/>
          </a:p>
          <a:p>
            <a:pPr marL="342900" indent="-342900">
              <a:buFont typeface="Arial" panose="020B0604020202020204" pitchFamily="34" charset="0"/>
              <a:buChar char="•"/>
            </a:pPr>
            <a:r>
              <a:rPr lang="ru-RU" sz="2400" b="1" dirty="0"/>
              <a:t>Правило 80/20:</a:t>
            </a:r>
            <a:r>
              <a:rPr lang="ru-RU" sz="2400" dirty="0"/>
              <a:t> В реальных проектах до 80% времени уходит не на обучение сложных моделей, а на сбор, очистку и подготовку данных</a:t>
            </a:r>
          </a:p>
          <a:p>
            <a:pPr marL="342900" indent="-342900">
              <a:buFont typeface="Arial" panose="020B0604020202020204" pitchFamily="34" charset="0"/>
              <a:buChar char="•"/>
            </a:pPr>
            <a:endParaRPr lang="ru-RU" sz="2400" dirty="0"/>
          </a:p>
          <a:p>
            <a:pPr marL="342900" indent="-342900">
              <a:buFont typeface="Arial" panose="020B0604020202020204" pitchFamily="34" charset="0"/>
              <a:buChar char="•"/>
            </a:pPr>
            <a:r>
              <a:rPr lang="en-US" sz="2400" b="1" dirty="0"/>
              <a:t>Garbage in – Garbage out</a:t>
            </a:r>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r>
              <a:rPr lang="en-US" sz="2400" b="1" dirty="0"/>
              <a:t>Better data beats better algorithms</a:t>
            </a:r>
          </a:p>
        </p:txBody>
      </p:sp>
      <p:pic>
        <p:nvPicPr>
          <p:cNvPr id="12" name="Рисунок 11">
            <a:extLst>
              <a:ext uri="{FF2B5EF4-FFF2-40B4-BE49-F238E27FC236}">
                <a16:creationId xmlns:a16="http://schemas.microsoft.com/office/drawing/2014/main" id="{4CCCBAB0-2971-0EE1-EC20-4E609A375B68}"/>
              </a:ext>
            </a:extLst>
          </p:cNvPr>
          <p:cNvPicPr>
            <a:picLocks noChangeAspect="1"/>
          </p:cNvPicPr>
          <p:nvPr/>
        </p:nvPicPr>
        <p:blipFill>
          <a:blip r:embed="rId3"/>
          <a:stretch>
            <a:fillRect/>
          </a:stretch>
        </p:blipFill>
        <p:spPr>
          <a:xfrm>
            <a:off x="8329992" y="2227638"/>
            <a:ext cx="3749079" cy="3736722"/>
          </a:xfrm>
          <a:prstGeom prst="rect">
            <a:avLst/>
          </a:prstGeom>
        </p:spPr>
      </p:pic>
    </p:spTree>
    <p:extLst>
      <p:ext uri="{BB962C8B-B14F-4D97-AF65-F5344CB8AC3E}">
        <p14:creationId xmlns:p14="http://schemas.microsoft.com/office/powerpoint/2010/main" val="378320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36F80-11EF-CACA-C07D-76F73DDFDEAC}"/>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5853472F-0C92-55BD-D82C-20114D159929}"/>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4DAF64FB-2A12-9009-A16A-7D3E633D0E73}"/>
              </a:ext>
            </a:extLst>
          </p:cNvPr>
          <p:cNvSpPr>
            <a:spLocks noGrp="1"/>
          </p:cNvSpPr>
          <p:nvPr>
            <p:ph type="body" sz="quarter" idx="14"/>
          </p:nvPr>
        </p:nvSpPr>
        <p:spPr/>
        <p:txBody>
          <a:bodyPr anchor="ctr"/>
          <a:lstStyle/>
          <a:p>
            <a:r>
              <a:rPr lang="ru-RU" dirty="0"/>
              <a:t>Введение в машинное обучение. Лекция 1</a:t>
            </a:r>
          </a:p>
        </p:txBody>
      </p:sp>
      <p:sp>
        <p:nvSpPr>
          <p:cNvPr id="4" name="Заголовок 3">
            <a:extLst>
              <a:ext uri="{FF2B5EF4-FFF2-40B4-BE49-F238E27FC236}">
                <a16:creationId xmlns:a16="http://schemas.microsoft.com/office/drawing/2014/main" id="{2852CDE2-777B-1EAC-D081-70CF18DF9BFE}"/>
              </a:ext>
            </a:extLst>
          </p:cNvPr>
          <p:cNvSpPr>
            <a:spLocks noGrp="1"/>
          </p:cNvSpPr>
          <p:nvPr>
            <p:ph type="title"/>
          </p:nvPr>
        </p:nvSpPr>
        <p:spPr/>
        <p:txBody>
          <a:bodyPr>
            <a:normAutofit/>
          </a:bodyPr>
          <a:lstStyle/>
          <a:p>
            <a:r>
              <a:rPr lang="ru-RU" sz="3600" dirty="0"/>
              <a:t>Анатомия набора данных</a:t>
            </a:r>
          </a:p>
        </p:txBody>
      </p:sp>
      <p:sp>
        <p:nvSpPr>
          <p:cNvPr id="6" name="Текст 5">
            <a:extLst>
              <a:ext uri="{FF2B5EF4-FFF2-40B4-BE49-F238E27FC236}">
                <a16:creationId xmlns:a16="http://schemas.microsoft.com/office/drawing/2014/main" id="{1D2735CD-9C9F-807A-227F-28311CB87678}"/>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DD0C4F1C-F276-4E10-9E8F-8D566CD598C7}"/>
              </a:ext>
            </a:extLst>
          </p:cNvPr>
          <p:cNvSpPr txBox="1"/>
          <p:nvPr/>
        </p:nvSpPr>
        <p:spPr>
          <a:xfrm>
            <a:off x="722184" y="2154296"/>
            <a:ext cx="7607808" cy="3785652"/>
          </a:xfrm>
          <a:prstGeom prst="rect">
            <a:avLst/>
          </a:prstGeom>
          <a:noFill/>
        </p:spPr>
        <p:txBody>
          <a:bodyPr wrap="square" rtlCol="0">
            <a:spAutoFit/>
          </a:bodyPr>
          <a:lstStyle/>
          <a:p>
            <a:r>
              <a:rPr lang="ru-RU" sz="2400" b="1" dirty="0"/>
              <a:t>Объекты (</a:t>
            </a:r>
            <a:r>
              <a:rPr lang="ru-RU" sz="2400" b="1" dirty="0" err="1"/>
              <a:t>Instances</a:t>
            </a:r>
            <a:r>
              <a:rPr lang="ru-RU" sz="2400" b="1" dirty="0"/>
              <a:t>/</a:t>
            </a:r>
            <a:r>
              <a:rPr lang="ru-RU" sz="2400" b="1" dirty="0" err="1"/>
              <a:t>Samples</a:t>
            </a:r>
            <a:r>
              <a:rPr lang="ru-RU" sz="2400" b="1" dirty="0"/>
              <a:t>):</a:t>
            </a:r>
            <a:r>
              <a:rPr lang="ru-RU" sz="2400" dirty="0"/>
              <a:t> Строки таблицы. Это наши пациенты, образцы ткани, клетки</a:t>
            </a:r>
            <a:br>
              <a:rPr lang="ru-RU" sz="2400" dirty="0"/>
            </a:br>
            <a:endParaRPr lang="en-US" sz="2400" dirty="0">
              <a:latin typeface="HSE Sans" panose="02000000000000000000" pitchFamily="2" charset="0"/>
            </a:endParaRPr>
          </a:p>
          <a:p>
            <a:r>
              <a:rPr lang="ru-RU" sz="2400" b="1" dirty="0"/>
              <a:t>Признаки (</a:t>
            </a:r>
            <a:r>
              <a:rPr lang="ru-RU" sz="2400" b="1" dirty="0" err="1"/>
              <a:t>Features</a:t>
            </a:r>
            <a:r>
              <a:rPr lang="ru-RU" sz="2400" b="1" dirty="0"/>
              <a:t>/</a:t>
            </a:r>
            <a:r>
              <a:rPr lang="ru-RU" sz="2400" b="1" dirty="0" err="1"/>
              <a:t>Predictors</a:t>
            </a:r>
            <a:r>
              <a:rPr lang="ru-RU" sz="2400" b="1" dirty="0"/>
              <a:t>):</a:t>
            </a:r>
            <a:r>
              <a:rPr lang="ru-RU" sz="2400" dirty="0"/>
              <a:t> Столбцы. Это характеристики объектов — возраст, пол, уровень глюкозы, экспрессия гена</a:t>
            </a:r>
          </a:p>
          <a:p>
            <a:endParaRPr lang="en-US" sz="2400" dirty="0">
              <a:latin typeface="HSE Sans" panose="02000000000000000000" pitchFamily="2" charset="0"/>
            </a:endParaRPr>
          </a:p>
          <a:p>
            <a:r>
              <a:rPr lang="ru-RU" sz="2400" b="1" dirty="0"/>
              <a:t>Целевая переменная (Target):</a:t>
            </a:r>
            <a:r>
              <a:rPr lang="ru-RU" sz="2400" dirty="0"/>
              <a:t> Особенный столбец, который мы хотим предсказать. Это исход — наличие/отсутствие заболевания, ответ на терапию</a:t>
            </a:r>
            <a:endParaRPr lang="ru-RU" sz="2400" dirty="0">
              <a:latin typeface="HSE Sans" panose="02000000000000000000" pitchFamily="2" charset="0"/>
            </a:endParaRPr>
          </a:p>
        </p:txBody>
      </p:sp>
      <p:pic>
        <p:nvPicPr>
          <p:cNvPr id="11" name="Рисунок 10">
            <a:extLst>
              <a:ext uri="{FF2B5EF4-FFF2-40B4-BE49-F238E27FC236}">
                <a16:creationId xmlns:a16="http://schemas.microsoft.com/office/drawing/2014/main" id="{B0F63877-6A2D-4E00-9E2A-631435629FE5}"/>
              </a:ext>
            </a:extLst>
          </p:cNvPr>
          <p:cNvPicPr>
            <a:picLocks noChangeAspect="1"/>
          </p:cNvPicPr>
          <p:nvPr/>
        </p:nvPicPr>
        <p:blipFill rotWithShape="1">
          <a:blip r:embed="rId3"/>
          <a:srcRect l="1989" t="17039" r="11780" b="7098"/>
          <a:stretch/>
        </p:blipFill>
        <p:spPr>
          <a:xfrm>
            <a:off x="7556725" y="2931321"/>
            <a:ext cx="4379171" cy="2366615"/>
          </a:xfrm>
          <a:prstGeom prst="rect">
            <a:avLst/>
          </a:prstGeom>
        </p:spPr>
      </p:pic>
    </p:spTree>
    <p:extLst>
      <p:ext uri="{BB962C8B-B14F-4D97-AF65-F5344CB8AC3E}">
        <p14:creationId xmlns:p14="http://schemas.microsoft.com/office/powerpoint/2010/main" val="685276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35A80-E732-B23F-652C-14FB4460BDAE}"/>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814C19A7-2B67-7A84-FB0F-4B0B0AD4A4D6}"/>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B9B7BC28-0508-08F5-A3A9-A54EF7191781}"/>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3C4B3AD0-D4D3-E518-C804-100A797AD64D}"/>
              </a:ext>
            </a:extLst>
          </p:cNvPr>
          <p:cNvSpPr>
            <a:spLocks noGrp="1"/>
          </p:cNvSpPr>
          <p:nvPr>
            <p:ph type="title"/>
          </p:nvPr>
        </p:nvSpPr>
        <p:spPr>
          <a:xfrm>
            <a:off x="585897" y="1301486"/>
            <a:ext cx="11057955" cy="777025"/>
          </a:xfrm>
        </p:spPr>
        <p:txBody>
          <a:bodyPr>
            <a:normAutofit/>
          </a:bodyPr>
          <a:lstStyle/>
          <a:p>
            <a:r>
              <a:rPr lang="ru-RU" sz="3600" dirty="0"/>
              <a:t>Датасет: </a:t>
            </a:r>
            <a:r>
              <a:rPr lang="ru-RU" sz="3600" dirty="0" err="1"/>
              <a:t>Фрамингемское</a:t>
            </a:r>
            <a:r>
              <a:rPr lang="ru-RU" sz="3600" dirty="0"/>
              <a:t> исследование сердца</a:t>
            </a:r>
          </a:p>
        </p:txBody>
      </p:sp>
      <p:sp>
        <p:nvSpPr>
          <p:cNvPr id="6" name="Текст 5">
            <a:extLst>
              <a:ext uri="{FF2B5EF4-FFF2-40B4-BE49-F238E27FC236}">
                <a16:creationId xmlns:a16="http://schemas.microsoft.com/office/drawing/2014/main" id="{89422EAB-C43D-FD21-13EA-799D8AD05695}"/>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5" name="TextBox 4">
            <a:extLst>
              <a:ext uri="{FF2B5EF4-FFF2-40B4-BE49-F238E27FC236}">
                <a16:creationId xmlns:a16="http://schemas.microsoft.com/office/drawing/2014/main" id="{8AEFAB79-A4BC-A014-AA26-0F774C5ABD10}"/>
              </a:ext>
            </a:extLst>
          </p:cNvPr>
          <p:cNvSpPr txBox="1"/>
          <p:nvPr/>
        </p:nvSpPr>
        <p:spPr>
          <a:xfrm>
            <a:off x="439593" y="1962272"/>
            <a:ext cx="11447607" cy="4708981"/>
          </a:xfrm>
          <a:prstGeom prst="rect">
            <a:avLst/>
          </a:prstGeom>
          <a:noFill/>
        </p:spPr>
        <p:txBody>
          <a:bodyPr wrap="square" numCol="2" rtlCol="0">
            <a:spAutoFit/>
          </a:bodyPr>
          <a:lstStyle/>
          <a:p>
            <a:r>
              <a:rPr lang="ru-RU" sz="2000" b="1" dirty="0"/>
              <a:t>Пол:</a:t>
            </a:r>
            <a:r>
              <a:rPr lang="ru-RU" sz="2000" dirty="0"/>
              <a:t> Пол (1 = Мужчина, 0 = Женщина) </a:t>
            </a:r>
            <a:br>
              <a:rPr lang="ru-RU" sz="2000" dirty="0"/>
            </a:br>
            <a:r>
              <a:rPr lang="ru-RU" sz="2000" b="1" dirty="0"/>
              <a:t>Пациент:  </a:t>
            </a:r>
            <a:r>
              <a:rPr lang="ru-RU" sz="2000" dirty="0"/>
              <a:t>Все записи о конкретном пациенте</a:t>
            </a:r>
            <a:br>
              <a:rPr lang="en-US" sz="2000" dirty="0"/>
            </a:br>
            <a:r>
              <a:rPr lang="ru-RU" sz="2000" b="1" dirty="0"/>
              <a:t>Возраст:</a:t>
            </a:r>
            <a:r>
              <a:rPr lang="ru-RU" sz="2000" dirty="0"/>
              <a:t> Возраст пациента </a:t>
            </a:r>
            <a:br>
              <a:rPr lang="ru-RU" sz="2000" dirty="0"/>
            </a:br>
            <a:r>
              <a:rPr lang="ru-RU" sz="2000" b="1" dirty="0"/>
              <a:t>Образование:</a:t>
            </a:r>
            <a:r>
              <a:rPr lang="ru-RU" sz="2000" dirty="0"/>
              <a:t> Уровень образования</a:t>
            </a:r>
            <a:br>
              <a:rPr lang="ru-RU" sz="2000" dirty="0"/>
            </a:br>
            <a:r>
              <a:rPr lang="ru-RU" sz="2000" b="1" dirty="0"/>
              <a:t>Курильщик:</a:t>
            </a:r>
            <a:r>
              <a:rPr lang="ru-RU" sz="2000" dirty="0"/>
              <a:t> 1 = пациент курит </a:t>
            </a:r>
            <a:br>
              <a:rPr lang="ru-RU" sz="2000" dirty="0"/>
            </a:br>
            <a:r>
              <a:rPr lang="ru-RU" sz="2000" b="1" dirty="0" err="1"/>
              <a:t>СигаретВДень</a:t>
            </a:r>
            <a:r>
              <a:rPr lang="ru-RU" sz="2000" b="1" dirty="0"/>
              <a:t>:</a:t>
            </a:r>
            <a:r>
              <a:rPr lang="ru-RU" sz="2000" dirty="0"/>
              <a:t> Количество сигарет в день </a:t>
            </a:r>
            <a:br>
              <a:rPr lang="ru-RU" sz="2000" dirty="0"/>
            </a:br>
            <a:r>
              <a:rPr lang="ru-RU" sz="2000" b="1" dirty="0" err="1"/>
              <a:t>ЛекарстваОтДавления</a:t>
            </a:r>
            <a:r>
              <a:rPr lang="ru-RU" sz="2000" b="1" dirty="0"/>
              <a:t>:</a:t>
            </a:r>
            <a:r>
              <a:rPr lang="ru-RU" sz="2000" dirty="0"/>
              <a:t> 1 = принимает лекарства от АД</a:t>
            </a:r>
            <a:br>
              <a:rPr lang="ru-RU" sz="2000" dirty="0"/>
            </a:br>
            <a:r>
              <a:rPr lang="ru-RU" sz="2000" b="1" dirty="0" err="1"/>
              <a:t>ПеренесенныйИнсульт</a:t>
            </a:r>
            <a:r>
              <a:rPr lang="ru-RU" sz="2000" b="1" dirty="0"/>
              <a:t>:</a:t>
            </a:r>
            <a:r>
              <a:rPr lang="ru-RU" sz="2000" dirty="0"/>
              <a:t> 1 = ранее был инсульт </a:t>
            </a:r>
            <a:br>
              <a:rPr lang="ru-RU" sz="2000" dirty="0"/>
            </a:br>
            <a:r>
              <a:rPr lang="ru-RU" sz="2000" b="1" dirty="0"/>
              <a:t>Гипертония:</a:t>
            </a:r>
            <a:r>
              <a:rPr lang="ru-RU" sz="2000" dirty="0"/>
              <a:t> 1 = есть гипертония </a:t>
            </a:r>
            <a:br>
              <a:rPr lang="ru-RU" sz="2000" dirty="0"/>
            </a:br>
            <a:br>
              <a:rPr lang="ru-RU" sz="2000" dirty="0"/>
            </a:br>
            <a:br>
              <a:rPr lang="ru-RU" sz="2000" dirty="0"/>
            </a:br>
            <a:br>
              <a:rPr lang="ru-RU" sz="2000" dirty="0"/>
            </a:br>
            <a:br>
              <a:rPr lang="ru-RU" sz="2000" dirty="0"/>
            </a:br>
            <a:br>
              <a:rPr lang="ru-RU" sz="2000" dirty="0"/>
            </a:br>
            <a:r>
              <a:rPr lang="ru-RU" sz="2000" b="1" dirty="0"/>
              <a:t>Холестерин:</a:t>
            </a:r>
            <a:r>
              <a:rPr lang="ru-RU" sz="2000" dirty="0"/>
              <a:t> общий холестерин (мг/</a:t>
            </a:r>
            <a:r>
              <a:rPr lang="ru-RU" sz="2000" dirty="0" err="1"/>
              <a:t>дл</a:t>
            </a:r>
            <a:r>
              <a:rPr lang="ru-RU" sz="2000" dirty="0"/>
              <a:t>) </a:t>
            </a:r>
            <a:br>
              <a:rPr lang="ru-RU" sz="2000" dirty="0"/>
            </a:br>
            <a:r>
              <a:rPr lang="ru-RU" sz="2000" b="1" dirty="0"/>
              <a:t>ИБС_за_10_лет:</a:t>
            </a:r>
            <a:r>
              <a:rPr lang="ru-RU" sz="2000" dirty="0"/>
              <a:t> 1 = у пациента развилась ИБС в течение 10 лет после обследования</a:t>
            </a:r>
            <a:br>
              <a:rPr lang="ru-RU" sz="2000" dirty="0"/>
            </a:br>
            <a:r>
              <a:rPr lang="ru-RU" sz="2000" b="1" dirty="0" err="1"/>
              <a:t>СистАД</a:t>
            </a:r>
            <a:r>
              <a:rPr lang="ru-RU" sz="2000" b="1" dirty="0"/>
              <a:t>:</a:t>
            </a:r>
            <a:r>
              <a:rPr lang="ru-RU" sz="2000" dirty="0"/>
              <a:t> систолическое АД (мм рт. ст.) </a:t>
            </a:r>
            <a:br>
              <a:rPr lang="ru-RU" sz="2000" dirty="0"/>
            </a:br>
            <a:r>
              <a:rPr lang="ru-RU" sz="2000" b="1" dirty="0" err="1"/>
              <a:t>ДиастАД</a:t>
            </a:r>
            <a:r>
              <a:rPr lang="ru-RU" sz="2000" b="1" dirty="0"/>
              <a:t>:</a:t>
            </a:r>
            <a:r>
              <a:rPr lang="ru-RU" sz="2000" dirty="0"/>
              <a:t> диастолическое АД (мм рт. ст.) </a:t>
            </a:r>
            <a:br>
              <a:rPr lang="ru-RU" sz="2000" dirty="0"/>
            </a:br>
            <a:r>
              <a:rPr lang="ru-RU" sz="2000" b="1" dirty="0"/>
              <a:t>ИМТ:</a:t>
            </a:r>
            <a:r>
              <a:rPr lang="ru-RU" sz="2000" dirty="0"/>
              <a:t> индекс массы тела (вес / рост²) </a:t>
            </a:r>
            <a:br>
              <a:rPr lang="ru-RU" sz="2000" dirty="0"/>
            </a:br>
            <a:r>
              <a:rPr lang="ru-RU" sz="2000" b="1" dirty="0"/>
              <a:t>ЧСС:</a:t>
            </a:r>
            <a:r>
              <a:rPr lang="ru-RU" sz="2000" dirty="0"/>
              <a:t> Частота сердечных сокращений (ударов в минуту) </a:t>
            </a:r>
            <a:br>
              <a:rPr lang="ru-RU" sz="2000" dirty="0"/>
            </a:br>
            <a:r>
              <a:rPr lang="ru-RU" sz="2000" b="1" dirty="0"/>
              <a:t>Глюкоза:</a:t>
            </a:r>
            <a:r>
              <a:rPr lang="ru-RU" sz="2000" dirty="0"/>
              <a:t> уровень глюкозы в крови (мг/</a:t>
            </a:r>
            <a:r>
              <a:rPr lang="ru-RU" sz="2000" dirty="0" err="1"/>
              <a:t>дл</a:t>
            </a:r>
            <a:r>
              <a:rPr lang="ru-RU" sz="2000" dirty="0"/>
              <a:t>)</a:t>
            </a:r>
            <a:endParaRPr lang="ru-RU" sz="2000" dirty="0">
              <a:latin typeface="HSE Sans" panose="02000000000000000000" pitchFamily="2" charset="0"/>
            </a:endParaRPr>
          </a:p>
        </p:txBody>
      </p:sp>
      <p:pic>
        <p:nvPicPr>
          <p:cNvPr id="6146" name="Picture 2" descr="Framingham Heart Study | Preventive Medicine &amp; Epidemiology">
            <a:extLst>
              <a:ext uri="{FF2B5EF4-FFF2-40B4-BE49-F238E27FC236}">
                <a16:creationId xmlns:a16="http://schemas.microsoft.com/office/drawing/2014/main" id="{9CB27832-C046-3271-A7E7-FDC7CA2816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0995" y="4881372"/>
            <a:ext cx="1798830" cy="1789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206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77833-AF18-0147-EE75-430403E93E0C}"/>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44C0AA1D-97C5-6CF0-3C1A-7AC1DFBEB8DB}"/>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D96E02B5-3580-3614-6876-1A04C90EB27F}"/>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69F74D40-3777-C825-5D88-1CE6B73B9B93}"/>
              </a:ext>
            </a:extLst>
          </p:cNvPr>
          <p:cNvSpPr>
            <a:spLocks noGrp="1"/>
          </p:cNvSpPr>
          <p:nvPr>
            <p:ph type="title"/>
          </p:nvPr>
        </p:nvSpPr>
        <p:spPr>
          <a:xfrm>
            <a:off x="585897" y="1301486"/>
            <a:ext cx="11057955" cy="777025"/>
          </a:xfrm>
        </p:spPr>
        <p:txBody>
          <a:bodyPr>
            <a:normAutofit/>
          </a:bodyPr>
          <a:lstStyle/>
          <a:p>
            <a:r>
              <a:rPr lang="ru-RU" sz="3600" dirty="0"/>
              <a:t>Датасет: </a:t>
            </a:r>
            <a:r>
              <a:rPr lang="ru-RU" sz="3600" dirty="0" err="1"/>
              <a:t>Фрамингемское</a:t>
            </a:r>
            <a:r>
              <a:rPr lang="ru-RU" sz="3600" dirty="0"/>
              <a:t> исследование сердца</a:t>
            </a:r>
          </a:p>
        </p:txBody>
      </p:sp>
      <p:sp>
        <p:nvSpPr>
          <p:cNvPr id="6" name="Текст 5">
            <a:extLst>
              <a:ext uri="{FF2B5EF4-FFF2-40B4-BE49-F238E27FC236}">
                <a16:creationId xmlns:a16="http://schemas.microsoft.com/office/drawing/2014/main" id="{0B9E81A5-F319-DCED-D04D-BA1BDCDCF364}"/>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5" name="TextBox 4">
            <a:extLst>
              <a:ext uri="{FF2B5EF4-FFF2-40B4-BE49-F238E27FC236}">
                <a16:creationId xmlns:a16="http://schemas.microsoft.com/office/drawing/2014/main" id="{AB8AA8A6-B21E-8118-1A4F-B3C797215FCB}"/>
              </a:ext>
            </a:extLst>
          </p:cNvPr>
          <p:cNvSpPr txBox="1"/>
          <p:nvPr/>
        </p:nvSpPr>
        <p:spPr>
          <a:xfrm>
            <a:off x="4369751" y="2878858"/>
            <a:ext cx="4310770" cy="3493264"/>
          </a:xfrm>
          <a:prstGeom prst="rect">
            <a:avLst/>
          </a:prstGeom>
          <a:noFill/>
        </p:spPr>
        <p:txBody>
          <a:bodyPr wrap="square" rtlCol="0">
            <a:spAutoFit/>
          </a:bodyPr>
          <a:lstStyle/>
          <a:p>
            <a:r>
              <a:rPr lang="ru-RU" sz="1300" b="1" dirty="0"/>
              <a:t>Пол:</a:t>
            </a:r>
            <a:r>
              <a:rPr lang="ru-RU" sz="1300" dirty="0"/>
              <a:t> Пол (1 = Мужчина, 0 = Женщина) </a:t>
            </a:r>
            <a:br>
              <a:rPr lang="ru-RU" sz="1300" dirty="0"/>
            </a:br>
            <a:r>
              <a:rPr lang="ru-RU" sz="1300" b="1" dirty="0"/>
              <a:t>Возраст:</a:t>
            </a:r>
            <a:r>
              <a:rPr lang="ru-RU" sz="1300" dirty="0"/>
              <a:t> Возраст пациента </a:t>
            </a:r>
            <a:br>
              <a:rPr lang="ru-RU" sz="1300" dirty="0"/>
            </a:br>
            <a:r>
              <a:rPr lang="ru-RU" sz="1300" b="1" dirty="0"/>
              <a:t>Образование:</a:t>
            </a:r>
            <a:r>
              <a:rPr lang="ru-RU" sz="1300" dirty="0"/>
              <a:t> Уровень образования</a:t>
            </a:r>
            <a:br>
              <a:rPr lang="ru-RU" sz="1300" dirty="0"/>
            </a:br>
            <a:r>
              <a:rPr lang="ru-RU" sz="1300" b="1" dirty="0"/>
              <a:t>Курильщик:</a:t>
            </a:r>
            <a:r>
              <a:rPr lang="ru-RU" sz="1300" dirty="0"/>
              <a:t> 1 = пациент курит </a:t>
            </a:r>
            <a:br>
              <a:rPr lang="ru-RU" sz="1300" dirty="0"/>
            </a:br>
            <a:r>
              <a:rPr lang="ru-RU" sz="1300" b="1" dirty="0" err="1"/>
              <a:t>СигаретВДень</a:t>
            </a:r>
            <a:r>
              <a:rPr lang="ru-RU" sz="1300" b="1" dirty="0"/>
              <a:t>:</a:t>
            </a:r>
            <a:r>
              <a:rPr lang="ru-RU" sz="1300" dirty="0"/>
              <a:t> Количество сигарет в день </a:t>
            </a:r>
            <a:br>
              <a:rPr lang="ru-RU" sz="1300" dirty="0"/>
            </a:br>
            <a:r>
              <a:rPr lang="ru-RU" sz="1300" b="1" dirty="0" err="1"/>
              <a:t>ЛекарстваОтДавления</a:t>
            </a:r>
            <a:r>
              <a:rPr lang="ru-RU" sz="1300" b="1" dirty="0"/>
              <a:t>:</a:t>
            </a:r>
            <a:r>
              <a:rPr lang="ru-RU" sz="1300" dirty="0"/>
              <a:t> 1 = пациент принимает лекарства от А</a:t>
            </a:r>
            <a:br>
              <a:rPr lang="ru-RU" sz="1300" dirty="0"/>
            </a:br>
            <a:r>
              <a:rPr lang="ru-RU" sz="1300" b="1" dirty="0" err="1"/>
              <a:t>ПеренесенныйИнсульт</a:t>
            </a:r>
            <a:r>
              <a:rPr lang="ru-RU" sz="1300" b="1" dirty="0"/>
              <a:t>:</a:t>
            </a:r>
            <a:r>
              <a:rPr lang="ru-RU" sz="1300" dirty="0"/>
              <a:t> 1 = у пациента ранее был инсульт </a:t>
            </a:r>
            <a:br>
              <a:rPr lang="ru-RU" sz="1300" dirty="0"/>
            </a:br>
            <a:r>
              <a:rPr lang="ru-RU" sz="1300" b="1" dirty="0"/>
              <a:t>Гипертония:</a:t>
            </a:r>
            <a:r>
              <a:rPr lang="ru-RU" sz="1300" dirty="0"/>
              <a:t> 1 = у пациента есть гипертония </a:t>
            </a:r>
            <a:br>
              <a:rPr lang="ru-RU" sz="1300" dirty="0"/>
            </a:br>
            <a:r>
              <a:rPr lang="ru-RU" sz="1300" b="1" dirty="0"/>
              <a:t>Холестерин:</a:t>
            </a:r>
            <a:r>
              <a:rPr lang="ru-RU" sz="1300" dirty="0"/>
              <a:t> общий холестерин (мг/</a:t>
            </a:r>
            <a:r>
              <a:rPr lang="ru-RU" sz="1300" dirty="0" err="1"/>
              <a:t>дл</a:t>
            </a:r>
            <a:r>
              <a:rPr lang="ru-RU" sz="1300" dirty="0"/>
              <a:t>) </a:t>
            </a:r>
            <a:br>
              <a:rPr lang="ru-RU" sz="1300" dirty="0"/>
            </a:br>
            <a:r>
              <a:rPr lang="ru-RU" sz="1300" b="1" dirty="0" err="1"/>
              <a:t>СистАД</a:t>
            </a:r>
            <a:r>
              <a:rPr lang="ru-RU" sz="1300" b="1" dirty="0"/>
              <a:t>:</a:t>
            </a:r>
            <a:r>
              <a:rPr lang="ru-RU" sz="1300" dirty="0"/>
              <a:t> систолическое артериальное давление (мм рт. ст.) </a:t>
            </a:r>
            <a:br>
              <a:rPr lang="ru-RU" sz="1300" dirty="0"/>
            </a:br>
            <a:r>
              <a:rPr lang="ru-RU" sz="1300" b="1" dirty="0" err="1"/>
              <a:t>ДиастАД</a:t>
            </a:r>
            <a:r>
              <a:rPr lang="ru-RU" sz="1300" b="1" dirty="0"/>
              <a:t>:</a:t>
            </a:r>
            <a:r>
              <a:rPr lang="ru-RU" sz="1300" dirty="0"/>
              <a:t> диастолическое артериальное давление (мм рт. ст.) </a:t>
            </a:r>
            <a:br>
              <a:rPr lang="ru-RU" sz="1300" dirty="0"/>
            </a:br>
            <a:r>
              <a:rPr lang="ru-RU" sz="1300" b="1" dirty="0"/>
              <a:t>ИМТ:</a:t>
            </a:r>
            <a:r>
              <a:rPr lang="ru-RU" sz="1300" dirty="0"/>
              <a:t> индекс массы тела (вес / рост²) </a:t>
            </a:r>
            <a:br>
              <a:rPr lang="ru-RU" sz="1300" dirty="0"/>
            </a:br>
            <a:r>
              <a:rPr lang="ru-RU" sz="1300" b="1" dirty="0"/>
              <a:t>ЧСС:</a:t>
            </a:r>
            <a:r>
              <a:rPr lang="ru-RU" sz="1300" dirty="0"/>
              <a:t> Частота сердечных сокращений (ударов в минуту) </a:t>
            </a:r>
            <a:br>
              <a:rPr lang="ru-RU" sz="1300" dirty="0"/>
            </a:br>
            <a:r>
              <a:rPr lang="ru-RU" sz="1300" b="1" dirty="0"/>
              <a:t>Глюкоза:</a:t>
            </a:r>
            <a:r>
              <a:rPr lang="ru-RU" sz="1300" dirty="0"/>
              <a:t> уровень глюкозы в крови (мг/</a:t>
            </a:r>
            <a:r>
              <a:rPr lang="ru-RU" sz="1300" dirty="0" err="1"/>
              <a:t>дл</a:t>
            </a:r>
            <a:r>
              <a:rPr lang="ru-RU" sz="1300" dirty="0"/>
              <a:t>)</a:t>
            </a:r>
            <a:endParaRPr lang="ru-RU" sz="1300" dirty="0">
              <a:latin typeface="HSE Sans" panose="02000000000000000000" pitchFamily="2" charset="0"/>
            </a:endParaRPr>
          </a:p>
        </p:txBody>
      </p:sp>
      <p:sp>
        <p:nvSpPr>
          <p:cNvPr id="10" name="TextBox 9">
            <a:extLst>
              <a:ext uri="{FF2B5EF4-FFF2-40B4-BE49-F238E27FC236}">
                <a16:creationId xmlns:a16="http://schemas.microsoft.com/office/drawing/2014/main" id="{7A10FB77-11D9-B03B-8E64-E3E787BAD53B}"/>
              </a:ext>
            </a:extLst>
          </p:cNvPr>
          <p:cNvSpPr txBox="1"/>
          <p:nvPr/>
        </p:nvSpPr>
        <p:spPr>
          <a:xfrm>
            <a:off x="9022072" y="2799072"/>
            <a:ext cx="2792555" cy="1477328"/>
          </a:xfrm>
          <a:prstGeom prst="rect">
            <a:avLst/>
          </a:prstGeom>
          <a:noFill/>
        </p:spPr>
        <p:txBody>
          <a:bodyPr wrap="square">
            <a:spAutoFit/>
          </a:bodyPr>
          <a:lstStyle/>
          <a:p>
            <a:r>
              <a:rPr lang="ru-RU" b="1" dirty="0"/>
              <a:t>ИБС_за_10_лет:</a:t>
            </a:r>
            <a:r>
              <a:rPr lang="ru-RU" dirty="0"/>
              <a:t> 1 = у пациента развилась ишемическая болезнь сердца в течение 10 лет после обследования</a:t>
            </a:r>
          </a:p>
        </p:txBody>
      </p:sp>
      <p:sp>
        <p:nvSpPr>
          <p:cNvPr id="13" name="TextBox 12">
            <a:extLst>
              <a:ext uri="{FF2B5EF4-FFF2-40B4-BE49-F238E27FC236}">
                <a16:creationId xmlns:a16="http://schemas.microsoft.com/office/drawing/2014/main" id="{9CC0D914-DFFB-6225-C53F-927CC168FE01}"/>
              </a:ext>
            </a:extLst>
          </p:cNvPr>
          <p:cNvSpPr txBox="1"/>
          <p:nvPr/>
        </p:nvSpPr>
        <p:spPr>
          <a:xfrm>
            <a:off x="8490594" y="1835108"/>
            <a:ext cx="3511479" cy="954107"/>
          </a:xfrm>
          <a:prstGeom prst="rect">
            <a:avLst/>
          </a:prstGeom>
          <a:noFill/>
        </p:spPr>
        <p:txBody>
          <a:bodyPr wrap="square">
            <a:spAutoFit/>
          </a:bodyPr>
          <a:lstStyle/>
          <a:p>
            <a:pPr algn="ctr"/>
            <a:r>
              <a:rPr lang="ru-RU" sz="2800" b="1" dirty="0"/>
              <a:t>Целевая переменная (Target)</a:t>
            </a:r>
            <a:endParaRPr lang="ru-RU" sz="2800" dirty="0"/>
          </a:p>
        </p:txBody>
      </p:sp>
      <p:sp>
        <p:nvSpPr>
          <p:cNvPr id="16" name="TextBox 15">
            <a:extLst>
              <a:ext uri="{FF2B5EF4-FFF2-40B4-BE49-F238E27FC236}">
                <a16:creationId xmlns:a16="http://schemas.microsoft.com/office/drawing/2014/main" id="{EE6C4AD2-CBE9-FF60-162A-F9D49E1489FD}"/>
              </a:ext>
            </a:extLst>
          </p:cNvPr>
          <p:cNvSpPr txBox="1"/>
          <p:nvPr/>
        </p:nvSpPr>
        <p:spPr>
          <a:xfrm>
            <a:off x="4626680" y="1835108"/>
            <a:ext cx="3456615" cy="954107"/>
          </a:xfrm>
          <a:prstGeom prst="rect">
            <a:avLst/>
          </a:prstGeom>
          <a:noFill/>
        </p:spPr>
        <p:txBody>
          <a:bodyPr wrap="square">
            <a:spAutoFit/>
          </a:bodyPr>
          <a:lstStyle/>
          <a:p>
            <a:pPr algn="ctr"/>
            <a:r>
              <a:rPr lang="ru-RU" sz="2800" b="1" dirty="0"/>
              <a:t>Признаки (</a:t>
            </a:r>
            <a:r>
              <a:rPr lang="ru-RU" sz="2800" b="1" dirty="0" err="1"/>
              <a:t>Features</a:t>
            </a:r>
            <a:r>
              <a:rPr lang="ru-RU" sz="2800" b="1" dirty="0"/>
              <a:t>/</a:t>
            </a:r>
            <a:r>
              <a:rPr lang="ru-RU" sz="2800" b="1" dirty="0" err="1"/>
              <a:t>Predictors</a:t>
            </a:r>
            <a:r>
              <a:rPr lang="ru-RU" sz="2800" b="1" dirty="0"/>
              <a:t>)</a:t>
            </a:r>
            <a:endParaRPr lang="ru-RU" sz="2800" dirty="0"/>
          </a:p>
        </p:txBody>
      </p:sp>
      <p:sp>
        <p:nvSpPr>
          <p:cNvPr id="18" name="TextBox 17">
            <a:extLst>
              <a:ext uri="{FF2B5EF4-FFF2-40B4-BE49-F238E27FC236}">
                <a16:creationId xmlns:a16="http://schemas.microsoft.com/office/drawing/2014/main" id="{1103A474-03E3-BAF2-D3C2-682A90344F2A}"/>
              </a:ext>
            </a:extLst>
          </p:cNvPr>
          <p:cNvSpPr txBox="1"/>
          <p:nvPr/>
        </p:nvSpPr>
        <p:spPr>
          <a:xfrm>
            <a:off x="883400" y="1835108"/>
            <a:ext cx="3170682" cy="954107"/>
          </a:xfrm>
          <a:prstGeom prst="rect">
            <a:avLst/>
          </a:prstGeom>
          <a:noFill/>
        </p:spPr>
        <p:txBody>
          <a:bodyPr wrap="square">
            <a:spAutoFit/>
          </a:bodyPr>
          <a:lstStyle>
            <a:defPPr>
              <a:defRPr lang="en-RU"/>
            </a:defPPr>
            <a:lvl1pPr algn="ctr">
              <a:defRPr sz="2400" b="1"/>
            </a:lvl1pPr>
          </a:lstStyle>
          <a:p>
            <a:r>
              <a:rPr lang="ru-RU" sz="2800" dirty="0"/>
              <a:t>Объекты (</a:t>
            </a:r>
            <a:r>
              <a:rPr lang="ru-RU" sz="2800" dirty="0" err="1"/>
              <a:t>Instances</a:t>
            </a:r>
            <a:r>
              <a:rPr lang="ru-RU" sz="2800" dirty="0"/>
              <a:t>/</a:t>
            </a:r>
            <a:r>
              <a:rPr lang="ru-RU" sz="2800" dirty="0" err="1"/>
              <a:t>Samples</a:t>
            </a:r>
            <a:r>
              <a:rPr lang="ru-RU" sz="2800" dirty="0"/>
              <a:t>) </a:t>
            </a:r>
          </a:p>
        </p:txBody>
      </p:sp>
      <p:sp>
        <p:nvSpPr>
          <p:cNvPr id="19" name="TextBox 18">
            <a:extLst>
              <a:ext uri="{FF2B5EF4-FFF2-40B4-BE49-F238E27FC236}">
                <a16:creationId xmlns:a16="http://schemas.microsoft.com/office/drawing/2014/main" id="{B95C80B0-5522-D5B8-5CED-1CED2199BA97}"/>
              </a:ext>
            </a:extLst>
          </p:cNvPr>
          <p:cNvSpPr txBox="1"/>
          <p:nvPr/>
        </p:nvSpPr>
        <p:spPr>
          <a:xfrm>
            <a:off x="1235645" y="2840780"/>
            <a:ext cx="2792555" cy="646331"/>
          </a:xfrm>
          <a:prstGeom prst="rect">
            <a:avLst/>
          </a:prstGeom>
          <a:noFill/>
        </p:spPr>
        <p:txBody>
          <a:bodyPr wrap="square">
            <a:spAutoFit/>
          </a:bodyPr>
          <a:lstStyle/>
          <a:p>
            <a:r>
              <a:rPr lang="ru-RU" b="1" dirty="0"/>
              <a:t>Пациент:</a:t>
            </a:r>
            <a:r>
              <a:rPr lang="ru-RU" dirty="0"/>
              <a:t> Все данные конкретного пациента</a:t>
            </a:r>
          </a:p>
        </p:txBody>
      </p:sp>
    </p:spTree>
    <p:extLst>
      <p:ext uri="{BB962C8B-B14F-4D97-AF65-F5344CB8AC3E}">
        <p14:creationId xmlns:p14="http://schemas.microsoft.com/office/powerpoint/2010/main" val="935342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68EC1-FD69-A57C-D67A-ACF33DDA08AE}"/>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175A6533-A7E4-496D-CC83-F600D976D94F}"/>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007986CE-D43E-D824-B840-88A2595C4804}"/>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3510628E-8AD9-5E67-3515-9D25665A5A1D}"/>
              </a:ext>
            </a:extLst>
          </p:cNvPr>
          <p:cNvSpPr>
            <a:spLocks noGrp="1"/>
          </p:cNvSpPr>
          <p:nvPr>
            <p:ph type="title"/>
          </p:nvPr>
        </p:nvSpPr>
        <p:spPr/>
        <p:txBody>
          <a:bodyPr>
            <a:normAutofit/>
          </a:bodyPr>
          <a:lstStyle/>
          <a:p>
            <a:r>
              <a:rPr lang="ru-RU" sz="3600" dirty="0"/>
              <a:t>Типы признаков – 1</a:t>
            </a:r>
          </a:p>
        </p:txBody>
      </p:sp>
      <p:sp>
        <p:nvSpPr>
          <p:cNvPr id="6" name="Текст 5">
            <a:extLst>
              <a:ext uri="{FF2B5EF4-FFF2-40B4-BE49-F238E27FC236}">
                <a16:creationId xmlns:a16="http://schemas.microsoft.com/office/drawing/2014/main" id="{27FE5B3E-A8CB-F1D6-C07D-C6B4D5AF6B18}"/>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8935EE88-2EFE-E6B6-ABB8-042B0BC1975C}"/>
              </a:ext>
            </a:extLst>
          </p:cNvPr>
          <p:cNvSpPr txBox="1"/>
          <p:nvPr/>
        </p:nvSpPr>
        <p:spPr>
          <a:xfrm>
            <a:off x="962295" y="2154296"/>
            <a:ext cx="10643808" cy="2677656"/>
          </a:xfrm>
          <a:prstGeom prst="rect">
            <a:avLst/>
          </a:prstGeom>
          <a:noFill/>
        </p:spPr>
        <p:txBody>
          <a:bodyPr wrap="square" rtlCol="0">
            <a:spAutoFit/>
          </a:bodyPr>
          <a:lstStyle/>
          <a:p>
            <a:pPr marL="342900" indent="-342900">
              <a:buFont typeface="Arial" panose="020B0604020202020204" pitchFamily="34" charset="0"/>
              <a:buChar char="•"/>
            </a:pPr>
            <a:r>
              <a:rPr lang="ru-RU" sz="2400" b="1" dirty="0"/>
              <a:t>Числовые (</a:t>
            </a:r>
            <a:r>
              <a:rPr lang="ru-RU" sz="2400" b="1" dirty="0" err="1"/>
              <a:t>Numerical</a:t>
            </a:r>
            <a:r>
              <a:rPr lang="ru-RU" sz="2400" b="1" dirty="0"/>
              <a:t>):</a:t>
            </a:r>
            <a:r>
              <a:rPr lang="ru-RU" sz="2400" dirty="0"/>
              <a:t> Измеряются числами.</a:t>
            </a:r>
          </a:p>
          <a:p>
            <a:pPr marL="800100" lvl="1" indent="-342900">
              <a:buFont typeface="Arial" panose="020B0604020202020204" pitchFamily="34" charset="0"/>
              <a:buChar char="•"/>
            </a:pPr>
            <a:r>
              <a:rPr lang="ru-RU" sz="2400" i="1" dirty="0"/>
              <a:t>Непрерывные:</a:t>
            </a:r>
            <a:r>
              <a:rPr lang="ru-RU" sz="2400" dirty="0"/>
              <a:t> Могут принимать любое значение в диапазоне (например, артериальное давление, уровень холестерина).</a:t>
            </a:r>
          </a:p>
          <a:p>
            <a:pPr marL="800100" lvl="1" indent="-342900">
              <a:buFont typeface="Arial" panose="020B0604020202020204" pitchFamily="34" charset="0"/>
              <a:buChar char="•"/>
            </a:pPr>
            <a:r>
              <a:rPr lang="ru-RU" sz="2400" i="1" dirty="0"/>
              <a:t>Дискретные:</a:t>
            </a:r>
            <a:r>
              <a:rPr lang="ru-RU" sz="2400" dirty="0"/>
              <a:t> Могут принимать только целые значения (например, количество предыдущих госпитализаций)</a:t>
            </a:r>
          </a:p>
          <a:p>
            <a:endParaRPr lang="ru-RU" sz="2400" dirty="0"/>
          </a:p>
          <a:p>
            <a:pPr marL="342900" indent="-342900">
              <a:buFont typeface="Arial" panose="020B0604020202020204" pitchFamily="34" charset="0"/>
              <a:buChar char="•"/>
            </a:pPr>
            <a:endParaRPr lang="ru-RU" sz="2400" dirty="0"/>
          </a:p>
        </p:txBody>
      </p:sp>
      <p:pic>
        <p:nvPicPr>
          <p:cNvPr id="3076" name="Picture 4">
            <a:extLst>
              <a:ext uri="{FF2B5EF4-FFF2-40B4-BE49-F238E27FC236}">
                <a16:creationId xmlns:a16="http://schemas.microsoft.com/office/drawing/2014/main" id="{39915A7B-5A6F-9F3A-FED5-781F90AE9F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826"/>
          <a:stretch>
            <a:fillRect/>
          </a:stretch>
        </p:blipFill>
        <p:spPr bwMode="auto">
          <a:xfrm>
            <a:off x="3632533" y="4138096"/>
            <a:ext cx="4926933" cy="250127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0" descr="preencoded.png">
            <a:extLst>
              <a:ext uri="{FF2B5EF4-FFF2-40B4-BE49-F238E27FC236}">
                <a16:creationId xmlns:a16="http://schemas.microsoft.com/office/drawing/2014/main" id="{1AE1D3A7-D544-5C8C-4CD6-C5A3972E6A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7246" y="2111399"/>
            <a:ext cx="595049" cy="595049"/>
          </a:xfrm>
          <a:prstGeom prst="rect">
            <a:avLst/>
          </a:prstGeom>
        </p:spPr>
      </p:pic>
    </p:spTree>
    <p:extLst>
      <p:ext uri="{BB962C8B-B14F-4D97-AF65-F5344CB8AC3E}">
        <p14:creationId xmlns:p14="http://schemas.microsoft.com/office/powerpoint/2010/main" val="754900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548C8-C137-3DE1-A048-FC62F0BD0759}"/>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5CBBA07F-ADA6-66F3-ED3C-E083CC4BE50B}"/>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13016D8E-3886-2887-5633-AD0FABD8D9C6}"/>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07BBE7BD-8C7B-F4C8-7B2B-75334F85DAE9}"/>
              </a:ext>
            </a:extLst>
          </p:cNvPr>
          <p:cNvSpPr>
            <a:spLocks noGrp="1"/>
          </p:cNvSpPr>
          <p:nvPr>
            <p:ph type="title"/>
          </p:nvPr>
        </p:nvSpPr>
        <p:spPr/>
        <p:txBody>
          <a:bodyPr>
            <a:normAutofit/>
          </a:bodyPr>
          <a:lstStyle/>
          <a:p>
            <a:r>
              <a:rPr lang="ru-RU" sz="3600" dirty="0"/>
              <a:t>Типы признаков – 2</a:t>
            </a:r>
          </a:p>
        </p:txBody>
      </p:sp>
      <p:sp>
        <p:nvSpPr>
          <p:cNvPr id="6" name="Текст 5">
            <a:extLst>
              <a:ext uri="{FF2B5EF4-FFF2-40B4-BE49-F238E27FC236}">
                <a16:creationId xmlns:a16="http://schemas.microsoft.com/office/drawing/2014/main" id="{3E9A0253-E88D-C48B-B1D4-CCAEF4C13D72}"/>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E14A82BA-5FD9-5DC4-82EE-5142E94E744A}"/>
              </a:ext>
            </a:extLst>
          </p:cNvPr>
          <p:cNvSpPr txBox="1"/>
          <p:nvPr/>
        </p:nvSpPr>
        <p:spPr>
          <a:xfrm>
            <a:off x="1085721" y="2160483"/>
            <a:ext cx="5678616" cy="3785652"/>
          </a:xfrm>
          <a:prstGeom prst="rect">
            <a:avLst/>
          </a:prstGeom>
          <a:noFill/>
        </p:spPr>
        <p:txBody>
          <a:bodyPr wrap="square" rtlCol="0">
            <a:spAutoFit/>
          </a:bodyPr>
          <a:lstStyle/>
          <a:p>
            <a:pPr marL="342900" indent="-342900">
              <a:buFont typeface="Arial" panose="020B0604020202020204" pitchFamily="34" charset="0"/>
              <a:buChar char="•"/>
            </a:pPr>
            <a:r>
              <a:rPr lang="ru-RU" sz="2400" b="1" dirty="0"/>
              <a:t>Категориальные (</a:t>
            </a:r>
            <a:r>
              <a:rPr lang="ru-RU" sz="2400" b="1" dirty="0" err="1"/>
              <a:t>Categorical</a:t>
            </a:r>
            <a:r>
              <a:rPr lang="ru-RU" sz="2400" b="1" dirty="0"/>
              <a:t>):</a:t>
            </a:r>
            <a:r>
              <a:rPr lang="ru-RU" sz="2400" dirty="0"/>
              <a:t> Описывают принадлежность к группе.</a:t>
            </a:r>
          </a:p>
          <a:p>
            <a:pPr marL="800100" lvl="1" indent="-342900">
              <a:buFont typeface="Arial" panose="020B0604020202020204" pitchFamily="34" charset="0"/>
              <a:buChar char="•"/>
            </a:pPr>
            <a:r>
              <a:rPr lang="ru-RU" sz="2400" i="1" dirty="0"/>
              <a:t>Номинальные </a:t>
            </a:r>
            <a:r>
              <a:rPr lang="en-US" sz="2400" i="1" dirty="0"/>
              <a:t>(Nominal)</a:t>
            </a:r>
            <a:r>
              <a:rPr lang="ru-RU" sz="2400" i="1" dirty="0"/>
              <a:t>:</a:t>
            </a:r>
            <a:r>
              <a:rPr lang="ru-RU" sz="2400" dirty="0"/>
              <a:t> Группы не упорядочены</a:t>
            </a:r>
          </a:p>
          <a:p>
            <a:pPr marL="800100" lvl="1" indent="-342900">
              <a:buFont typeface="Arial" panose="020B0604020202020204" pitchFamily="34" charset="0"/>
              <a:buChar char="•"/>
            </a:pPr>
            <a:r>
              <a:rPr lang="ru-RU" sz="2400" i="1" dirty="0"/>
              <a:t>Порядковые </a:t>
            </a:r>
            <a:r>
              <a:rPr lang="en-US" sz="2400" i="1" dirty="0"/>
              <a:t>(Ordinal)</a:t>
            </a:r>
            <a:r>
              <a:rPr lang="ru-RU" sz="2400" i="1" dirty="0"/>
              <a:t>:</a:t>
            </a:r>
            <a:r>
              <a:rPr lang="ru-RU" sz="2400" dirty="0"/>
              <a:t> Группы можно упорядочить </a:t>
            </a:r>
          </a:p>
          <a:p>
            <a:pPr marL="800100" lvl="1" indent="-342900">
              <a:buFont typeface="Arial" panose="020B0604020202020204" pitchFamily="34" charset="0"/>
              <a:buChar char="•"/>
            </a:pPr>
            <a:r>
              <a:rPr lang="ru-RU" sz="2400" i="1" dirty="0"/>
              <a:t>Бинарные (</a:t>
            </a:r>
            <a:r>
              <a:rPr lang="ru-RU" sz="2400" i="1" dirty="0" err="1"/>
              <a:t>Binary</a:t>
            </a:r>
            <a:r>
              <a:rPr lang="ru-RU" sz="2400" i="1" dirty="0"/>
              <a:t>): </a:t>
            </a:r>
            <a:r>
              <a:rPr lang="ru-RU" sz="2400" dirty="0"/>
              <a:t>Частный случай категориальных, всего два варианта</a:t>
            </a:r>
          </a:p>
          <a:p>
            <a:pPr marL="342900" indent="-342900">
              <a:buFont typeface="Arial" panose="020B0604020202020204" pitchFamily="34" charset="0"/>
              <a:buChar char="•"/>
            </a:pPr>
            <a:endParaRPr lang="ru-RU" sz="2400" dirty="0"/>
          </a:p>
        </p:txBody>
      </p:sp>
      <p:pic>
        <p:nvPicPr>
          <p:cNvPr id="7170" name="Picture 2">
            <a:extLst>
              <a:ext uri="{FF2B5EF4-FFF2-40B4-BE49-F238E27FC236}">
                <a16:creationId xmlns:a16="http://schemas.microsoft.com/office/drawing/2014/main" id="{B4CE954A-97A2-23D9-D2B2-3CA94A0068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856" t="6304" r="18914" b="11263"/>
          <a:stretch>
            <a:fillRect/>
          </a:stretch>
        </p:blipFill>
        <p:spPr bwMode="auto">
          <a:xfrm>
            <a:off x="6818245" y="4053309"/>
            <a:ext cx="2121850" cy="2214795"/>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Группы крови и резус-фактор - Мост милосердия">
            <a:extLst>
              <a:ext uri="{FF2B5EF4-FFF2-40B4-BE49-F238E27FC236}">
                <a16:creationId xmlns:a16="http://schemas.microsoft.com/office/drawing/2014/main" id="{13C46569-6906-A05F-F142-73E37B28CF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5030" y="2154296"/>
            <a:ext cx="1608280" cy="154815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A01F9213-A55A-BB67-5109-8EFDF6F536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8015" y="4053309"/>
            <a:ext cx="2341428" cy="2214795"/>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427FBB72-84C2-AA25-1621-FFCE1715464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296" t="4019" r="7323" b="11942"/>
          <a:stretch>
            <a:fillRect/>
          </a:stretch>
        </p:blipFill>
        <p:spPr bwMode="auto">
          <a:xfrm>
            <a:off x="9304696" y="2154296"/>
            <a:ext cx="2314747" cy="1609039"/>
          </a:xfrm>
          <a:prstGeom prst="rect">
            <a:avLst/>
          </a:prstGeom>
          <a:noFill/>
          <a:extLst>
            <a:ext uri="{909E8E84-426E-40DD-AFC4-6F175D3DCCD1}">
              <a14:hiddenFill xmlns:a14="http://schemas.microsoft.com/office/drawing/2010/main">
                <a:solidFill>
                  <a:srgbClr val="FFFFFF"/>
                </a:solidFill>
              </a14:hiddenFill>
            </a:ext>
          </a:extLst>
        </p:spPr>
      </p:pic>
      <p:pic>
        <p:nvPicPr>
          <p:cNvPr id="8" name="Рисунок 7">
            <a:extLst>
              <a:ext uri="{FF2B5EF4-FFF2-40B4-BE49-F238E27FC236}">
                <a16:creationId xmlns:a16="http://schemas.microsoft.com/office/drawing/2014/main" id="{B50E54DA-42EB-121E-C4B6-E2B8BA9FAC71}"/>
              </a:ext>
            </a:extLst>
          </p:cNvPr>
          <p:cNvPicPr>
            <a:picLocks noChangeAspect="1"/>
          </p:cNvPicPr>
          <p:nvPr/>
        </p:nvPicPr>
        <p:blipFill>
          <a:blip r:embed="rId7"/>
          <a:stretch>
            <a:fillRect/>
          </a:stretch>
        </p:blipFill>
        <p:spPr>
          <a:xfrm>
            <a:off x="6818245" y="1248544"/>
            <a:ext cx="5047488" cy="622531"/>
          </a:xfrm>
          <a:prstGeom prst="rect">
            <a:avLst/>
          </a:prstGeom>
        </p:spPr>
      </p:pic>
      <p:pic>
        <p:nvPicPr>
          <p:cNvPr id="5" name="Image 1" descr="preencoded.png">
            <a:extLst>
              <a:ext uri="{FF2B5EF4-FFF2-40B4-BE49-F238E27FC236}">
                <a16:creationId xmlns:a16="http://schemas.microsoft.com/office/drawing/2014/main" id="{392AC3CD-E28B-4804-DC90-C3C43744209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92271" y="3013679"/>
            <a:ext cx="576072" cy="576072"/>
          </a:xfrm>
          <a:prstGeom prst="rect">
            <a:avLst/>
          </a:prstGeom>
        </p:spPr>
      </p:pic>
      <p:pic>
        <p:nvPicPr>
          <p:cNvPr id="9" name="Image 2" descr="preencoded.png">
            <a:extLst>
              <a:ext uri="{FF2B5EF4-FFF2-40B4-BE49-F238E27FC236}">
                <a16:creationId xmlns:a16="http://schemas.microsoft.com/office/drawing/2014/main" id="{7C2231ED-DDA5-650E-FF51-FF056E361D8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7341" y="4560197"/>
            <a:ext cx="607281" cy="607281"/>
          </a:xfrm>
          <a:prstGeom prst="rect">
            <a:avLst/>
          </a:prstGeom>
        </p:spPr>
      </p:pic>
      <p:pic>
        <p:nvPicPr>
          <p:cNvPr id="15" name="Рисунок 14">
            <a:extLst>
              <a:ext uri="{FF2B5EF4-FFF2-40B4-BE49-F238E27FC236}">
                <a16:creationId xmlns:a16="http://schemas.microsoft.com/office/drawing/2014/main" id="{521BD2A2-5ABC-EB50-28C4-ADE2B2F1BC56}"/>
              </a:ext>
            </a:extLst>
          </p:cNvPr>
          <p:cNvPicPr>
            <a:picLocks noChangeAspect="1"/>
          </p:cNvPicPr>
          <p:nvPr/>
        </p:nvPicPr>
        <p:blipFill>
          <a:blip r:embed="rId12"/>
          <a:stretch>
            <a:fillRect/>
          </a:stretch>
        </p:blipFill>
        <p:spPr>
          <a:xfrm>
            <a:off x="603174" y="3771333"/>
            <a:ext cx="754267" cy="607282"/>
          </a:xfrm>
          <a:prstGeom prst="rect">
            <a:avLst/>
          </a:prstGeom>
        </p:spPr>
      </p:pic>
    </p:spTree>
    <p:extLst>
      <p:ext uri="{BB962C8B-B14F-4D97-AF65-F5344CB8AC3E}">
        <p14:creationId xmlns:p14="http://schemas.microsoft.com/office/powerpoint/2010/main" val="394334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F8662-3E42-C044-DE95-D9E3DD068DF1}"/>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0ACC80C7-5514-1319-3079-6748958E0898}"/>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DC85354C-045D-9357-3A16-02BBF7EDF58C}"/>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1CCEC604-29A2-4FE8-5C13-F21ED056B31F}"/>
              </a:ext>
            </a:extLst>
          </p:cNvPr>
          <p:cNvSpPr>
            <a:spLocks noGrp="1"/>
          </p:cNvSpPr>
          <p:nvPr>
            <p:ph type="title"/>
          </p:nvPr>
        </p:nvSpPr>
        <p:spPr/>
        <p:txBody>
          <a:bodyPr>
            <a:normAutofit/>
          </a:bodyPr>
          <a:lstStyle/>
          <a:p>
            <a:r>
              <a:rPr lang="ru-RU" sz="3600" dirty="0"/>
              <a:t>Разведочный анализ данных (</a:t>
            </a:r>
            <a:r>
              <a:rPr lang="en-US" sz="3600" dirty="0"/>
              <a:t>EDA)</a:t>
            </a:r>
            <a:endParaRPr lang="ru-RU" sz="3600" dirty="0"/>
          </a:p>
        </p:txBody>
      </p:sp>
      <p:sp>
        <p:nvSpPr>
          <p:cNvPr id="6" name="Текст 5">
            <a:extLst>
              <a:ext uri="{FF2B5EF4-FFF2-40B4-BE49-F238E27FC236}">
                <a16:creationId xmlns:a16="http://schemas.microsoft.com/office/drawing/2014/main" id="{F18CEE14-3CD2-C77C-9E05-9AF646C0BFF5}"/>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8C7511DE-3B26-0EAF-6F69-FDC9D5CCE6BD}"/>
              </a:ext>
            </a:extLst>
          </p:cNvPr>
          <p:cNvSpPr txBox="1"/>
          <p:nvPr/>
        </p:nvSpPr>
        <p:spPr>
          <a:xfrm>
            <a:off x="722184" y="2154296"/>
            <a:ext cx="6144960" cy="4524315"/>
          </a:xfrm>
          <a:prstGeom prst="rect">
            <a:avLst/>
          </a:prstGeom>
          <a:noFill/>
        </p:spPr>
        <p:txBody>
          <a:bodyPr wrap="square" rtlCol="0">
            <a:spAutoFit/>
          </a:bodyPr>
          <a:lstStyle/>
          <a:p>
            <a:pPr marL="342900" indent="-342900">
              <a:buFont typeface="Arial" panose="020B0604020202020204" pitchFamily="34" charset="0"/>
              <a:buChar char="•"/>
            </a:pPr>
            <a:r>
              <a:rPr lang="ru-RU" sz="2400" b="1" dirty="0"/>
              <a:t>Разведочный анализ данных (</a:t>
            </a:r>
            <a:r>
              <a:rPr lang="ru-RU" sz="2400" b="1" dirty="0" err="1"/>
              <a:t>Exploratory</a:t>
            </a:r>
            <a:r>
              <a:rPr lang="ru-RU" sz="2400" b="1" dirty="0"/>
              <a:t> Data Analysis, EDA)</a:t>
            </a:r>
            <a:r>
              <a:rPr lang="ru-RU" sz="2400" dirty="0"/>
              <a:t> — это процесс первичного исследования данных с помощью визуализаций и описательных статистик</a:t>
            </a:r>
          </a:p>
          <a:p>
            <a:pPr marL="342900" indent="-342900">
              <a:buFont typeface="Arial" panose="020B0604020202020204" pitchFamily="34" charset="0"/>
              <a:buChar char="•"/>
            </a:pPr>
            <a:r>
              <a:rPr lang="ru-RU" sz="2400" b="1" dirty="0"/>
              <a:t>Цель:</a:t>
            </a:r>
            <a:r>
              <a:rPr lang="ru-RU" sz="2400" dirty="0"/>
              <a:t> Найти закономерности, аномалии, проверить гипотезы и предположения</a:t>
            </a:r>
          </a:p>
          <a:p>
            <a:pPr marL="342900" indent="-342900">
              <a:buFont typeface="Arial" panose="020B0604020202020204" pitchFamily="34" charset="0"/>
              <a:buChar char="•"/>
            </a:pPr>
            <a:r>
              <a:rPr lang="ru-RU" sz="2400" dirty="0"/>
              <a:t>Это не формальный процесс, а скорее детективное расследование. Мы задаем данным вопросы и ищем ответы на графиках</a:t>
            </a:r>
          </a:p>
          <a:p>
            <a:pPr marL="342900" indent="-342900">
              <a:buFont typeface="Arial" panose="020B0604020202020204" pitchFamily="34" charset="0"/>
              <a:buChar char="•"/>
            </a:pPr>
            <a:endParaRPr lang="ru-RU" sz="2400" dirty="0"/>
          </a:p>
        </p:txBody>
      </p:sp>
      <p:pic>
        <p:nvPicPr>
          <p:cNvPr id="7174" name="Picture 6">
            <a:extLst>
              <a:ext uri="{FF2B5EF4-FFF2-40B4-BE49-F238E27FC236}">
                <a16:creationId xmlns:a16="http://schemas.microsoft.com/office/drawing/2014/main" id="{DF08F370-C13E-88FB-958C-C89AD9CA21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933"/>
          <a:stretch>
            <a:fillRect/>
          </a:stretch>
        </p:blipFill>
        <p:spPr bwMode="auto">
          <a:xfrm>
            <a:off x="7553150" y="1581912"/>
            <a:ext cx="4226989" cy="4633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4322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BC242-7B8A-F35D-5E9C-D0FDFD132C0C}"/>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595C0CBE-F1C6-97DE-24D7-B337273982AA}"/>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905833EC-3A5D-801B-BFCA-11A2CBEA81CA}"/>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0DD46A09-0016-1321-87EE-C5F855AA8A51}"/>
              </a:ext>
            </a:extLst>
          </p:cNvPr>
          <p:cNvSpPr>
            <a:spLocks noGrp="1"/>
          </p:cNvSpPr>
          <p:nvPr>
            <p:ph type="title"/>
          </p:nvPr>
        </p:nvSpPr>
        <p:spPr/>
        <p:txBody>
          <a:bodyPr>
            <a:normAutofit/>
          </a:bodyPr>
          <a:lstStyle/>
          <a:p>
            <a:r>
              <a:rPr lang="en-US" sz="3600" dirty="0"/>
              <a:t>EDA: </a:t>
            </a:r>
            <a:r>
              <a:rPr lang="ru-RU" sz="3600" dirty="0"/>
              <a:t>Одномерный анализ</a:t>
            </a:r>
          </a:p>
        </p:txBody>
      </p:sp>
      <p:sp>
        <p:nvSpPr>
          <p:cNvPr id="6" name="Текст 5">
            <a:extLst>
              <a:ext uri="{FF2B5EF4-FFF2-40B4-BE49-F238E27FC236}">
                <a16:creationId xmlns:a16="http://schemas.microsoft.com/office/drawing/2014/main" id="{EBD531BF-1896-34C1-EB74-DC6CD802601F}"/>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1E71DC12-FB1B-55B0-116F-481A05DB8181}"/>
              </a:ext>
            </a:extLst>
          </p:cNvPr>
          <p:cNvSpPr txBox="1"/>
          <p:nvPr/>
        </p:nvSpPr>
        <p:spPr>
          <a:xfrm>
            <a:off x="667319" y="2224815"/>
            <a:ext cx="6858193" cy="3816429"/>
          </a:xfrm>
          <a:prstGeom prst="rect">
            <a:avLst/>
          </a:prstGeom>
          <a:noFill/>
        </p:spPr>
        <p:txBody>
          <a:bodyPr wrap="square" rtlCol="0">
            <a:spAutoFit/>
          </a:bodyPr>
          <a:lstStyle/>
          <a:p>
            <a:r>
              <a:rPr lang="ru-RU" sz="2200" dirty="0"/>
              <a:t>Изучаем каждый признак в отдельности</a:t>
            </a:r>
            <a:br>
              <a:rPr lang="ru-RU" sz="2200" dirty="0"/>
            </a:br>
            <a:endParaRPr lang="ru-RU" sz="2200" b="1" dirty="0"/>
          </a:p>
          <a:p>
            <a:pPr marL="342900" indent="-342900">
              <a:buFont typeface="Arial" panose="020B0604020202020204" pitchFamily="34" charset="0"/>
              <a:buChar char="•"/>
            </a:pPr>
            <a:r>
              <a:rPr lang="ru-RU" sz="2200" b="1" dirty="0"/>
              <a:t>Для числовых признаков:</a:t>
            </a:r>
            <a:r>
              <a:rPr lang="ru-RU" sz="2200" dirty="0"/>
              <a:t> Гистограмма. Показывает распределение значений</a:t>
            </a:r>
          </a:p>
          <a:p>
            <a:pPr marL="800100" lvl="1" indent="-342900">
              <a:buFont typeface="Arial" panose="020B0604020202020204" pitchFamily="34" charset="0"/>
              <a:buChar char="•"/>
            </a:pPr>
            <a:r>
              <a:rPr lang="ru-RU" sz="2200" i="1" dirty="0"/>
              <a:t>Вопросы:</a:t>
            </a:r>
            <a:r>
              <a:rPr lang="ru-RU" sz="2200" dirty="0"/>
              <a:t> Каков средний возраст пациентов? Есть ли несколько пиков (групп)? Распределение симметрично?</a:t>
            </a:r>
          </a:p>
          <a:p>
            <a:pPr marL="342900" indent="-342900">
              <a:buFont typeface="Arial" panose="020B0604020202020204" pitchFamily="34" charset="0"/>
              <a:buChar char="•"/>
            </a:pPr>
            <a:r>
              <a:rPr lang="ru-RU" sz="2200" b="1" dirty="0"/>
              <a:t>Для категориальных признаков:</a:t>
            </a:r>
            <a:r>
              <a:rPr lang="ru-RU" sz="2200" dirty="0"/>
              <a:t> Столбчатая диаграмма. Показывает частоту каждой категории</a:t>
            </a:r>
          </a:p>
          <a:p>
            <a:pPr marL="800100" lvl="1" indent="-342900">
              <a:buFont typeface="Arial" panose="020B0604020202020204" pitchFamily="34" charset="0"/>
              <a:buChar char="•"/>
            </a:pPr>
            <a:r>
              <a:rPr lang="ru-RU" sz="2200" i="1" dirty="0"/>
              <a:t>Вопросы:</a:t>
            </a:r>
            <a:r>
              <a:rPr lang="ru-RU" sz="2200" dirty="0"/>
              <a:t> Сколько мужчин и женщин в выборке? Какой диагноз встречается чаще всего?</a:t>
            </a:r>
          </a:p>
        </p:txBody>
      </p:sp>
      <p:pic>
        <p:nvPicPr>
          <p:cNvPr id="12292" name="Picture 4" descr="Creating Beautiful Histograms with Seaborn">
            <a:extLst>
              <a:ext uri="{FF2B5EF4-FFF2-40B4-BE49-F238E27FC236}">
                <a16:creationId xmlns:a16="http://schemas.microsoft.com/office/drawing/2014/main" id="{C8FE72B0-789E-83BC-1B80-E1C1F227E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8791" y="1202817"/>
            <a:ext cx="3638550" cy="2495550"/>
          </a:xfrm>
          <a:prstGeom prst="rect">
            <a:avLst/>
          </a:prstGeom>
          <a:noFill/>
          <a:extLst>
            <a:ext uri="{909E8E84-426E-40DD-AFC4-6F175D3DCCD1}">
              <a14:hiddenFill xmlns:a14="http://schemas.microsoft.com/office/drawing/2010/main">
                <a:solidFill>
                  <a:srgbClr val="FFFFFF"/>
                </a:solidFill>
              </a14:hiddenFill>
            </a:ext>
          </a:extLst>
        </p:spPr>
      </p:pic>
      <p:pic>
        <p:nvPicPr>
          <p:cNvPr id="12295" name="Picture 7" descr="a bar chart showing top artists of billboard 100">
            <a:extLst>
              <a:ext uri="{FF2B5EF4-FFF2-40B4-BE49-F238E27FC236}">
                <a16:creationId xmlns:a16="http://schemas.microsoft.com/office/drawing/2014/main" id="{5217AEAA-D761-493E-E758-1995CEAF2A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0137" y="3698367"/>
            <a:ext cx="3592579" cy="2694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835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9C4C2-2313-0B98-DFED-B65C5A241F3E}"/>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7D890ABA-3B39-C9FA-2F18-2B3B58DF7F1D}"/>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2555E8E9-79A3-5A41-6770-B7A848607E6A}"/>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392D0CB8-59F9-783F-7BC4-97672F36A064}"/>
              </a:ext>
            </a:extLst>
          </p:cNvPr>
          <p:cNvSpPr>
            <a:spLocks noGrp="1"/>
          </p:cNvSpPr>
          <p:nvPr>
            <p:ph type="title"/>
          </p:nvPr>
        </p:nvSpPr>
        <p:spPr>
          <a:xfrm>
            <a:off x="619126" y="1447790"/>
            <a:ext cx="11057955" cy="777025"/>
          </a:xfrm>
        </p:spPr>
        <p:txBody>
          <a:bodyPr>
            <a:normAutofit/>
          </a:bodyPr>
          <a:lstStyle/>
          <a:p>
            <a:r>
              <a:rPr lang="en-US" sz="3600" dirty="0"/>
              <a:t>EDA: </a:t>
            </a:r>
            <a:r>
              <a:rPr lang="ru-RU" sz="3600" dirty="0"/>
              <a:t>Двумерный анализ</a:t>
            </a:r>
          </a:p>
        </p:txBody>
      </p:sp>
      <p:sp>
        <p:nvSpPr>
          <p:cNvPr id="6" name="Текст 5">
            <a:extLst>
              <a:ext uri="{FF2B5EF4-FFF2-40B4-BE49-F238E27FC236}">
                <a16:creationId xmlns:a16="http://schemas.microsoft.com/office/drawing/2014/main" id="{65EA685D-5E64-A36A-58F6-A06B1A96BF07}"/>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1F17B184-8EBB-B1FF-F5CF-0A1031686D0A}"/>
              </a:ext>
            </a:extLst>
          </p:cNvPr>
          <p:cNvSpPr txBox="1"/>
          <p:nvPr/>
        </p:nvSpPr>
        <p:spPr>
          <a:xfrm>
            <a:off x="667319" y="2224815"/>
            <a:ext cx="6858193" cy="3754874"/>
          </a:xfrm>
          <a:prstGeom prst="rect">
            <a:avLst/>
          </a:prstGeom>
          <a:noFill/>
        </p:spPr>
        <p:txBody>
          <a:bodyPr wrap="square" rtlCol="0">
            <a:spAutoFit/>
          </a:bodyPr>
          <a:lstStyle/>
          <a:p>
            <a:r>
              <a:rPr lang="ru-RU" sz="2400" dirty="0"/>
              <a:t>Ищем связи между признаками</a:t>
            </a:r>
            <a:br>
              <a:rPr lang="ru-RU" sz="2200" dirty="0"/>
            </a:br>
            <a:endParaRPr lang="ru-RU" sz="2200" b="1" dirty="0"/>
          </a:p>
          <a:p>
            <a:pPr marL="342900" indent="-342900">
              <a:buFont typeface="Arial" panose="020B0604020202020204" pitchFamily="34" charset="0"/>
              <a:buChar char="•"/>
            </a:pPr>
            <a:r>
              <a:rPr lang="ru-RU" sz="2400" b="1" dirty="0"/>
              <a:t>Числовой </a:t>
            </a:r>
            <a:r>
              <a:rPr lang="ru-RU" sz="2400" b="1" dirty="0" err="1"/>
              <a:t>vs</a:t>
            </a:r>
            <a:r>
              <a:rPr lang="ru-RU" sz="2400" b="1" dirty="0"/>
              <a:t>. Числовой:</a:t>
            </a:r>
            <a:r>
              <a:rPr lang="ru-RU" sz="2400" dirty="0"/>
              <a:t> Диаграмма рассеяния (</a:t>
            </a:r>
            <a:r>
              <a:rPr lang="ru-RU" sz="2400" dirty="0" err="1"/>
              <a:t>Scatter</a:t>
            </a:r>
            <a:r>
              <a:rPr lang="ru-RU" sz="2400" dirty="0"/>
              <a:t> </a:t>
            </a:r>
            <a:r>
              <a:rPr lang="ru-RU" sz="2400" dirty="0" err="1"/>
              <a:t>Plot</a:t>
            </a:r>
            <a:r>
              <a:rPr lang="ru-RU" sz="2400" dirty="0"/>
              <a:t>).</a:t>
            </a:r>
          </a:p>
          <a:p>
            <a:pPr marL="800100" lvl="1" indent="-342900">
              <a:buFont typeface="Arial" panose="020B0604020202020204" pitchFamily="34" charset="0"/>
              <a:buChar char="•"/>
            </a:pPr>
            <a:r>
              <a:rPr lang="ru-RU" sz="2400" i="1" dirty="0"/>
              <a:t>Вопрос:</a:t>
            </a:r>
            <a:r>
              <a:rPr lang="ru-RU" sz="2400" dirty="0"/>
              <a:t> Есть ли связь между индексом массы тела (ИМТ) и уровнем холестерина</a:t>
            </a:r>
          </a:p>
          <a:p>
            <a:pPr marL="342900" indent="-342900">
              <a:buFont typeface="Arial" panose="020B0604020202020204" pitchFamily="34" charset="0"/>
              <a:buChar char="•"/>
            </a:pPr>
            <a:r>
              <a:rPr lang="ru-RU" sz="2400" b="1" dirty="0"/>
              <a:t>Числовой </a:t>
            </a:r>
            <a:r>
              <a:rPr lang="ru-RU" sz="2400" b="1" dirty="0" err="1"/>
              <a:t>vs</a:t>
            </a:r>
            <a:r>
              <a:rPr lang="ru-RU" sz="2400" b="1" dirty="0"/>
              <a:t>. Категориальный:</a:t>
            </a:r>
            <a:r>
              <a:rPr lang="ru-RU" sz="2400" dirty="0"/>
              <a:t> </a:t>
            </a:r>
            <a:r>
              <a:rPr lang="ru-RU" sz="2400" dirty="0" err="1"/>
              <a:t>Ящичковая</a:t>
            </a:r>
            <a:r>
              <a:rPr lang="ru-RU" sz="2400" dirty="0"/>
              <a:t> диаграмма (Box </a:t>
            </a:r>
            <a:r>
              <a:rPr lang="ru-RU" sz="2400" dirty="0" err="1"/>
              <a:t>Plot</a:t>
            </a:r>
            <a:r>
              <a:rPr lang="ru-RU" sz="2400" dirty="0"/>
              <a:t>).</a:t>
            </a:r>
          </a:p>
          <a:p>
            <a:pPr marL="800100" lvl="1" indent="-342900">
              <a:buFont typeface="Arial" panose="020B0604020202020204" pitchFamily="34" charset="0"/>
              <a:buChar char="•"/>
            </a:pPr>
            <a:r>
              <a:rPr lang="ru-RU" sz="2400" i="1" dirty="0"/>
              <a:t>Вопрос:</a:t>
            </a:r>
            <a:r>
              <a:rPr lang="ru-RU" sz="2400" dirty="0"/>
              <a:t> Отличается ли систолическое давление у курящих и некурящих?</a:t>
            </a:r>
          </a:p>
        </p:txBody>
      </p:sp>
      <p:pic>
        <p:nvPicPr>
          <p:cNvPr id="13314" name="Picture 2">
            <a:extLst>
              <a:ext uri="{FF2B5EF4-FFF2-40B4-BE49-F238E27FC236}">
                <a16:creationId xmlns:a16="http://schemas.microsoft.com/office/drawing/2014/main" id="{E4D997DC-5501-D014-6673-E8212E14E4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4648" y="969275"/>
            <a:ext cx="3013296" cy="2511080"/>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4" descr="A boxplot comparing fake earnings data between industries with styling using matplotlib’s rcParams">
            <a:extLst>
              <a:ext uri="{FF2B5EF4-FFF2-40B4-BE49-F238E27FC236}">
                <a16:creationId xmlns:a16="http://schemas.microsoft.com/office/drawing/2014/main" id="{14FA240F-B092-1362-A44F-B8C05CB610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6" descr="A boxplot comparing fake earnings data between industries with styling using matplotlib’s rcParams">
            <a:extLst>
              <a:ext uri="{FF2B5EF4-FFF2-40B4-BE49-F238E27FC236}">
                <a16:creationId xmlns:a16="http://schemas.microsoft.com/office/drawing/2014/main" id="{EC48977A-E4F5-5B72-E621-99BBC4FA760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8" descr="A boxplot comparing fake earnings data between industries with styling using matplotlib’s rcParams">
            <a:extLst>
              <a:ext uri="{FF2B5EF4-FFF2-40B4-BE49-F238E27FC236}">
                <a16:creationId xmlns:a16="http://schemas.microsoft.com/office/drawing/2014/main" id="{D846398B-3DE6-4D1E-41C4-B6EDF90F50FB}"/>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3326" name="Picture 14" descr="customizes_box_plot">
            <a:extLst>
              <a:ext uri="{FF2B5EF4-FFF2-40B4-BE49-F238E27FC236}">
                <a16:creationId xmlns:a16="http://schemas.microsoft.com/office/drawing/2014/main" id="{A7D51183-962F-E488-8AA3-1DE98EC43C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5834" y="3581400"/>
            <a:ext cx="4291247" cy="2954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9551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D3909-C832-B09D-B690-817CEF5B199E}"/>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CA2F3FE4-5E62-318F-2E57-47FEECEA48EF}"/>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98720023-344F-8FF4-C3BC-F1D81F50EA17}"/>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F260DA51-723A-A904-2C1D-57E622E51978}"/>
              </a:ext>
            </a:extLst>
          </p:cNvPr>
          <p:cNvSpPr>
            <a:spLocks noGrp="1"/>
          </p:cNvSpPr>
          <p:nvPr>
            <p:ph type="title"/>
          </p:nvPr>
        </p:nvSpPr>
        <p:spPr/>
        <p:txBody>
          <a:bodyPr>
            <a:normAutofit/>
          </a:bodyPr>
          <a:lstStyle/>
          <a:p>
            <a:r>
              <a:rPr lang="ru-RU" sz="3600" dirty="0"/>
              <a:t>Обучающая и тестовая выборки (</a:t>
            </a:r>
            <a:r>
              <a:rPr lang="en-US" sz="3600" dirty="0"/>
              <a:t>Train-test split)</a:t>
            </a:r>
            <a:endParaRPr lang="ru-RU" sz="3600" dirty="0"/>
          </a:p>
        </p:txBody>
      </p:sp>
      <p:sp>
        <p:nvSpPr>
          <p:cNvPr id="6" name="Текст 5">
            <a:extLst>
              <a:ext uri="{FF2B5EF4-FFF2-40B4-BE49-F238E27FC236}">
                <a16:creationId xmlns:a16="http://schemas.microsoft.com/office/drawing/2014/main" id="{3C6DB83F-83B1-05A8-DE85-DBC0DFD5B1ED}"/>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0CFA1F53-DEF2-A189-AC2E-C55AAC5B71DB}"/>
              </a:ext>
            </a:extLst>
          </p:cNvPr>
          <p:cNvSpPr>
            <a:spLocks noChangeArrowheads="1"/>
          </p:cNvSpPr>
          <p:nvPr/>
        </p:nvSpPr>
        <p:spPr bwMode="auto">
          <a:xfrm>
            <a:off x="585896" y="2114318"/>
            <a:ext cx="10441767" cy="4401205"/>
          </a:xfrm>
          <a:prstGeom prst="rect">
            <a:avLst/>
          </a:prstGeom>
          <a:noFill/>
        </p:spPr>
        <p:txBody>
          <a:bodyPr wrap="square" rtlCol="0">
            <a:spAutoFit/>
          </a:bodyPr>
          <a:lstStyle/>
          <a:p>
            <a:r>
              <a:rPr lang="ru-RU" sz="2000" b="1" dirty="0"/>
              <a:t>Проблема:</a:t>
            </a:r>
          </a:p>
          <a:p>
            <a:r>
              <a:rPr lang="ru-RU" sz="2000" dirty="0"/>
              <a:t>Модель идеально работает на обучающих данных, но плохо на новых (</a:t>
            </a:r>
            <a:r>
              <a:rPr lang="ru-RU" sz="2000" b="1" dirty="0"/>
              <a:t>переобучение</a:t>
            </a:r>
            <a:r>
              <a:rPr lang="ru-RU" sz="2000" dirty="0"/>
              <a:t>)</a:t>
            </a:r>
          </a:p>
          <a:p>
            <a:endParaRPr lang="ru-RU" sz="2000" b="1" dirty="0"/>
          </a:p>
          <a:p>
            <a:r>
              <a:rPr lang="ru-RU" sz="2000" b="1" dirty="0"/>
              <a:t>Зачем это нужно?</a:t>
            </a:r>
          </a:p>
          <a:p>
            <a:pPr marL="342900" indent="-342900">
              <a:buFont typeface="Arial" panose="020B0604020202020204" pitchFamily="34" charset="0"/>
              <a:buChar char="•"/>
            </a:pPr>
            <a:r>
              <a:rPr lang="ru-RU" sz="2000" dirty="0"/>
              <a:t>Оценить способность модели обобщать знания на новых, ранее не виденных данных</a:t>
            </a:r>
          </a:p>
          <a:p>
            <a:pPr marL="342900" indent="-342900">
              <a:buFont typeface="Arial" panose="020B0604020202020204" pitchFamily="34" charset="0"/>
              <a:buChar char="•"/>
            </a:pPr>
            <a:r>
              <a:rPr lang="ru-RU" sz="2000" dirty="0"/>
              <a:t>Если оценивать модель на тех же данных, на которых она обучалась, мы измерим не качество прогноза, а способность к запоминанию</a:t>
            </a:r>
          </a:p>
          <a:p>
            <a:endParaRPr lang="ru-RU" sz="2000" b="1" dirty="0"/>
          </a:p>
          <a:p>
            <a:r>
              <a:rPr lang="ru-RU" sz="2000" b="1" dirty="0"/>
              <a:t>Как это делается:</a:t>
            </a:r>
          </a:p>
          <a:p>
            <a:pPr marL="342900" indent="-342900">
              <a:buFont typeface="Arial" panose="020B0604020202020204" pitchFamily="34" charset="0"/>
              <a:buChar char="•"/>
            </a:pPr>
            <a:r>
              <a:rPr lang="ru-RU" sz="2000" dirty="0"/>
              <a:t>Разбиваем данные на </a:t>
            </a:r>
            <a:r>
              <a:rPr lang="en-US" sz="2000" b="1" dirty="0"/>
              <a:t>train/test </a:t>
            </a:r>
            <a:r>
              <a:rPr lang="en-US" sz="2000" dirty="0"/>
              <a:t>(80/20, 70/30)</a:t>
            </a:r>
          </a:p>
          <a:p>
            <a:pPr marL="342900" indent="-342900">
              <a:buFont typeface="Arial" panose="020B0604020202020204" pitchFamily="34" charset="0"/>
              <a:buChar char="•"/>
            </a:pPr>
            <a:r>
              <a:rPr lang="ru-RU" sz="2000" dirty="0"/>
              <a:t>На </a:t>
            </a:r>
            <a:r>
              <a:rPr lang="en-US" sz="2000" b="1" dirty="0"/>
              <a:t>train</a:t>
            </a:r>
            <a:r>
              <a:rPr lang="en-US" sz="2000" dirty="0"/>
              <a:t> </a:t>
            </a:r>
            <a:r>
              <a:rPr lang="ru-RU" sz="2000" dirty="0"/>
              <a:t>мы обучаем модель </a:t>
            </a:r>
          </a:p>
          <a:p>
            <a:pPr marL="342900" indent="-342900">
              <a:buFont typeface="Arial" panose="020B0604020202020204" pitchFamily="34" charset="0"/>
              <a:buChar char="•"/>
            </a:pPr>
            <a:r>
              <a:rPr lang="ru-RU" sz="2000" dirty="0"/>
              <a:t>На </a:t>
            </a:r>
            <a:r>
              <a:rPr lang="en-US" sz="2000" b="1" dirty="0"/>
              <a:t>test</a:t>
            </a:r>
            <a:r>
              <a:rPr lang="en-US" sz="2000" dirty="0"/>
              <a:t> </a:t>
            </a:r>
            <a:r>
              <a:rPr lang="ru-RU" sz="2000" dirty="0"/>
              <a:t>мы только тестируем качество. Модель</a:t>
            </a:r>
            <a:r>
              <a:rPr lang="en-US" sz="2000" dirty="0"/>
              <a:t> </a:t>
            </a:r>
            <a:r>
              <a:rPr lang="ru-RU" sz="2000" dirty="0"/>
              <a:t>никогда не использует данные </a:t>
            </a:r>
            <a:r>
              <a:rPr lang="en-US" sz="2000" b="1" dirty="0"/>
              <a:t>test</a:t>
            </a:r>
            <a:r>
              <a:rPr lang="ru-RU" sz="2000" dirty="0"/>
              <a:t> для обучения</a:t>
            </a:r>
          </a:p>
          <a:p>
            <a:endParaRPr lang="ru-RU" sz="2000" b="1" dirty="0"/>
          </a:p>
        </p:txBody>
      </p:sp>
      <p:sp>
        <p:nvSpPr>
          <p:cNvPr id="19" name="AutoShape 17">
            <a:extLst>
              <a:ext uri="{FF2B5EF4-FFF2-40B4-BE49-F238E27FC236}">
                <a16:creationId xmlns:a16="http://schemas.microsoft.com/office/drawing/2014/main" id="{4CE35DD5-8B10-12A1-1F09-61C7727357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2885707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3CAAD-87E7-38B5-2A9B-42E9F8FAFF2A}"/>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F8ADC84C-AB37-C178-A8A0-1029B6081EAE}"/>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1CCFFB4C-3183-9AC9-EF7E-7CC55BA7575B}"/>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16E71AD0-9A3B-E775-C767-DDB59D4B6B1C}"/>
              </a:ext>
            </a:extLst>
          </p:cNvPr>
          <p:cNvSpPr>
            <a:spLocks noGrp="1"/>
          </p:cNvSpPr>
          <p:nvPr>
            <p:ph type="title"/>
          </p:nvPr>
        </p:nvSpPr>
        <p:spPr>
          <a:xfrm>
            <a:off x="619126" y="1447790"/>
            <a:ext cx="11057955" cy="777025"/>
          </a:xfrm>
        </p:spPr>
        <p:txBody>
          <a:bodyPr>
            <a:normAutofit/>
          </a:bodyPr>
          <a:lstStyle/>
          <a:p>
            <a:r>
              <a:rPr lang="ru-RU" sz="3600" dirty="0"/>
              <a:t>Проблема №1: Пропуски в данных</a:t>
            </a:r>
          </a:p>
        </p:txBody>
      </p:sp>
      <p:sp>
        <p:nvSpPr>
          <p:cNvPr id="6" name="Текст 5">
            <a:extLst>
              <a:ext uri="{FF2B5EF4-FFF2-40B4-BE49-F238E27FC236}">
                <a16:creationId xmlns:a16="http://schemas.microsoft.com/office/drawing/2014/main" id="{CBF35483-5156-534E-D090-DCF5203B2AD3}"/>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E86C35A7-18F1-5D79-1B99-01A0B2CE3438}"/>
              </a:ext>
            </a:extLst>
          </p:cNvPr>
          <p:cNvSpPr txBox="1"/>
          <p:nvPr/>
        </p:nvSpPr>
        <p:spPr>
          <a:xfrm>
            <a:off x="514919" y="1964353"/>
            <a:ext cx="7641529" cy="4524315"/>
          </a:xfrm>
          <a:prstGeom prst="rect">
            <a:avLst/>
          </a:prstGeom>
          <a:noFill/>
        </p:spPr>
        <p:txBody>
          <a:bodyPr wrap="square" rtlCol="0">
            <a:spAutoFit/>
          </a:bodyPr>
          <a:lstStyle/>
          <a:p>
            <a:pPr marL="342900" indent="-342900">
              <a:buFont typeface="Arial" panose="020B0604020202020204" pitchFamily="34" charset="0"/>
              <a:buChar char="•"/>
            </a:pPr>
            <a:r>
              <a:rPr lang="ru-RU" sz="2400" b="1" dirty="0"/>
              <a:t>Почему возникают пропуски в медицине?</a:t>
            </a:r>
            <a:endParaRPr lang="ru-RU" sz="2400" dirty="0"/>
          </a:p>
          <a:p>
            <a:pPr marL="800100" lvl="1" indent="-342900">
              <a:buFont typeface="Arial" panose="020B0604020202020204" pitchFamily="34" charset="0"/>
              <a:buChar char="•"/>
            </a:pPr>
            <a:r>
              <a:rPr lang="ru-RU" sz="2400" dirty="0"/>
              <a:t>Тест не был назначен</a:t>
            </a:r>
          </a:p>
          <a:p>
            <a:pPr marL="800100" lvl="1" indent="-342900">
              <a:buFont typeface="Arial" panose="020B0604020202020204" pitchFamily="34" charset="0"/>
              <a:buChar char="•"/>
            </a:pPr>
            <a:r>
              <a:rPr lang="ru-RU" sz="2400" dirty="0"/>
              <a:t>Пациент не явился на обследование</a:t>
            </a:r>
          </a:p>
          <a:p>
            <a:pPr marL="800100" lvl="1" indent="-342900">
              <a:buFont typeface="Arial" panose="020B0604020202020204" pitchFamily="34" charset="0"/>
              <a:buChar char="•"/>
            </a:pPr>
            <a:r>
              <a:rPr lang="ru-RU" sz="2400" dirty="0"/>
              <a:t>Сбой оборудования или ошибка при вводе данных</a:t>
            </a:r>
          </a:p>
          <a:p>
            <a:pPr marL="342900" indent="-342900">
              <a:buFont typeface="Arial" panose="020B0604020202020204" pitchFamily="34" charset="0"/>
              <a:buChar char="•"/>
            </a:pPr>
            <a:r>
              <a:rPr lang="ru-RU" sz="2400" b="1" dirty="0"/>
              <a:t>Простые стратегии обработки:</a:t>
            </a:r>
            <a:endParaRPr lang="ru-RU" sz="2400" dirty="0"/>
          </a:p>
          <a:p>
            <a:pPr marL="800100" lvl="1" indent="-342900">
              <a:buFont typeface="Arial" panose="020B0604020202020204" pitchFamily="34" charset="0"/>
              <a:buChar char="•"/>
            </a:pPr>
            <a:r>
              <a:rPr lang="ru-RU" sz="2400" b="1" dirty="0"/>
              <a:t>Удаление:</a:t>
            </a:r>
            <a:r>
              <a:rPr lang="ru-RU" sz="2400" dirty="0"/>
              <a:t> Выбросить пациента (строку) или признак (столбец). </a:t>
            </a:r>
            <a:r>
              <a:rPr lang="ru-RU" sz="2400" i="1" dirty="0"/>
              <a:t>Риск: потеря ценной информации</a:t>
            </a:r>
            <a:endParaRPr lang="ru-RU" sz="2400" dirty="0"/>
          </a:p>
          <a:p>
            <a:pPr marL="800100" lvl="1" indent="-342900">
              <a:buFont typeface="Arial" panose="020B0604020202020204" pitchFamily="34" charset="0"/>
              <a:buChar char="•"/>
            </a:pPr>
            <a:r>
              <a:rPr lang="ru-RU" sz="2400" b="1" dirty="0" err="1"/>
              <a:t>Импутация</a:t>
            </a:r>
            <a:r>
              <a:rPr lang="ru-RU" sz="2400" b="1" dirty="0"/>
              <a:t> (заполнение):</a:t>
            </a:r>
            <a:r>
              <a:rPr lang="ru-RU" sz="2400" dirty="0"/>
              <a:t> Заменить пропуск средним или медианным значением по столбцу. </a:t>
            </a:r>
            <a:br>
              <a:rPr lang="ru-RU" sz="2400" i="1" dirty="0"/>
            </a:br>
            <a:r>
              <a:rPr lang="ru-RU" sz="2400" i="1" dirty="0"/>
              <a:t>Обязательно только на </a:t>
            </a:r>
            <a:r>
              <a:rPr lang="en-US" sz="2400" i="1" dirty="0"/>
              <a:t>train </a:t>
            </a:r>
            <a:r>
              <a:rPr lang="ru-RU" sz="2400" i="1" dirty="0" err="1"/>
              <a:t>датасете</a:t>
            </a:r>
            <a:endParaRPr lang="ru-RU" sz="2400" i="1" dirty="0"/>
          </a:p>
          <a:p>
            <a:pPr marL="800100" lvl="1" indent="-342900">
              <a:buFont typeface="Arial" panose="020B0604020202020204" pitchFamily="34" charset="0"/>
              <a:buChar char="•"/>
            </a:pPr>
            <a:r>
              <a:rPr lang="ru-RU" sz="2400" b="1" dirty="0"/>
              <a:t>Новая категория</a:t>
            </a:r>
            <a:r>
              <a:rPr lang="ru-RU" sz="2400" dirty="0"/>
              <a:t>: например, </a:t>
            </a:r>
            <a:r>
              <a:rPr lang="en-US" sz="2400" dirty="0"/>
              <a:t>Unknown</a:t>
            </a:r>
            <a:endParaRPr lang="ru-RU" sz="2400" dirty="0"/>
          </a:p>
        </p:txBody>
      </p:sp>
      <p:sp>
        <p:nvSpPr>
          <p:cNvPr id="5" name="AutoShape 4" descr="A boxplot comparing fake earnings data between industries with styling using matplotlib’s rcParams">
            <a:extLst>
              <a:ext uri="{FF2B5EF4-FFF2-40B4-BE49-F238E27FC236}">
                <a16:creationId xmlns:a16="http://schemas.microsoft.com/office/drawing/2014/main" id="{B44F15B1-DB70-F1CC-4FF3-F5CF3596139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6" descr="A boxplot comparing fake earnings data between industries with styling using matplotlib’s rcParams">
            <a:extLst>
              <a:ext uri="{FF2B5EF4-FFF2-40B4-BE49-F238E27FC236}">
                <a16:creationId xmlns:a16="http://schemas.microsoft.com/office/drawing/2014/main" id="{F57AF5F3-1B11-D08A-9A36-FA64B77EF2A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8" descr="A boxplot comparing fake earnings data between industries with styling using matplotlib’s rcParams">
            <a:extLst>
              <a:ext uri="{FF2B5EF4-FFF2-40B4-BE49-F238E27FC236}">
                <a16:creationId xmlns:a16="http://schemas.microsoft.com/office/drawing/2014/main" id="{9CF7B5E3-F661-9788-FC7F-18733E4E9C56}"/>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4338" name="Picture 2" descr="5+ Hundred Fill Gap Word Royalty-Free Images, Stock Photos &amp; Pictures |  Shutterstock">
            <a:extLst>
              <a:ext uri="{FF2B5EF4-FFF2-40B4-BE49-F238E27FC236}">
                <a16:creationId xmlns:a16="http://schemas.microsoft.com/office/drawing/2014/main" id="{E43A025E-7F08-F5F1-3A9C-1952EE0BFF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171"/>
          <a:stretch>
            <a:fillRect/>
          </a:stretch>
        </p:blipFill>
        <p:spPr bwMode="auto">
          <a:xfrm>
            <a:off x="8129004" y="2741378"/>
            <a:ext cx="3852877" cy="2144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9196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0514-B802-D29C-6E51-3518A21934D9}"/>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25630FC0-975E-6927-C5CB-C2A8CB196E41}"/>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357C73FF-A958-1FC7-4EA1-C0A93E2B17EC}"/>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1D76016D-9E37-32FF-EB90-B72C56F2068D}"/>
              </a:ext>
            </a:extLst>
          </p:cNvPr>
          <p:cNvSpPr>
            <a:spLocks noGrp="1"/>
          </p:cNvSpPr>
          <p:nvPr>
            <p:ph type="title"/>
          </p:nvPr>
        </p:nvSpPr>
        <p:spPr/>
        <p:txBody>
          <a:bodyPr>
            <a:normAutofit/>
          </a:bodyPr>
          <a:lstStyle/>
          <a:p>
            <a:r>
              <a:rPr lang="ru-RU" sz="3600" dirty="0"/>
              <a:t>Проблема №2: Выбросы (</a:t>
            </a:r>
            <a:r>
              <a:rPr lang="en-US" sz="3600" dirty="0"/>
              <a:t>Outliers)</a:t>
            </a:r>
            <a:endParaRPr lang="ru-RU" sz="3600" dirty="0"/>
          </a:p>
        </p:txBody>
      </p:sp>
      <p:sp>
        <p:nvSpPr>
          <p:cNvPr id="6" name="Текст 5">
            <a:extLst>
              <a:ext uri="{FF2B5EF4-FFF2-40B4-BE49-F238E27FC236}">
                <a16:creationId xmlns:a16="http://schemas.microsoft.com/office/drawing/2014/main" id="{1CE7DE41-BB89-FA6A-6CC2-2F6DDD1667A6}"/>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4536E866-A25B-97DD-9E92-D4992760BA7B}"/>
              </a:ext>
            </a:extLst>
          </p:cNvPr>
          <p:cNvSpPr txBox="1"/>
          <p:nvPr/>
        </p:nvSpPr>
        <p:spPr>
          <a:xfrm>
            <a:off x="722183" y="2162112"/>
            <a:ext cx="6269335" cy="4524315"/>
          </a:xfrm>
          <a:prstGeom prst="rect">
            <a:avLst/>
          </a:prstGeom>
          <a:noFill/>
        </p:spPr>
        <p:txBody>
          <a:bodyPr wrap="square" rtlCol="0">
            <a:spAutoFit/>
          </a:bodyPr>
          <a:lstStyle/>
          <a:p>
            <a:pPr marL="342900" indent="-342900">
              <a:buFont typeface="Arial" panose="020B0604020202020204" pitchFamily="34" charset="0"/>
              <a:buChar char="•"/>
            </a:pPr>
            <a:r>
              <a:rPr lang="ru-RU" sz="2400" b="1" dirty="0"/>
              <a:t>Выброс</a:t>
            </a:r>
            <a:r>
              <a:rPr lang="ru-RU" sz="2400" dirty="0"/>
              <a:t> — это наблюдение, которое сильно отличается от остальных</a:t>
            </a:r>
            <a:endParaRPr lang="en-US" sz="2400" dirty="0"/>
          </a:p>
          <a:p>
            <a:pPr marL="342900" indent="-342900">
              <a:buFont typeface="Arial" panose="020B0604020202020204" pitchFamily="34" charset="0"/>
              <a:buChar char="•"/>
            </a:pPr>
            <a:r>
              <a:rPr lang="ru-RU" sz="2400" b="1" dirty="0"/>
              <a:t>Две основные причины:</a:t>
            </a:r>
            <a:endParaRPr lang="ru-RU" sz="2400" dirty="0"/>
          </a:p>
          <a:p>
            <a:pPr marL="800100" lvl="1" indent="-342900">
              <a:buFont typeface="Arial" panose="020B0604020202020204" pitchFamily="34" charset="0"/>
              <a:buChar char="•"/>
            </a:pPr>
            <a:r>
              <a:rPr lang="ru-RU" sz="2400" b="1" dirty="0"/>
              <a:t>Ошибка:</a:t>
            </a:r>
            <a:r>
              <a:rPr lang="ru-RU" sz="2400" dirty="0"/>
              <a:t> Опечатка при вводе (возраст 200 лет, рост -15 см), сбой прибора</a:t>
            </a:r>
          </a:p>
          <a:p>
            <a:pPr marL="800100" lvl="1" indent="-342900">
              <a:buFont typeface="Arial" panose="020B0604020202020204" pitchFamily="34" charset="0"/>
              <a:buChar char="•"/>
            </a:pPr>
            <a:r>
              <a:rPr lang="ru-RU" sz="2400" b="1" dirty="0"/>
              <a:t>Истинная биологическая редкость:</a:t>
            </a:r>
            <a:r>
              <a:rPr lang="ru-RU" sz="2400" dirty="0"/>
              <a:t> Пациент с уникальной мутацией, экстремально высокий уровень экспрессии гена</a:t>
            </a:r>
          </a:p>
          <a:p>
            <a:pPr marL="342900" indent="-342900">
              <a:buFont typeface="Arial" panose="020B0604020202020204" pitchFamily="34" charset="0"/>
              <a:buChar char="•"/>
            </a:pPr>
            <a:r>
              <a:rPr lang="ru-RU" sz="2400" b="1" dirty="0"/>
              <a:t>Как обнаружить?</a:t>
            </a:r>
            <a:r>
              <a:rPr lang="ru-RU" sz="2400" dirty="0"/>
              <a:t> </a:t>
            </a:r>
            <a:r>
              <a:rPr lang="en-US" sz="2400" dirty="0"/>
              <a:t>Box plot, </a:t>
            </a:r>
            <a:r>
              <a:rPr lang="ru-RU" sz="2400" dirty="0"/>
              <a:t>гистограммы</a:t>
            </a:r>
          </a:p>
          <a:p>
            <a:pPr marL="342900" indent="-342900">
              <a:buFont typeface="Arial" panose="020B0604020202020204" pitchFamily="34" charset="0"/>
              <a:buChar char="•"/>
            </a:pPr>
            <a:r>
              <a:rPr lang="ru-RU" sz="2400" b="1" dirty="0"/>
              <a:t>Что делать? </a:t>
            </a:r>
            <a:r>
              <a:rPr lang="ru-RU" sz="2400" dirty="0"/>
              <a:t>Зависит от количества данных, задачи и применяемых алгоритмов</a:t>
            </a:r>
            <a:endParaRPr lang="ru-RU" sz="2400" b="1" dirty="0"/>
          </a:p>
        </p:txBody>
      </p:sp>
      <p:pic>
        <p:nvPicPr>
          <p:cNvPr id="11266" name="Picture 2" descr="Обнаружение и обработка выбросов">
            <a:extLst>
              <a:ext uri="{FF2B5EF4-FFF2-40B4-BE49-F238E27FC236}">
                <a16:creationId xmlns:a16="http://schemas.microsoft.com/office/drawing/2014/main" id="{852DDD95-2244-0164-6EBA-2BF9CF1855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298"/>
          <a:stretch>
            <a:fillRect/>
          </a:stretch>
        </p:blipFill>
        <p:spPr bwMode="auto">
          <a:xfrm>
            <a:off x="6800334" y="2781881"/>
            <a:ext cx="5111496" cy="2521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5865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425E5-4F67-7698-17A9-7D1C572D65EC}"/>
            </a:ext>
          </a:extLst>
        </p:cNvPr>
        <p:cNvGrpSpPr/>
        <p:nvPr/>
      </p:nvGrpSpPr>
      <p:grpSpPr>
        <a:xfrm>
          <a:off x="0" y="0"/>
          <a:ext cx="0" cy="0"/>
          <a:chOff x="0" y="0"/>
          <a:chExt cx="0" cy="0"/>
        </a:xfrm>
      </p:grpSpPr>
      <p:sp>
        <p:nvSpPr>
          <p:cNvPr id="23" name="TextBox 22">
            <a:extLst>
              <a:ext uri="{FF2B5EF4-FFF2-40B4-BE49-F238E27FC236}">
                <a16:creationId xmlns:a16="http://schemas.microsoft.com/office/drawing/2014/main" id="{6B8887D2-1786-2942-3532-795EE9F3BFA9}"/>
              </a:ext>
            </a:extLst>
          </p:cNvPr>
          <p:cNvSpPr txBox="1"/>
          <p:nvPr/>
        </p:nvSpPr>
        <p:spPr>
          <a:xfrm>
            <a:off x="119983" y="3942812"/>
            <a:ext cx="11647234" cy="1938992"/>
          </a:xfrm>
          <a:prstGeom prst="rect">
            <a:avLst/>
          </a:prstGeom>
          <a:noFill/>
        </p:spPr>
        <p:txBody>
          <a:bodyPr wrap="square" numCol="2">
            <a:spAutoFit/>
          </a:bodyPr>
          <a:lstStyle/>
          <a:p>
            <a:pPr marL="800100" lvl="1" indent="-342900">
              <a:buFont typeface="Arial" panose="020B0604020202020204" pitchFamily="34" charset="0"/>
              <a:buChar char="•"/>
            </a:pPr>
            <a:r>
              <a:rPr lang="ru-RU" altLang="ru-RU" sz="2000" i="1" dirty="0"/>
              <a:t>Стандартизация (</a:t>
            </a:r>
            <a:r>
              <a:rPr lang="en-US" altLang="ru-RU" sz="2000" i="1" dirty="0"/>
              <a:t>Standard Scaler</a:t>
            </a:r>
            <a:r>
              <a:rPr lang="ru-RU" altLang="ru-RU" sz="2000" i="1" dirty="0"/>
              <a:t>): </a:t>
            </a:r>
            <a:r>
              <a:rPr lang="ru-RU" altLang="ru-RU" sz="2000" dirty="0"/>
              <a:t>Преобразование данных так, чтобы среднее было 0, а стандартное отклонение 1</a:t>
            </a:r>
          </a:p>
          <a:p>
            <a:pPr marL="800100" lvl="1" indent="-342900">
              <a:buFont typeface="Arial" panose="020B0604020202020204" pitchFamily="34" charset="0"/>
              <a:buChar char="•"/>
            </a:pPr>
            <a:endParaRPr lang="ru-RU" altLang="ru-RU" sz="2000" i="1" dirty="0"/>
          </a:p>
          <a:p>
            <a:pPr marL="800100" lvl="1" indent="-342900">
              <a:buFont typeface="Arial" panose="020B0604020202020204" pitchFamily="34" charset="0"/>
              <a:buChar char="•"/>
            </a:pPr>
            <a:endParaRPr lang="ru-RU" altLang="ru-RU" sz="2000" i="1" dirty="0"/>
          </a:p>
          <a:p>
            <a:pPr marL="800100" lvl="1" indent="-342900">
              <a:buFont typeface="Arial" panose="020B0604020202020204" pitchFamily="34" charset="0"/>
              <a:buChar char="•"/>
            </a:pPr>
            <a:endParaRPr lang="ru-RU" altLang="ru-RU" sz="2000" i="1" dirty="0"/>
          </a:p>
          <a:p>
            <a:pPr marL="800100" lvl="1" indent="-342900">
              <a:buFont typeface="Arial" panose="020B0604020202020204" pitchFamily="34" charset="0"/>
              <a:buChar char="•"/>
            </a:pPr>
            <a:r>
              <a:rPr lang="ru-RU" altLang="ru-RU" sz="2000" i="1" dirty="0"/>
              <a:t>Нормализация (</a:t>
            </a:r>
            <a:r>
              <a:rPr lang="ru-RU" altLang="ru-RU" sz="2000" i="1" dirty="0" err="1"/>
              <a:t>Min</a:t>
            </a:r>
            <a:r>
              <a:rPr lang="ru-RU" altLang="ru-RU" sz="2000" i="1" dirty="0"/>
              <a:t>-Max </a:t>
            </a:r>
            <a:r>
              <a:rPr lang="ru-RU" altLang="ru-RU" sz="2000" i="1" dirty="0" err="1"/>
              <a:t>Scaling</a:t>
            </a:r>
            <a:r>
              <a:rPr lang="ru-RU" altLang="ru-RU" sz="2000" i="1" dirty="0"/>
              <a:t>): </a:t>
            </a:r>
            <a:r>
              <a:rPr lang="ru-RU" altLang="ru-RU" sz="2000" dirty="0"/>
              <a:t>Приведение всех значений к диапазону </a:t>
            </a:r>
            <a:r>
              <a:rPr lang="en-US" altLang="ru-RU" sz="2000" dirty="0"/>
              <a:t>[0, 1]</a:t>
            </a:r>
            <a:endParaRPr lang="ru-RU" altLang="ru-RU" sz="2000" dirty="0"/>
          </a:p>
          <a:p>
            <a:pPr lvl="1"/>
            <a:br>
              <a:rPr lang="en-US" altLang="ru-RU" sz="2000" i="1" dirty="0"/>
            </a:br>
            <a:br>
              <a:rPr lang="en-US" altLang="ru-RU" sz="2000" i="1" dirty="0"/>
            </a:br>
            <a:br>
              <a:rPr lang="en-US" altLang="ru-RU" sz="2000" i="1" dirty="0"/>
            </a:br>
            <a:endParaRPr lang="en-US" altLang="ru-RU" sz="2000" i="1" dirty="0"/>
          </a:p>
        </p:txBody>
      </p:sp>
      <p:sp>
        <p:nvSpPr>
          <p:cNvPr id="2" name="Текст 1">
            <a:extLst>
              <a:ext uri="{FF2B5EF4-FFF2-40B4-BE49-F238E27FC236}">
                <a16:creationId xmlns:a16="http://schemas.microsoft.com/office/drawing/2014/main" id="{2457E650-19C8-93B1-E1F1-B3BF61DF4949}"/>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C4664839-D88D-5115-49A2-E1E9ACFCE016}"/>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98F6CF6E-3B53-F0FC-68C0-B302374B1DB3}"/>
              </a:ext>
            </a:extLst>
          </p:cNvPr>
          <p:cNvSpPr>
            <a:spLocks noGrp="1"/>
          </p:cNvSpPr>
          <p:nvPr>
            <p:ph type="title"/>
          </p:nvPr>
        </p:nvSpPr>
        <p:spPr/>
        <p:txBody>
          <a:bodyPr>
            <a:normAutofit/>
          </a:bodyPr>
          <a:lstStyle/>
          <a:p>
            <a:r>
              <a:rPr lang="ru-RU" sz="3600" dirty="0"/>
              <a:t>Проблема №3: Разный масштаб признаков</a:t>
            </a:r>
          </a:p>
        </p:txBody>
      </p:sp>
      <p:sp>
        <p:nvSpPr>
          <p:cNvPr id="6" name="Текст 5">
            <a:extLst>
              <a:ext uri="{FF2B5EF4-FFF2-40B4-BE49-F238E27FC236}">
                <a16:creationId xmlns:a16="http://schemas.microsoft.com/office/drawing/2014/main" id="{5CBC170F-4DD8-DF15-0798-C09EC530CC58}"/>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B0242FF6-96AF-0B32-5604-F01EF4F83D49}"/>
              </a:ext>
            </a:extLst>
          </p:cNvPr>
          <p:cNvSpPr>
            <a:spLocks noChangeArrowheads="1"/>
          </p:cNvSpPr>
          <p:nvPr/>
        </p:nvSpPr>
        <p:spPr bwMode="auto">
          <a:xfrm>
            <a:off x="585896" y="2114318"/>
            <a:ext cx="11057955" cy="1938992"/>
          </a:xfrm>
          <a:prstGeom prst="rect">
            <a:avLst/>
          </a:prstGeom>
          <a:noFill/>
        </p:spPr>
        <p:txBody>
          <a:bodyPr wrap="square" rtlCol="0">
            <a:spAutoFit/>
          </a:bodyPr>
          <a:lstStyle/>
          <a:p>
            <a:r>
              <a:rPr lang="ru-RU" altLang="ru-RU" sz="2000" dirty="0"/>
              <a:t>Алгоритмы, основанные на «</a:t>
            </a:r>
            <a:r>
              <a:rPr lang="ru-RU" altLang="ru-RU" sz="2000" b="1" dirty="0"/>
              <a:t>взвешивании</a:t>
            </a:r>
            <a:r>
              <a:rPr lang="ru-RU" altLang="ru-RU" sz="2000" dirty="0"/>
              <a:t>» признаков, будут считать, что изменения в экспрессии гена гораздо </a:t>
            </a:r>
            <a:r>
              <a:rPr lang="ru-RU" altLang="ru-RU" sz="2000" b="1" dirty="0"/>
              <a:t>«важнее» </a:t>
            </a:r>
            <a:r>
              <a:rPr lang="ru-RU" altLang="ru-RU" sz="2000" dirty="0"/>
              <a:t>изменений в возрасте, просто из-за разницы в масштабах.</a:t>
            </a:r>
          </a:p>
          <a:p>
            <a:pPr marL="342900" indent="-342900">
              <a:buFont typeface="Arial" panose="020B0604020202020204" pitchFamily="34" charset="0"/>
              <a:buChar char="•"/>
            </a:pPr>
            <a:r>
              <a:rPr lang="ru-RU" altLang="ru-RU" sz="2000" i="1" dirty="0"/>
              <a:t>Возраст:</a:t>
            </a:r>
            <a:r>
              <a:rPr lang="ru-RU" altLang="ru-RU" sz="2000" b="1" dirty="0"/>
              <a:t> </a:t>
            </a:r>
            <a:r>
              <a:rPr lang="ru-RU" altLang="ru-RU" sz="2000" dirty="0"/>
              <a:t>от 20 до 80.</a:t>
            </a:r>
          </a:p>
          <a:p>
            <a:pPr marL="342900" indent="-342900">
              <a:buFont typeface="Arial" panose="020B0604020202020204" pitchFamily="34" charset="0"/>
              <a:buChar char="•"/>
            </a:pPr>
            <a:r>
              <a:rPr lang="ru-RU" altLang="ru-RU" sz="2000" i="1" dirty="0"/>
              <a:t>Экспрессия гена: </a:t>
            </a:r>
            <a:r>
              <a:rPr lang="ru-RU" altLang="ru-RU" sz="2000" dirty="0"/>
              <a:t>от 500 до 15000.</a:t>
            </a:r>
            <a:r>
              <a:rPr lang="ru-RU" altLang="ru-RU" sz="2000" b="1" dirty="0"/>
              <a:t> </a:t>
            </a:r>
            <a:endParaRPr lang="en-US" altLang="ru-RU" sz="2000" b="1" dirty="0"/>
          </a:p>
          <a:p>
            <a:r>
              <a:rPr lang="ru-RU" altLang="ru-RU" sz="2000" b="1" dirty="0"/>
              <a:t>Решение: </a:t>
            </a:r>
            <a:r>
              <a:rPr lang="ru-RU" altLang="ru-RU" sz="2000" dirty="0"/>
              <a:t>Трансформация данных.</a:t>
            </a:r>
          </a:p>
          <a:p>
            <a:pPr marL="800100" lvl="1" indent="-342900">
              <a:buFont typeface="Arial" panose="020B0604020202020204" pitchFamily="34" charset="0"/>
              <a:buChar char="•"/>
            </a:pPr>
            <a:endParaRPr lang="en-US" altLang="ru-RU" sz="2000" dirty="0"/>
          </a:p>
        </p:txBody>
      </p:sp>
      <p:pic>
        <p:nvPicPr>
          <p:cNvPr id="15373" name="Picture 13" descr="Min-Max scaling">
            <a:extLst>
              <a:ext uri="{FF2B5EF4-FFF2-40B4-BE49-F238E27FC236}">
                <a16:creationId xmlns:a16="http://schemas.microsoft.com/office/drawing/2014/main" id="{FCE9CF18-CC07-29AF-AD6E-3E4A8AA0D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4942" y="4912308"/>
            <a:ext cx="3848100" cy="1190625"/>
          </a:xfrm>
          <a:prstGeom prst="rect">
            <a:avLst/>
          </a:prstGeom>
          <a:noFill/>
          <a:extLst>
            <a:ext uri="{909E8E84-426E-40DD-AFC4-6F175D3DCCD1}">
              <a14:hiddenFill xmlns:a14="http://schemas.microsoft.com/office/drawing/2010/main">
                <a:solidFill>
                  <a:srgbClr val="FFFFFF"/>
                </a:solidFill>
              </a14:hiddenFill>
            </a:ext>
          </a:extLst>
        </p:spPr>
      </p:pic>
      <p:sp>
        <p:nvSpPr>
          <p:cNvPr id="19" name="AutoShape 17">
            <a:extLst>
              <a:ext uri="{FF2B5EF4-FFF2-40B4-BE49-F238E27FC236}">
                <a16:creationId xmlns:a16="http://schemas.microsoft.com/office/drawing/2014/main" id="{4CDC1FA1-ADFC-623E-EBB7-DC262CC361A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21" name="Рисунок 20">
            <a:extLst>
              <a:ext uri="{FF2B5EF4-FFF2-40B4-BE49-F238E27FC236}">
                <a16:creationId xmlns:a16="http://schemas.microsoft.com/office/drawing/2014/main" id="{2B2F42D0-A393-0750-4FEA-3842348AF88C}"/>
              </a:ext>
            </a:extLst>
          </p:cNvPr>
          <p:cNvPicPr>
            <a:picLocks noChangeAspect="1"/>
          </p:cNvPicPr>
          <p:nvPr/>
        </p:nvPicPr>
        <p:blipFill>
          <a:blip r:embed="rId4"/>
          <a:stretch>
            <a:fillRect/>
          </a:stretch>
        </p:blipFill>
        <p:spPr>
          <a:xfrm>
            <a:off x="2000524" y="4881666"/>
            <a:ext cx="2493689" cy="1779281"/>
          </a:xfrm>
          <a:prstGeom prst="rect">
            <a:avLst/>
          </a:prstGeom>
        </p:spPr>
      </p:pic>
    </p:spTree>
    <p:extLst>
      <p:ext uri="{BB962C8B-B14F-4D97-AF65-F5344CB8AC3E}">
        <p14:creationId xmlns:p14="http://schemas.microsoft.com/office/powerpoint/2010/main" val="3942858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0347F-C8B9-DA49-C940-3165E851DFBB}"/>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08F28FEE-91A9-3AFC-C20F-9E30872DB7B9}"/>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B5C0B81A-2D87-F4D9-2DE5-F7DDD0A3A5CF}"/>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EE19127F-0A9B-D458-2649-17A1511854A6}"/>
              </a:ext>
            </a:extLst>
          </p:cNvPr>
          <p:cNvSpPr>
            <a:spLocks noGrp="1"/>
          </p:cNvSpPr>
          <p:nvPr>
            <p:ph type="title"/>
          </p:nvPr>
        </p:nvSpPr>
        <p:spPr/>
        <p:txBody>
          <a:bodyPr>
            <a:normAutofit/>
          </a:bodyPr>
          <a:lstStyle/>
          <a:p>
            <a:r>
              <a:rPr lang="ru-RU" sz="3600" dirty="0"/>
              <a:t>Проблема №</a:t>
            </a:r>
            <a:r>
              <a:rPr lang="en-US" sz="3600" dirty="0"/>
              <a:t>4</a:t>
            </a:r>
            <a:r>
              <a:rPr lang="ru-RU" sz="3600" dirty="0"/>
              <a:t>: Мусорные данные</a:t>
            </a:r>
          </a:p>
        </p:txBody>
      </p:sp>
      <p:sp>
        <p:nvSpPr>
          <p:cNvPr id="6" name="Текст 5">
            <a:extLst>
              <a:ext uri="{FF2B5EF4-FFF2-40B4-BE49-F238E27FC236}">
                <a16:creationId xmlns:a16="http://schemas.microsoft.com/office/drawing/2014/main" id="{85D88187-3705-1CF5-65F1-1AE28C7E58A9}"/>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AC9435E3-F284-ED27-FEC9-EADAC4FB62C4}"/>
              </a:ext>
            </a:extLst>
          </p:cNvPr>
          <p:cNvSpPr>
            <a:spLocks noChangeArrowheads="1"/>
          </p:cNvSpPr>
          <p:nvPr/>
        </p:nvSpPr>
        <p:spPr bwMode="auto">
          <a:xfrm>
            <a:off x="585897" y="2114318"/>
            <a:ext cx="5988640" cy="4154984"/>
          </a:xfrm>
          <a:prstGeom prst="rect">
            <a:avLst/>
          </a:prstGeom>
          <a:noFill/>
        </p:spPr>
        <p:txBody>
          <a:bodyPr wrap="square" rtlCol="0">
            <a:spAutoFit/>
          </a:bodyPr>
          <a:lstStyle/>
          <a:p>
            <a:r>
              <a:rPr lang="ru-RU" sz="2400" b="1" dirty="0"/>
              <a:t>Избавление от лишних признаков:</a:t>
            </a:r>
            <a:r>
              <a:rPr lang="ru-RU" sz="2400" dirty="0"/>
              <a:t> </a:t>
            </a:r>
          </a:p>
          <a:p>
            <a:pPr marL="342900" indent="-342900">
              <a:buFont typeface="Arial" panose="020B0604020202020204" pitchFamily="34" charset="0"/>
              <a:buChar char="•"/>
            </a:pPr>
            <a:r>
              <a:rPr lang="ru-RU" sz="2400" dirty="0"/>
              <a:t>Если какие-то столбцы не информативны или дублируют другие, их лучше убрать. Например, идентификатор пациента никак не поможет предсказать диагноз, но если его оставить, модель может случайно запомнить конкретные ID, что может породить лишние галлюцинации</a:t>
            </a:r>
          </a:p>
          <a:p>
            <a:pPr marL="342900" indent="-342900">
              <a:buFont typeface="Arial" panose="020B0604020202020204" pitchFamily="34" charset="0"/>
              <a:buChar char="•"/>
            </a:pPr>
            <a:r>
              <a:rPr lang="ru-RU" sz="2400" dirty="0"/>
              <a:t>Также можно убрать признаки, в которых слишком много пропусков (скажем, 90% пусто – толку мало, только шум)</a:t>
            </a:r>
            <a:endParaRPr lang="en-US" altLang="ru-RU" sz="2400" dirty="0"/>
          </a:p>
        </p:txBody>
      </p:sp>
      <p:sp>
        <p:nvSpPr>
          <p:cNvPr id="19" name="AutoShape 17">
            <a:extLst>
              <a:ext uri="{FF2B5EF4-FFF2-40B4-BE49-F238E27FC236}">
                <a16:creationId xmlns:a16="http://schemas.microsoft.com/office/drawing/2014/main" id="{D81AE5EA-A4F8-2AE6-7523-851BED7A225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4098" name="Picture 2" descr="5,000+ Trash Can Cartoon Stock Illustrations, Royalty-Free Vector Graphics  &amp; Clip Art - iStock">
            <a:extLst>
              <a:ext uri="{FF2B5EF4-FFF2-40B4-BE49-F238E27FC236}">
                <a16:creationId xmlns:a16="http://schemas.microsoft.com/office/drawing/2014/main" id="{9CAB42AB-B92C-9F08-934B-BC9DE97D37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554" y="1836302"/>
            <a:ext cx="4331970" cy="4331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325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EF560-FFBF-8327-A827-CB0B13EEF3E5}"/>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9BBF2AB1-FF85-D1DA-446C-C0B2FCE7DCD3}"/>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C212005B-307E-D9BA-7710-0BCCE8879F1E}"/>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A27B9364-0AD4-8E8F-FFDE-5BACF3622369}"/>
              </a:ext>
            </a:extLst>
          </p:cNvPr>
          <p:cNvSpPr>
            <a:spLocks noGrp="1"/>
          </p:cNvSpPr>
          <p:nvPr>
            <p:ph type="title"/>
          </p:nvPr>
        </p:nvSpPr>
        <p:spPr/>
        <p:txBody>
          <a:bodyPr>
            <a:normAutofit/>
          </a:bodyPr>
          <a:lstStyle/>
          <a:p>
            <a:r>
              <a:rPr lang="ru-RU" sz="3600" dirty="0"/>
              <a:t>Проблема №5: Смещенные (</a:t>
            </a:r>
            <a:r>
              <a:rPr lang="en-US" sz="3600" dirty="0"/>
              <a:t>biased)</a:t>
            </a:r>
            <a:r>
              <a:rPr lang="ru-RU" sz="3600" dirty="0"/>
              <a:t> данные</a:t>
            </a:r>
          </a:p>
        </p:txBody>
      </p:sp>
      <p:sp>
        <p:nvSpPr>
          <p:cNvPr id="6" name="Текст 5">
            <a:extLst>
              <a:ext uri="{FF2B5EF4-FFF2-40B4-BE49-F238E27FC236}">
                <a16:creationId xmlns:a16="http://schemas.microsoft.com/office/drawing/2014/main" id="{73C030EF-5BF0-A1EE-0110-6EE1FE08849A}"/>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18E08939-2607-73F5-1C57-008AC7BD9F1E}"/>
              </a:ext>
            </a:extLst>
          </p:cNvPr>
          <p:cNvSpPr>
            <a:spLocks noChangeArrowheads="1"/>
          </p:cNvSpPr>
          <p:nvPr/>
        </p:nvSpPr>
        <p:spPr bwMode="auto">
          <a:xfrm>
            <a:off x="585896" y="2114318"/>
            <a:ext cx="10670367" cy="4401205"/>
          </a:xfrm>
          <a:prstGeom prst="rect">
            <a:avLst/>
          </a:prstGeom>
          <a:noFill/>
        </p:spPr>
        <p:txBody>
          <a:bodyPr wrap="square" rtlCol="0">
            <a:spAutoFit/>
          </a:bodyPr>
          <a:lstStyle/>
          <a:p>
            <a:r>
              <a:rPr lang="ru-RU" sz="2000" b="1" dirty="0"/>
              <a:t>IBM </a:t>
            </a:r>
            <a:r>
              <a:rPr lang="ru-RU" sz="2000" b="1" dirty="0" err="1"/>
              <a:t>Watson</a:t>
            </a:r>
            <a:r>
              <a:rPr lang="ru-RU" sz="2000" b="1" dirty="0"/>
              <a:t> </a:t>
            </a:r>
            <a:r>
              <a:rPr lang="ru-RU" sz="2000" b="1" dirty="0" err="1"/>
              <a:t>for</a:t>
            </a:r>
            <a:r>
              <a:rPr lang="ru-RU" sz="2000" b="1" dirty="0"/>
              <a:t> </a:t>
            </a:r>
            <a:r>
              <a:rPr lang="ru-RU" sz="2000" b="1" dirty="0" err="1"/>
              <a:t>Oncology</a:t>
            </a:r>
            <a:r>
              <a:rPr lang="ru-RU" sz="2000" b="1" dirty="0"/>
              <a:t>.</a:t>
            </a:r>
            <a:r>
              <a:rPr lang="ru-RU" sz="2000" dirty="0"/>
              <a:t> </a:t>
            </a:r>
            <a:br>
              <a:rPr lang="en-US" sz="2000" dirty="0"/>
            </a:br>
            <a:r>
              <a:rPr lang="ru-RU" sz="2000" dirty="0"/>
              <a:t>Эта система должна была рекомендовать лечение рака, но столкнулась с большими проблемами. Как потом выяснилось, </a:t>
            </a:r>
            <a:r>
              <a:rPr lang="ru-RU" sz="2000" b="1" dirty="0"/>
              <a:t>причина во многом была в данных, на которых её учили</a:t>
            </a:r>
            <a:r>
              <a:rPr lang="ru-RU" sz="2000" dirty="0"/>
              <a:t>:</a:t>
            </a:r>
            <a:br>
              <a:rPr lang="en-US" sz="2000" dirty="0"/>
            </a:br>
            <a:r>
              <a:rPr lang="ru-RU" sz="2000" dirty="0"/>
              <a:t>вместо обширного набора реальных историй болезни, систему тренировали на небольшом количестве </a:t>
            </a:r>
            <a:r>
              <a:rPr lang="ru-RU" sz="2000" b="1" dirty="0"/>
              <a:t>«синтетических» случаев, придуманных экспертами</a:t>
            </a:r>
            <a:r>
              <a:rPr lang="en-US" sz="2000" b="1" dirty="0"/>
              <a:t> </a:t>
            </a:r>
            <a:r>
              <a:rPr lang="ru-RU" sz="2000" b="1" dirty="0"/>
              <a:t>одного клинического центра</a:t>
            </a:r>
            <a:r>
              <a:rPr lang="ru-RU" sz="2000" dirty="0"/>
              <a:t>. </a:t>
            </a:r>
            <a:br>
              <a:rPr lang="en-US" sz="2000" dirty="0"/>
            </a:br>
            <a:br>
              <a:rPr lang="en-US" sz="2000" dirty="0"/>
            </a:br>
            <a:r>
              <a:rPr lang="ru-RU" sz="2000" dirty="0"/>
              <a:t>То есть по сути, </a:t>
            </a:r>
            <a:r>
              <a:rPr lang="ru-RU" sz="2000" dirty="0" err="1"/>
              <a:t>Watson</a:t>
            </a:r>
            <a:r>
              <a:rPr lang="ru-RU" sz="2000" dirty="0"/>
              <a:t> учился на искусственных данных, отражавших точку зрения узкой группы врачей, а не на богатой реальности. </a:t>
            </a:r>
            <a:br>
              <a:rPr lang="en-US" sz="2000" dirty="0"/>
            </a:br>
            <a:br>
              <a:rPr lang="en-US" sz="2000" dirty="0"/>
            </a:br>
            <a:r>
              <a:rPr lang="ru-RU" sz="2000" dirty="0"/>
              <a:t>Как результат, рекомендации </a:t>
            </a:r>
            <a:r>
              <a:rPr lang="ru-RU" sz="2000" dirty="0" err="1"/>
              <a:t>Watson</a:t>
            </a:r>
            <a:r>
              <a:rPr lang="ru-RU" sz="2000" dirty="0"/>
              <a:t> иногда были не просто неточными, а опасными – предлагал схемы, которые реальному пациенту могли бы навредить. Внутренний аудит выявил </a:t>
            </a:r>
            <a:r>
              <a:rPr lang="ru-RU" sz="2000" i="1" dirty="0"/>
              <a:t>«несколько примеров небезопасных и неправильных рекомендаций»</a:t>
            </a:r>
            <a:r>
              <a:rPr lang="ru-RU" sz="2000" dirty="0"/>
              <a:t>, и причиной назвали плохие обучающие данные и методику их подготовки. Это пример, как ИИ впитал «мусор» (нереалистичные вводные) и выдал на выходе мусорные советы</a:t>
            </a:r>
            <a:endParaRPr lang="en-US" altLang="ru-RU" sz="2000" dirty="0"/>
          </a:p>
        </p:txBody>
      </p:sp>
      <p:sp>
        <p:nvSpPr>
          <p:cNvPr id="19" name="AutoShape 17">
            <a:extLst>
              <a:ext uri="{FF2B5EF4-FFF2-40B4-BE49-F238E27FC236}">
                <a16:creationId xmlns:a16="http://schemas.microsoft.com/office/drawing/2014/main" id="{4C4518DF-E18A-3BF0-8813-989730CBAA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143449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9F77D-988A-E7F4-20F5-9315575E7E35}"/>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A2067232-7C55-C3A4-1B47-B8E092885165}"/>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350F3BEE-8FFF-A950-93D4-E2C57D85C8A4}"/>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C8A57CDC-8B72-4C84-1964-C861313966F0}"/>
              </a:ext>
            </a:extLst>
          </p:cNvPr>
          <p:cNvSpPr>
            <a:spLocks noGrp="1"/>
          </p:cNvSpPr>
          <p:nvPr>
            <p:ph type="title"/>
          </p:nvPr>
        </p:nvSpPr>
        <p:spPr/>
        <p:txBody>
          <a:bodyPr>
            <a:normAutofit/>
          </a:bodyPr>
          <a:lstStyle/>
          <a:p>
            <a:r>
              <a:rPr lang="ru-RU" sz="3600" dirty="0"/>
              <a:t>Проблема №5: Смещенные (</a:t>
            </a:r>
            <a:r>
              <a:rPr lang="en-US" sz="3600" dirty="0"/>
              <a:t>biased)</a:t>
            </a:r>
            <a:r>
              <a:rPr lang="ru-RU" sz="3600" dirty="0"/>
              <a:t> данные</a:t>
            </a:r>
          </a:p>
        </p:txBody>
      </p:sp>
      <p:sp>
        <p:nvSpPr>
          <p:cNvPr id="6" name="Текст 5">
            <a:extLst>
              <a:ext uri="{FF2B5EF4-FFF2-40B4-BE49-F238E27FC236}">
                <a16:creationId xmlns:a16="http://schemas.microsoft.com/office/drawing/2014/main" id="{DBFEBABB-7ACA-CEEB-253E-FBAD5EC96345}"/>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69DFC477-ABE6-96B7-08E1-C7F4A1333DD1}"/>
              </a:ext>
            </a:extLst>
          </p:cNvPr>
          <p:cNvSpPr>
            <a:spLocks noChangeArrowheads="1"/>
          </p:cNvSpPr>
          <p:nvPr/>
        </p:nvSpPr>
        <p:spPr bwMode="auto">
          <a:xfrm>
            <a:off x="585896" y="2114318"/>
            <a:ext cx="10670367" cy="2246769"/>
          </a:xfrm>
          <a:prstGeom prst="rect">
            <a:avLst/>
          </a:prstGeom>
          <a:noFill/>
        </p:spPr>
        <p:txBody>
          <a:bodyPr wrap="square" rtlCol="0">
            <a:spAutoFit/>
          </a:bodyPr>
          <a:lstStyle/>
          <a:p>
            <a:r>
              <a:rPr lang="ru-RU" sz="2000" b="1" dirty="0"/>
              <a:t>Модель прогнозирования рисков пневмонии: </a:t>
            </a:r>
            <a:br>
              <a:rPr lang="ru-RU" sz="2000" dirty="0"/>
            </a:br>
            <a:r>
              <a:rPr lang="ru-RU" sz="2000" dirty="0"/>
              <a:t>Была попытка обучить алгоритм прогнозировать риск пневмонии у пациентов на основании историй болезни. </a:t>
            </a:r>
            <a:br>
              <a:rPr lang="ru-RU" sz="2000" dirty="0"/>
            </a:br>
            <a:r>
              <a:rPr lang="ru-RU" sz="2000" dirty="0"/>
              <a:t>Модель неожиданно выдала, что пациенты с астмой имеют </a:t>
            </a:r>
            <a:r>
              <a:rPr lang="ru-RU" sz="2000" b="1" dirty="0"/>
              <a:t>меньший риск умереть от пневмонии</a:t>
            </a:r>
            <a:r>
              <a:rPr lang="ru-RU" sz="2000" dirty="0"/>
              <a:t>, чем пациенты без астмы. </a:t>
            </a:r>
            <a:br>
              <a:rPr lang="ru-RU" sz="2000" dirty="0"/>
            </a:br>
            <a:br>
              <a:rPr lang="ru-RU" sz="2000" dirty="0"/>
            </a:br>
            <a:endParaRPr lang="en-US" altLang="ru-RU" sz="2000" dirty="0"/>
          </a:p>
        </p:txBody>
      </p:sp>
      <p:sp>
        <p:nvSpPr>
          <p:cNvPr id="19" name="AutoShape 17">
            <a:extLst>
              <a:ext uri="{FF2B5EF4-FFF2-40B4-BE49-F238E27FC236}">
                <a16:creationId xmlns:a16="http://schemas.microsoft.com/office/drawing/2014/main" id="{C62BC37C-65A9-DD79-4CF0-0C1751AB7ED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5" name="TextBox 14">
            <a:extLst>
              <a:ext uri="{FF2B5EF4-FFF2-40B4-BE49-F238E27FC236}">
                <a16:creationId xmlns:a16="http://schemas.microsoft.com/office/drawing/2014/main" id="{C85E6659-8B81-4504-836F-25890A165A91}"/>
              </a:ext>
            </a:extLst>
          </p:cNvPr>
          <p:cNvSpPr txBox="1"/>
          <p:nvPr/>
        </p:nvSpPr>
        <p:spPr>
          <a:xfrm>
            <a:off x="585895" y="4011952"/>
            <a:ext cx="10524470" cy="2246769"/>
          </a:xfrm>
          <a:prstGeom prst="rect">
            <a:avLst/>
          </a:prstGeom>
          <a:noFill/>
        </p:spPr>
        <p:txBody>
          <a:bodyPr wrap="square">
            <a:spAutoFit/>
          </a:bodyPr>
          <a:lstStyle/>
          <a:p>
            <a:r>
              <a:rPr lang="ru-RU" sz="2000" dirty="0"/>
              <a:t>Оказалось, что в данных больницы астматиков с пневмонией сразу помещали в реанимацию и агрессивно лечили, благодаря чему исходы у них были лучше. Модель приняла факт «астматикам обычно удаётся выжить» за признак «астма снижает риск» – </a:t>
            </a:r>
            <a:r>
              <a:rPr lang="ru-RU" sz="2000" b="1" dirty="0"/>
              <a:t>ложная корреляция из-за смещения данных</a:t>
            </a:r>
            <a:r>
              <a:rPr lang="ru-RU" sz="2000" dirty="0"/>
              <a:t>. Если бы такой алгоритм применять, он мог бы недооценить опасность состояния астматика. Конечно, врачи поняли ошибку, и этот признак (астма) пришлось явно учитывать как фактор риска вручную, исправляя вывод </a:t>
            </a:r>
            <a:r>
              <a:rPr lang="ru-RU" sz="2000" dirty="0" err="1"/>
              <a:t>моделиf</a:t>
            </a:r>
            <a:r>
              <a:rPr lang="ru-RU" sz="2000" dirty="0"/>
              <a:t>. Тут «мусором» была скрытая причинно-следственная неправильная связь в данных.</a:t>
            </a:r>
          </a:p>
        </p:txBody>
      </p:sp>
    </p:spTree>
    <p:extLst>
      <p:ext uri="{BB962C8B-B14F-4D97-AF65-F5344CB8AC3E}">
        <p14:creationId xmlns:p14="http://schemas.microsoft.com/office/powerpoint/2010/main" val="919171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9F77D-988A-E7F4-20F5-9315575E7E35}"/>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A2067232-7C55-C3A4-1B47-B8E092885165}"/>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350F3BEE-8FFF-A950-93D4-E2C57D85C8A4}"/>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C8A57CDC-8B72-4C84-1964-C861313966F0}"/>
              </a:ext>
            </a:extLst>
          </p:cNvPr>
          <p:cNvSpPr>
            <a:spLocks noGrp="1"/>
          </p:cNvSpPr>
          <p:nvPr>
            <p:ph type="title"/>
          </p:nvPr>
        </p:nvSpPr>
        <p:spPr/>
        <p:txBody>
          <a:bodyPr>
            <a:normAutofit/>
          </a:bodyPr>
          <a:lstStyle/>
          <a:p>
            <a:r>
              <a:rPr lang="ru-RU" sz="3600" dirty="0"/>
              <a:t>Проблема №6: </a:t>
            </a:r>
            <a:r>
              <a:rPr lang="ru-RU" sz="3600" dirty="0" err="1"/>
              <a:t>Батч</a:t>
            </a:r>
            <a:r>
              <a:rPr lang="ru-RU" sz="3600" dirty="0"/>
              <a:t>-эффект</a:t>
            </a:r>
          </a:p>
        </p:txBody>
      </p:sp>
      <p:sp>
        <p:nvSpPr>
          <p:cNvPr id="6" name="Текст 5">
            <a:extLst>
              <a:ext uri="{FF2B5EF4-FFF2-40B4-BE49-F238E27FC236}">
                <a16:creationId xmlns:a16="http://schemas.microsoft.com/office/drawing/2014/main" id="{DBFEBABB-7ACA-CEEB-253E-FBAD5EC96345}"/>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69DFC477-ABE6-96B7-08E1-C7F4A1333DD1}"/>
              </a:ext>
            </a:extLst>
          </p:cNvPr>
          <p:cNvSpPr>
            <a:spLocks noChangeArrowheads="1"/>
          </p:cNvSpPr>
          <p:nvPr/>
        </p:nvSpPr>
        <p:spPr bwMode="auto">
          <a:xfrm>
            <a:off x="585895" y="2260937"/>
            <a:ext cx="10670367" cy="1569660"/>
          </a:xfrm>
          <a:prstGeom prst="rect">
            <a:avLst/>
          </a:prstGeom>
          <a:noFill/>
        </p:spPr>
        <p:txBody>
          <a:bodyPr wrap="square" rtlCol="0">
            <a:spAutoFit/>
          </a:bodyPr>
          <a:lstStyle/>
          <a:p>
            <a:pPr rtl="0"/>
            <a:r>
              <a:rPr lang="ru-RU" sz="2400" b="1" dirty="0"/>
              <a:t>Определение.</a:t>
            </a:r>
            <a:r>
              <a:rPr lang="ru-RU" sz="2400" dirty="0"/>
              <a:t> Систематические технические различия между партиями образцов: день обработки, прибор, лот реактивов, оператор, центр, версия химии. Сам по себе </a:t>
            </a:r>
            <a:r>
              <a:rPr lang="ru-RU" sz="2400" dirty="0" err="1"/>
              <a:t>батч</a:t>
            </a:r>
            <a:r>
              <a:rPr lang="ru-RU" sz="2400" dirty="0"/>
              <a:t>-эффект не опасен. Опасно, когда </a:t>
            </a:r>
            <a:r>
              <a:rPr lang="ru-RU" sz="2400" b="1" dirty="0"/>
              <a:t>партия совпадает с изучаемой группой</a:t>
            </a:r>
            <a:r>
              <a:rPr lang="ru-RU" sz="2400" dirty="0"/>
              <a:t>.</a:t>
            </a:r>
          </a:p>
        </p:txBody>
      </p:sp>
      <p:sp>
        <p:nvSpPr>
          <p:cNvPr id="19" name="AutoShape 17">
            <a:extLst>
              <a:ext uri="{FF2B5EF4-FFF2-40B4-BE49-F238E27FC236}">
                <a16:creationId xmlns:a16="http://schemas.microsoft.com/office/drawing/2014/main" id="{C62BC37C-65A9-DD79-4CF0-0C1751AB7ED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5" name="TextBox 14">
            <a:extLst>
              <a:ext uri="{FF2B5EF4-FFF2-40B4-BE49-F238E27FC236}">
                <a16:creationId xmlns:a16="http://schemas.microsoft.com/office/drawing/2014/main" id="{C85E6659-8B81-4504-836F-25890A165A91}"/>
              </a:ext>
            </a:extLst>
          </p:cNvPr>
          <p:cNvSpPr txBox="1"/>
          <p:nvPr/>
        </p:nvSpPr>
        <p:spPr>
          <a:xfrm>
            <a:off x="585897" y="4044696"/>
            <a:ext cx="10524470" cy="1938992"/>
          </a:xfrm>
          <a:prstGeom prst="rect">
            <a:avLst/>
          </a:prstGeom>
          <a:noFill/>
        </p:spPr>
        <p:txBody>
          <a:bodyPr wrap="square">
            <a:spAutoFit/>
          </a:bodyPr>
          <a:lstStyle/>
          <a:p>
            <a:r>
              <a:rPr lang="ru-RU" sz="2400" b="1" dirty="0"/>
              <a:t>Почему это хуже остальных проблем данных.</a:t>
            </a:r>
            <a:r>
              <a:rPr lang="ru-RU" sz="2400" dirty="0"/>
              <a:t> Артефакт есть и в </a:t>
            </a:r>
            <a:r>
              <a:rPr lang="ru-RU" sz="2400" dirty="0" err="1"/>
              <a:t>train</a:t>
            </a:r>
            <a:r>
              <a:rPr lang="ru-RU" sz="2400" dirty="0"/>
              <a:t>, и в </a:t>
            </a:r>
            <a:r>
              <a:rPr lang="ru-RU" sz="2400" dirty="0" err="1"/>
              <a:t>test</a:t>
            </a:r>
            <a:r>
              <a:rPr lang="ru-RU" sz="2400" dirty="0"/>
              <a:t>. Разделение выборки его не видит. Вы получаете отличные метрики и ложный биологический вывод.</a:t>
            </a:r>
          </a:p>
          <a:p>
            <a:endParaRPr lang="ru-RU" sz="2400" b="1" dirty="0"/>
          </a:p>
          <a:p>
            <a:endParaRPr lang="ru-RU" sz="2400" dirty="0"/>
          </a:p>
        </p:txBody>
      </p:sp>
    </p:spTree>
    <p:extLst>
      <p:ext uri="{BB962C8B-B14F-4D97-AF65-F5344CB8AC3E}">
        <p14:creationId xmlns:p14="http://schemas.microsoft.com/office/powerpoint/2010/main" val="2646028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9F77D-988A-E7F4-20F5-9315575E7E35}"/>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A2067232-7C55-C3A4-1B47-B8E092885165}"/>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350F3BEE-8FFF-A950-93D4-E2C57D85C8A4}"/>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C8A57CDC-8B72-4C84-1964-C861313966F0}"/>
              </a:ext>
            </a:extLst>
          </p:cNvPr>
          <p:cNvSpPr>
            <a:spLocks noGrp="1"/>
          </p:cNvSpPr>
          <p:nvPr>
            <p:ph type="title"/>
          </p:nvPr>
        </p:nvSpPr>
        <p:spPr/>
        <p:txBody>
          <a:bodyPr>
            <a:normAutofit/>
          </a:bodyPr>
          <a:lstStyle/>
          <a:p>
            <a:r>
              <a:rPr lang="ru-RU" sz="3600" dirty="0"/>
              <a:t>Проблема №6: </a:t>
            </a:r>
            <a:r>
              <a:rPr lang="ru-RU" sz="3600" dirty="0" err="1"/>
              <a:t>Батч</a:t>
            </a:r>
            <a:r>
              <a:rPr lang="ru-RU" sz="3600" dirty="0"/>
              <a:t>-эффект - Примеры</a:t>
            </a:r>
          </a:p>
        </p:txBody>
      </p:sp>
      <p:sp>
        <p:nvSpPr>
          <p:cNvPr id="6" name="Текст 5">
            <a:extLst>
              <a:ext uri="{FF2B5EF4-FFF2-40B4-BE49-F238E27FC236}">
                <a16:creationId xmlns:a16="http://schemas.microsoft.com/office/drawing/2014/main" id="{DBFEBABB-7ACA-CEEB-253E-FBAD5EC96345}"/>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9" name="AutoShape 17">
            <a:extLst>
              <a:ext uri="{FF2B5EF4-FFF2-40B4-BE49-F238E27FC236}">
                <a16:creationId xmlns:a16="http://schemas.microsoft.com/office/drawing/2014/main" id="{C62BC37C-65A9-DD79-4CF0-0C1751AB7ED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5" name="TextBox 14">
            <a:extLst>
              <a:ext uri="{FF2B5EF4-FFF2-40B4-BE49-F238E27FC236}">
                <a16:creationId xmlns:a16="http://schemas.microsoft.com/office/drawing/2014/main" id="{C85E6659-8B81-4504-836F-25890A165A91}"/>
              </a:ext>
            </a:extLst>
          </p:cNvPr>
          <p:cNvSpPr txBox="1"/>
          <p:nvPr/>
        </p:nvSpPr>
        <p:spPr>
          <a:xfrm>
            <a:off x="548148" y="2124807"/>
            <a:ext cx="10524470" cy="4401205"/>
          </a:xfrm>
          <a:prstGeom prst="rect">
            <a:avLst/>
          </a:prstGeom>
          <a:noFill/>
        </p:spPr>
        <p:txBody>
          <a:bodyPr wrap="square">
            <a:spAutoFit/>
          </a:bodyPr>
          <a:lstStyle/>
          <a:p>
            <a:r>
              <a:rPr lang="ru-RU" sz="2000" b="1" dirty="0"/>
              <a:t>Классика жанра.</a:t>
            </a:r>
            <a:r>
              <a:rPr lang="ru-RU" sz="2000" dirty="0"/>
              <a:t> </a:t>
            </a:r>
            <a:r>
              <a:rPr lang="ru-RU" sz="2000" dirty="0" err="1"/>
              <a:t>Spielman</a:t>
            </a:r>
            <a:r>
              <a:rPr lang="ru-RU" sz="2000" dirty="0"/>
              <a:t> </a:t>
            </a:r>
            <a:r>
              <a:rPr lang="ru-RU" sz="2000" dirty="0" err="1"/>
              <a:t>et</a:t>
            </a:r>
            <a:r>
              <a:rPr lang="ru-RU" sz="2000" dirty="0"/>
              <a:t> </a:t>
            </a:r>
            <a:r>
              <a:rPr lang="ru-RU" sz="2000" dirty="0" err="1"/>
              <a:t>al</a:t>
            </a:r>
            <a:r>
              <a:rPr lang="ru-RU" sz="2000" dirty="0"/>
              <a:t>. (Nature </a:t>
            </a:r>
            <a:r>
              <a:rPr lang="ru-RU" sz="2000" dirty="0" err="1"/>
              <a:t>Genetics</a:t>
            </a:r>
            <a:r>
              <a:rPr lang="ru-RU" sz="2000" dirty="0"/>
              <a:t>, 2007) сообщили, что около 25% генов различаются по экспрессии между европейской и азиатской популяциями. В ответном письме в том же журнале </a:t>
            </a:r>
            <a:r>
              <a:rPr lang="ru-RU" sz="2000" dirty="0" err="1"/>
              <a:t>Akey</a:t>
            </a:r>
            <a:r>
              <a:rPr lang="ru-RU" sz="2000" dirty="0"/>
              <a:t> и соавторы указали, что популяции и даты обработки образцов были почти полностью скоррелированы. Значительная часть «этнических различий в экспрессии» оказалась эффектом партии.</a:t>
            </a:r>
          </a:p>
          <a:p>
            <a:r>
              <a:rPr lang="ru-RU" sz="2000" b="1" dirty="0"/>
              <a:t>Разные центры.</a:t>
            </a:r>
            <a:r>
              <a:rPr lang="ru-RU" sz="2000" dirty="0"/>
              <a:t> Опухолевые образцы набраны в одной больнице, контрольные — в другой. Классификатор «опухоль / норма» с AUC 0.99 на самом деле безошибочно различает две больницы.</a:t>
            </a:r>
          </a:p>
          <a:p>
            <a:r>
              <a:rPr lang="ru-RU" sz="2000" b="1" dirty="0"/>
              <a:t>Одноклеточные данные.</a:t>
            </a:r>
            <a:r>
              <a:rPr lang="ru-RU" sz="2000" dirty="0"/>
              <a:t> Разные доноры, чипы или версии химии 10x дают кластеры «по </a:t>
            </a:r>
            <a:r>
              <a:rPr lang="ru-RU" sz="2000" dirty="0" err="1"/>
              <a:t>батчу</a:t>
            </a:r>
            <a:r>
              <a:rPr lang="ru-RU" sz="2000" dirty="0"/>
              <a:t>», а не по типу клеток. Именно поэтому в </a:t>
            </a:r>
            <a:r>
              <a:rPr lang="ru-RU" sz="2000" dirty="0" err="1"/>
              <a:t>scRNA-seq</a:t>
            </a:r>
            <a:r>
              <a:rPr lang="ru-RU" sz="2000" dirty="0"/>
              <a:t> существует целый класс методов интеграции — </a:t>
            </a:r>
            <a:r>
              <a:rPr lang="ru-RU" sz="2000" dirty="0" err="1"/>
              <a:t>Harmony</a:t>
            </a:r>
            <a:r>
              <a:rPr lang="ru-RU" sz="2000" dirty="0"/>
              <a:t>, </a:t>
            </a:r>
            <a:r>
              <a:rPr lang="ru-RU" sz="2000" dirty="0" err="1"/>
              <a:t>ComBat</a:t>
            </a:r>
            <a:r>
              <a:rPr lang="ru-RU" sz="2000" dirty="0"/>
              <a:t>, </a:t>
            </a:r>
            <a:r>
              <a:rPr lang="ru-RU" sz="2000" dirty="0" err="1"/>
              <a:t>scVI</a:t>
            </a:r>
            <a:r>
              <a:rPr lang="ru-RU" sz="2000" dirty="0"/>
              <a:t>.</a:t>
            </a:r>
          </a:p>
          <a:p>
            <a:r>
              <a:rPr lang="ru-RU" sz="2000" b="1" dirty="0"/>
              <a:t>Середина набора данных.</a:t>
            </a:r>
            <a:r>
              <a:rPr lang="ru-RU" sz="2000" dirty="0"/>
              <a:t> Закончился лот реактивов, закупили новый — и первая половина образцов систематически отличается от второй.</a:t>
            </a:r>
          </a:p>
          <a:p>
            <a:endParaRPr lang="ru-RU" sz="2000" dirty="0"/>
          </a:p>
        </p:txBody>
      </p:sp>
    </p:spTree>
    <p:extLst>
      <p:ext uri="{BB962C8B-B14F-4D97-AF65-F5344CB8AC3E}">
        <p14:creationId xmlns:p14="http://schemas.microsoft.com/office/powerpoint/2010/main" val="293575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9F77D-988A-E7F4-20F5-9315575E7E35}"/>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A2067232-7C55-C3A4-1B47-B8E092885165}"/>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350F3BEE-8FFF-A950-93D4-E2C57D85C8A4}"/>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C8A57CDC-8B72-4C84-1964-C861313966F0}"/>
              </a:ext>
            </a:extLst>
          </p:cNvPr>
          <p:cNvSpPr>
            <a:spLocks noGrp="1"/>
          </p:cNvSpPr>
          <p:nvPr>
            <p:ph type="title"/>
          </p:nvPr>
        </p:nvSpPr>
        <p:spPr/>
        <p:txBody>
          <a:bodyPr>
            <a:normAutofit/>
          </a:bodyPr>
          <a:lstStyle/>
          <a:p>
            <a:r>
              <a:rPr lang="ru-RU" sz="3600" dirty="0"/>
              <a:t>Проблема №6: </a:t>
            </a:r>
            <a:r>
              <a:rPr lang="ru-RU" sz="3600" dirty="0" err="1"/>
              <a:t>Батч</a:t>
            </a:r>
            <a:r>
              <a:rPr lang="ru-RU" sz="3600" dirty="0"/>
              <a:t>-эффект – Что делать?</a:t>
            </a:r>
          </a:p>
        </p:txBody>
      </p:sp>
      <p:sp>
        <p:nvSpPr>
          <p:cNvPr id="6" name="Текст 5">
            <a:extLst>
              <a:ext uri="{FF2B5EF4-FFF2-40B4-BE49-F238E27FC236}">
                <a16:creationId xmlns:a16="http://schemas.microsoft.com/office/drawing/2014/main" id="{DBFEBABB-7ACA-CEEB-253E-FBAD5EC96345}"/>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9" name="AutoShape 17">
            <a:extLst>
              <a:ext uri="{FF2B5EF4-FFF2-40B4-BE49-F238E27FC236}">
                <a16:creationId xmlns:a16="http://schemas.microsoft.com/office/drawing/2014/main" id="{C62BC37C-65A9-DD79-4CF0-0C1751AB7ED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5" name="TextBox 14">
            <a:extLst>
              <a:ext uri="{FF2B5EF4-FFF2-40B4-BE49-F238E27FC236}">
                <a16:creationId xmlns:a16="http://schemas.microsoft.com/office/drawing/2014/main" id="{C85E6659-8B81-4504-836F-25890A165A91}"/>
              </a:ext>
            </a:extLst>
          </p:cNvPr>
          <p:cNvSpPr txBox="1"/>
          <p:nvPr/>
        </p:nvSpPr>
        <p:spPr>
          <a:xfrm>
            <a:off x="548148" y="2332071"/>
            <a:ext cx="10524470" cy="3477875"/>
          </a:xfrm>
          <a:prstGeom prst="rect">
            <a:avLst/>
          </a:prstGeom>
          <a:noFill/>
        </p:spPr>
        <p:txBody>
          <a:bodyPr wrap="square">
            <a:spAutoFit/>
          </a:bodyPr>
          <a:lstStyle/>
          <a:p>
            <a:pPr marL="342900" indent="-342900">
              <a:buFont typeface="Arial" panose="020B0604020202020204" pitchFamily="34" charset="0"/>
              <a:buChar char="•"/>
            </a:pPr>
            <a:r>
              <a:rPr lang="ru-RU" sz="2200" b="1" dirty="0"/>
              <a:t>Рандомизация на этапе дизайна</a:t>
            </a:r>
            <a:r>
              <a:rPr lang="ru-RU" sz="2200" dirty="0"/>
              <a:t> — единственная надёжная защита. Образцы всех групп распределяются по партиям случайно, а не блоками.</a:t>
            </a:r>
          </a:p>
          <a:p>
            <a:pPr marL="342900" indent="-342900">
              <a:buFont typeface="Arial" panose="020B0604020202020204" pitchFamily="34" charset="0"/>
              <a:buChar char="•"/>
            </a:pPr>
            <a:r>
              <a:rPr lang="ru-RU" sz="2200" b="1" dirty="0"/>
              <a:t>Записывать технические метаданные</a:t>
            </a:r>
            <a:r>
              <a:rPr lang="ru-RU" sz="2200" dirty="0"/>
              <a:t> (дата, прибор, оператор, лот) как полноценные переменные. Их обычно выбрасывают как «неинформативные» — и лишают себя возможности проверить.</a:t>
            </a:r>
          </a:p>
          <a:p>
            <a:pPr marL="342900" indent="-342900">
              <a:buFont typeface="Arial" panose="020B0604020202020204" pitchFamily="34" charset="0"/>
              <a:buChar char="•"/>
            </a:pPr>
            <a:r>
              <a:rPr lang="ru-RU" sz="2200" b="1" dirty="0"/>
              <a:t>Смотреть на данные, покрасив точки по дате обработки</a:t>
            </a:r>
            <a:r>
              <a:rPr lang="ru-RU" sz="2200" dirty="0"/>
              <a:t>, а не по диагнозу. Если разделение идёт по дате — дальше идти нельзя.</a:t>
            </a:r>
          </a:p>
          <a:p>
            <a:pPr marL="342900" indent="-342900">
              <a:buFont typeface="Arial" panose="020B0604020202020204" pitchFamily="34" charset="0"/>
              <a:buChar char="•"/>
            </a:pPr>
            <a:r>
              <a:rPr lang="ru-RU" sz="2200" b="1" dirty="0"/>
              <a:t>Методы коррекции помогают, но не всегда.</a:t>
            </a:r>
            <a:r>
              <a:rPr lang="ru-RU" sz="2200" dirty="0"/>
              <a:t> Если все опухоли обработаны в марте, а все нормы в сентябре, эффекты разделить невозможно в принципе — никаким алгоритмом. Данные придётся </a:t>
            </a:r>
            <a:r>
              <a:rPr lang="ru-RU" sz="2200" dirty="0" err="1"/>
              <a:t>пересобирать</a:t>
            </a:r>
            <a:r>
              <a:rPr lang="ru-RU" sz="2200" dirty="0"/>
              <a:t>.</a:t>
            </a:r>
          </a:p>
        </p:txBody>
      </p:sp>
    </p:spTree>
    <p:extLst>
      <p:ext uri="{BB962C8B-B14F-4D97-AF65-F5344CB8AC3E}">
        <p14:creationId xmlns:p14="http://schemas.microsoft.com/office/powerpoint/2010/main" val="411563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BD2D1-58F9-C539-7CB0-625DC9E297AE}"/>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2FED2477-E06D-943E-A6F0-AE406FC1138A}"/>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F395D572-D156-685E-581E-3441A02AE7F8}"/>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38BC6830-7F4C-1463-977A-EB01F914B77B}"/>
              </a:ext>
            </a:extLst>
          </p:cNvPr>
          <p:cNvSpPr>
            <a:spLocks noGrp="1"/>
          </p:cNvSpPr>
          <p:nvPr>
            <p:ph type="title"/>
          </p:nvPr>
        </p:nvSpPr>
        <p:spPr/>
        <p:txBody>
          <a:bodyPr>
            <a:normAutofit/>
          </a:bodyPr>
          <a:lstStyle/>
          <a:p>
            <a:r>
              <a:rPr lang="ru-RU" sz="3600" dirty="0"/>
              <a:t>Что делать с категориями?</a:t>
            </a:r>
          </a:p>
        </p:txBody>
      </p:sp>
      <p:sp>
        <p:nvSpPr>
          <p:cNvPr id="6" name="Текст 5">
            <a:extLst>
              <a:ext uri="{FF2B5EF4-FFF2-40B4-BE49-F238E27FC236}">
                <a16:creationId xmlns:a16="http://schemas.microsoft.com/office/drawing/2014/main" id="{65F6AA60-CC5F-32A6-E4B6-E9663C0DAFD3}"/>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3EA0E16A-0E84-1028-9169-E7FE8FED1819}"/>
              </a:ext>
            </a:extLst>
          </p:cNvPr>
          <p:cNvSpPr txBox="1"/>
          <p:nvPr/>
        </p:nvSpPr>
        <p:spPr>
          <a:xfrm>
            <a:off x="585897" y="2151727"/>
            <a:ext cx="5843508" cy="2554545"/>
          </a:xfrm>
          <a:prstGeom prst="rect">
            <a:avLst/>
          </a:prstGeom>
          <a:noFill/>
        </p:spPr>
        <p:txBody>
          <a:bodyPr wrap="square" rtlCol="0">
            <a:spAutoFit/>
          </a:bodyPr>
          <a:lstStyle/>
          <a:p>
            <a:r>
              <a:rPr lang="en-US" sz="2000" b="1" dirty="0"/>
              <a:t>One-hot encoding (OHE)</a:t>
            </a:r>
            <a:r>
              <a:rPr lang="ru-RU" sz="2000" b="1" dirty="0"/>
              <a:t>:</a:t>
            </a:r>
          </a:p>
          <a:p>
            <a:pPr marL="342900" indent="-342900">
              <a:buFont typeface="Arial" panose="020B0604020202020204" pitchFamily="34" charset="0"/>
              <a:buChar char="•"/>
            </a:pPr>
            <a:r>
              <a:rPr lang="ru-RU" sz="2000" dirty="0"/>
              <a:t>Метод преобразования категориальной переменной в несколько бинарных (0/1) столбцов</a:t>
            </a:r>
          </a:p>
          <a:p>
            <a:pPr marL="342900" indent="-342900">
              <a:buFont typeface="Arial" panose="020B0604020202020204" pitchFamily="34" charset="0"/>
              <a:buChar char="•"/>
            </a:pPr>
            <a:r>
              <a:rPr lang="ru-RU" sz="2000" dirty="0"/>
              <a:t>Каждая категория становится новым признаком (столбцом)</a:t>
            </a:r>
          </a:p>
          <a:p>
            <a:pPr marL="342900" indent="-342900">
              <a:buFont typeface="Arial" panose="020B0604020202020204" pitchFamily="34" charset="0"/>
              <a:buChar char="•"/>
            </a:pPr>
            <a:r>
              <a:rPr lang="ru-RU" sz="2000" dirty="0"/>
              <a:t>Для каждого наблюдения 1 ставится в столбце его категории, а остальные получают 0</a:t>
            </a:r>
            <a:r>
              <a:rPr lang="en-US" sz="2000" dirty="0"/>
              <a:t> </a:t>
            </a:r>
            <a:endParaRPr lang="ru-RU" sz="2000" dirty="0"/>
          </a:p>
        </p:txBody>
      </p:sp>
      <p:pic>
        <p:nvPicPr>
          <p:cNvPr id="1026" name="Picture 2" descr="One-hot encoding categorical variables - Train in Data's Blog">
            <a:extLst>
              <a:ext uri="{FF2B5EF4-FFF2-40B4-BE49-F238E27FC236}">
                <a16:creationId xmlns:a16="http://schemas.microsoft.com/office/drawing/2014/main" id="{337EE4DB-8454-3922-F01F-8942829DCD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078" r="22603"/>
          <a:stretch>
            <a:fillRect/>
          </a:stretch>
        </p:blipFill>
        <p:spPr bwMode="auto">
          <a:xfrm>
            <a:off x="6632131" y="2224815"/>
            <a:ext cx="4541837" cy="36195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9B1FF31-4142-4B29-9201-160158506128}"/>
              </a:ext>
            </a:extLst>
          </p:cNvPr>
          <p:cNvSpPr txBox="1"/>
          <p:nvPr/>
        </p:nvSpPr>
        <p:spPr>
          <a:xfrm>
            <a:off x="585897" y="4819560"/>
            <a:ext cx="5843508" cy="1631216"/>
          </a:xfrm>
          <a:prstGeom prst="rect">
            <a:avLst/>
          </a:prstGeom>
          <a:noFill/>
        </p:spPr>
        <p:txBody>
          <a:bodyPr wrap="square" rtlCol="0">
            <a:spAutoFit/>
          </a:bodyPr>
          <a:lstStyle/>
          <a:p>
            <a:r>
              <a:rPr lang="ru-RU" sz="2000" b="1" dirty="0"/>
              <a:t>Плюсы:</a:t>
            </a:r>
          </a:p>
          <a:p>
            <a:pPr marL="342900" indent="-342900">
              <a:buFont typeface="Arial" panose="020B0604020202020204" pitchFamily="34" charset="0"/>
              <a:buChar char="•"/>
            </a:pPr>
            <a:r>
              <a:rPr lang="ru-RU" sz="2000" dirty="0"/>
              <a:t>Не создает ложного порядка, хорошо работает со многими алгоритмами</a:t>
            </a:r>
          </a:p>
          <a:p>
            <a:r>
              <a:rPr lang="ru-RU" sz="2000" b="1" dirty="0"/>
              <a:t>Минусы:</a:t>
            </a:r>
          </a:p>
          <a:p>
            <a:pPr marL="342900" indent="-342900">
              <a:buFont typeface="Arial" panose="020B0604020202020204" pitchFamily="34" charset="0"/>
              <a:buChar char="•"/>
            </a:pPr>
            <a:r>
              <a:rPr lang="ru-RU" sz="2000" dirty="0"/>
              <a:t>Проклятие размерности</a:t>
            </a:r>
          </a:p>
        </p:txBody>
      </p:sp>
    </p:spTree>
    <p:extLst>
      <p:ext uri="{BB962C8B-B14F-4D97-AF65-F5344CB8AC3E}">
        <p14:creationId xmlns:p14="http://schemas.microsoft.com/office/powerpoint/2010/main" val="446652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6037C-E908-9ED5-D4A5-263F61913E15}"/>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DD2AA2CB-E68B-BCF8-7FC3-9EB8473B94D7}"/>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FCFF37D6-D61D-4D6F-6FD7-89283DF7FC0B}"/>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8F7D9065-0B07-5B3F-569D-37A1F426AE63}"/>
              </a:ext>
            </a:extLst>
          </p:cNvPr>
          <p:cNvSpPr>
            <a:spLocks noGrp="1"/>
          </p:cNvSpPr>
          <p:nvPr>
            <p:ph type="title"/>
          </p:nvPr>
        </p:nvSpPr>
        <p:spPr/>
        <p:txBody>
          <a:bodyPr>
            <a:normAutofit/>
          </a:bodyPr>
          <a:lstStyle/>
          <a:p>
            <a:r>
              <a:rPr lang="ru-RU" sz="3600" dirty="0"/>
              <a:t>Что делать с категориями?</a:t>
            </a:r>
          </a:p>
        </p:txBody>
      </p:sp>
      <p:sp>
        <p:nvSpPr>
          <p:cNvPr id="6" name="Текст 5">
            <a:extLst>
              <a:ext uri="{FF2B5EF4-FFF2-40B4-BE49-F238E27FC236}">
                <a16:creationId xmlns:a16="http://schemas.microsoft.com/office/drawing/2014/main" id="{A55BDBB2-ADBE-B612-DF77-71BD3B4391A5}"/>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6BDFC752-11E7-D2A7-92B2-555CC8B4B4F8}"/>
              </a:ext>
            </a:extLst>
          </p:cNvPr>
          <p:cNvSpPr txBox="1"/>
          <p:nvPr/>
        </p:nvSpPr>
        <p:spPr>
          <a:xfrm>
            <a:off x="548148" y="2153215"/>
            <a:ext cx="5843508" cy="1938992"/>
          </a:xfrm>
          <a:prstGeom prst="rect">
            <a:avLst/>
          </a:prstGeom>
          <a:noFill/>
        </p:spPr>
        <p:txBody>
          <a:bodyPr wrap="square" rtlCol="0">
            <a:spAutoFit/>
          </a:bodyPr>
          <a:lstStyle/>
          <a:p>
            <a:r>
              <a:rPr lang="ru-RU" sz="2000" b="1" dirty="0" err="1"/>
              <a:t>Ordinal</a:t>
            </a:r>
            <a:r>
              <a:rPr lang="ru-RU" sz="2000" b="1" dirty="0"/>
              <a:t> </a:t>
            </a:r>
            <a:r>
              <a:rPr lang="ru-RU" sz="2000" b="1" dirty="0" err="1"/>
              <a:t>Encoding</a:t>
            </a:r>
            <a:r>
              <a:rPr lang="ru-RU" sz="2000" b="1" dirty="0"/>
              <a:t> (OE) / </a:t>
            </a:r>
            <a:br>
              <a:rPr lang="en-US" sz="2000" b="1" dirty="0"/>
            </a:br>
            <a:r>
              <a:rPr lang="ru-RU" sz="2000" b="1" dirty="0"/>
              <a:t>Порядковое Кодирование:</a:t>
            </a:r>
          </a:p>
          <a:p>
            <a:pPr marL="342900" indent="-342900">
              <a:buFont typeface="Arial" panose="020B0604020202020204" pitchFamily="34" charset="0"/>
              <a:buChar char="•"/>
            </a:pPr>
            <a:r>
              <a:rPr lang="ru-RU" sz="2000" dirty="0"/>
              <a:t>Метод преобразования категорий в целые числа с учетом их ранга или порядка</a:t>
            </a:r>
          </a:p>
          <a:p>
            <a:pPr marL="342900" indent="-342900">
              <a:buFont typeface="Arial" panose="020B0604020202020204" pitchFamily="34" charset="0"/>
              <a:buChar char="•"/>
            </a:pPr>
            <a:r>
              <a:rPr lang="ru-RU" sz="2000" dirty="0"/>
              <a:t>Каждой уникальной категории присваивается уникальное целое число (от 0 до n-1)</a:t>
            </a:r>
          </a:p>
        </p:txBody>
      </p:sp>
      <p:sp>
        <p:nvSpPr>
          <p:cNvPr id="5" name="AutoShape 2" descr="Nominal And Ordinal Encoding In Data Science! | by SagarDhandare | Nerd For  Tech | Medium">
            <a:extLst>
              <a:ext uri="{FF2B5EF4-FFF2-40B4-BE49-F238E27FC236}">
                <a16:creationId xmlns:a16="http://schemas.microsoft.com/office/drawing/2014/main" id="{4CD968C5-47C9-09C9-C8B5-C733F12C1FA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Рисунок 8">
            <a:extLst>
              <a:ext uri="{FF2B5EF4-FFF2-40B4-BE49-F238E27FC236}">
                <a16:creationId xmlns:a16="http://schemas.microsoft.com/office/drawing/2014/main" id="{BE06AA2D-5A62-8193-F323-5B3E6A37AD6C}"/>
              </a:ext>
            </a:extLst>
          </p:cNvPr>
          <p:cNvPicPr>
            <a:picLocks noChangeAspect="1"/>
          </p:cNvPicPr>
          <p:nvPr/>
        </p:nvPicPr>
        <p:blipFill>
          <a:blip r:embed="rId3"/>
          <a:stretch>
            <a:fillRect/>
          </a:stretch>
        </p:blipFill>
        <p:spPr>
          <a:xfrm>
            <a:off x="6391656" y="2715776"/>
            <a:ext cx="5202190" cy="2179511"/>
          </a:xfrm>
          <a:prstGeom prst="rect">
            <a:avLst/>
          </a:prstGeom>
        </p:spPr>
      </p:pic>
      <p:sp>
        <p:nvSpPr>
          <p:cNvPr id="10" name="TextBox 9">
            <a:extLst>
              <a:ext uri="{FF2B5EF4-FFF2-40B4-BE49-F238E27FC236}">
                <a16:creationId xmlns:a16="http://schemas.microsoft.com/office/drawing/2014/main" id="{A0C5CDEC-9619-425B-9CFA-744DA391AE5A}"/>
              </a:ext>
            </a:extLst>
          </p:cNvPr>
          <p:cNvSpPr txBox="1"/>
          <p:nvPr/>
        </p:nvSpPr>
        <p:spPr>
          <a:xfrm>
            <a:off x="598154" y="4302362"/>
            <a:ext cx="5843508" cy="2246769"/>
          </a:xfrm>
          <a:prstGeom prst="rect">
            <a:avLst/>
          </a:prstGeom>
          <a:noFill/>
        </p:spPr>
        <p:txBody>
          <a:bodyPr wrap="square" rtlCol="0">
            <a:spAutoFit/>
          </a:bodyPr>
          <a:lstStyle/>
          <a:p>
            <a:r>
              <a:rPr lang="ru-RU" sz="2000" b="1" dirty="0"/>
              <a:t>Плюсы:</a:t>
            </a:r>
          </a:p>
          <a:p>
            <a:pPr marL="342900" indent="-342900">
              <a:buFont typeface="Arial" panose="020B0604020202020204" pitchFamily="34" charset="0"/>
              <a:buChar char="•"/>
            </a:pPr>
            <a:r>
              <a:rPr lang="ru-RU" sz="2000" dirty="0"/>
              <a:t>Сохраняет информацию о порядке, Не увеличивает размерность</a:t>
            </a:r>
          </a:p>
          <a:p>
            <a:r>
              <a:rPr lang="ru-RU" sz="2000" b="1" dirty="0"/>
              <a:t>Минусы:</a:t>
            </a:r>
          </a:p>
          <a:p>
            <a:pPr marL="342900" indent="-342900">
              <a:buFont typeface="Arial" panose="020B0604020202020204" pitchFamily="34" charset="0"/>
              <a:buChar char="•"/>
            </a:pPr>
            <a:r>
              <a:rPr lang="ru-RU" sz="2000" dirty="0"/>
              <a:t>Может создавать ложное представление о «расстоянии» между категориями, поэтому используется не во всех алгоритмах</a:t>
            </a:r>
          </a:p>
        </p:txBody>
      </p:sp>
    </p:spTree>
    <p:extLst>
      <p:ext uri="{BB962C8B-B14F-4D97-AF65-F5344CB8AC3E}">
        <p14:creationId xmlns:p14="http://schemas.microsoft.com/office/powerpoint/2010/main" val="970123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BC25A-2D4C-9312-8928-74F6FCB42001}"/>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D42051D0-6392-08E0-7337-6D0D4C20DCF4}"/>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6227BDEF-617A-8295-1E68-D3B2A7EE82CF}"/>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10C08584-4978-6190-E312-5DD0E3F66633}"/>
              </a:ext>
            </a:extLst>
          </p:cNvPr>
          <p:cNvSpPr>
            <a:spLocks noGrp="1"/>
          </p:cNvSpPr>
          <p:nvPr>
            <p:ph type="title"/>
          </p:nvPr>
        </p:nvSpPr>
        <p:spPr/>
        <p:txBody>
          <a:bodyPr>
            <a:normAutofit/>
          </a:bodyPr>
          <a:lstStyle/>
          <a:p>
            <a:r>
              <a:rPr lang="ru-RU" sz="3600" dirty="0"/>
              <a:t>Аугментация данных</a:t>
            </a:r>
          </a:p>
        </p:txBody>
      </p:sp>
      <p:sp>
        <p:nvSpPr>
          <p:cNvPr id="6" name="Текст 5">
            <a:extLst>
              <a:ext uri="{FF2B5EF4-FFF2-40B4-BE49-F238E27FC236}">
                <a16:creationId xmlns:a16="http://schemas.microsoft.com/office/drawing/2014/main" id="{38985F03-5F28-1A9B-ED01-91889C24A603}"/>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7" name="TextBox 6">
            <a:extLst>
              <a:ext uri="{FF2B5EF4-FFF2-40B4-BE49-F238E27FC236}">
                <a16:creationId xmlns:a16="http://schemas.microsoft.com/office/drawing/2014/main" id="{507E717D-0E47-029A-F234-F4C877487575}"/>
              </a:ext>
            </a:extLst>
          </p:cNvPr>
          <p:cNvSpPr txBox="1"/>
          <p:nvPr/>
        </p:nvSpPr>
        <p:spPr>
          <a:xfrm>
            <a:off x="530853" y="2212622"/>
            <a:ext cx="6146613" cy="4524315"/>
          </a:xfrm>
          <a:prstGeom prst="rect">
            <a:avLst/>
          </a:prstGeom>
          <a:noFill/>
        </p:spPr>
        <p:txBody>
          <a:bodyPr wrap="square" rtlCol="0">
            <a:spAutoFit/>
          </a:bodyPr>
          <a:lstStyle/>
          <a:p>
            <a:r>
              <a:rPr lang="ru-RU" sz="2400" b="1" dirty="0"/>
              <a:t>Как создать больше данных из ничего</a:t>
            </a:r>
            <a:r>
              <a:rPr lang="en-US" sz="2400" b="1" dirty="0"/>
              <a:t>?</a:t>
            </a:r>
          </a:p>
          <a:p>
            <a:r>
              <a:rPr lang="ru-RU" sz="2400" dirty="0"/>
              <a:t>Искусственное увеличение объема и разнообразия обучающей выборки путем применения к имеющимся данным различных преобразований, сохраняющих смысл.</a:t>
            </a:r>
          </a:p>
          <a:p>
            <a:pPr marL="342900" indent="-342900">
              <a:buFont typeface="Arial" panose="020B0604020202020204" pitchFamily="34" charset="0"/>
              <a:buChar char="•"/>
            </a:pPr>
            <a:r>
              <a:rPr lang="ru-RU" sz="2400" dirty="0"/>
              <a:t>В случае картинок: повороты, приближение, </a:t>
            </a:r>
            <a:r>
              <a:rPr lang="ru-RU" sz="2400" dirty="0" err="1"/>
              <a:t>отзеркаливание</a:t>
            </a:r>
            <a:endParaRPr lang="ru-RU" sz="2400" dirty="0"/>
          </a:p>
          <a:p>
            <a:pPr marL="342900" indent="-342900">
              <a:buFont typeface="Arial" panose="020B0604020202020204" pitchFamily="34" charset="0"/>
              <a:buChar char="•"/>
            </a:pPr>
            <a:r>
              <a:rPr lang="ru-RU" sz="2400" dirty="0"/>
              <a:t>В случае ДНК: изменение знака цепи, сдвиг окна, комплементарная последовательность</a:t>
            </a:r>
            <a:endParaRPr lang="en-US" sz="2400" dirty="0"/>
          </a:p>
          <a:p>
            <a:endParaRPr lang="ru-RU" sz="2400" dirty="0"/>
          </a:p>
        </p:txBody>
      </p:sp>
      <p:sp>
        <p:nvSpPr>
          <p:cNvPr id="5" name="AutoShape 2" descr="Nominal And Ordinal Encoding In Data Science! | by SagarDhandare | Nerd For  Tech | Medium">
            <a:extLst>
              <a:ext uri="{FF2B5EF4-FFF2-40B4-BE49-F238E27FC236}">
                <a16:creationId xmlns:a16="http://schemas.microsoft.com/office/drawing/2014/main" id="{9C4125A0-AF66-6103-8224-C5A82F011E7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3074" name="Picture 2" descr="Как аугментировать данные для задач компьютерного зрения">
            <a:extLst>
              <a:ext uri="{FF2B5EF4-FFF2-40B4-BE49-F238E27FC236}">
                <a16:creationId xmlns:a16="http://schemas.microsoft.com/office/drawing/2014/main" id="{D76C3C30-99CC-D40A-41D3-51642D381B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6812" y="1061440"/>
            <a:ext cx="4797040" cy="29474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CGT">
            <a:extLst>
              <a:ext uri="{FF2B5EF4-FFF2-40B4-BE49-F238E27FC236}">
                <a16:creationId xmlns:a16="http://schemas.microsoft.com/office/drawing/2014/main" id="{490883FD-9806-056B-4E37-F6048D20F7E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674" b="17922"/>
          <a:stretch>
            <a:fillRect/>
          </a:stretch>
        </p:blipFill>
        <p:spPr bwMode="auto">
          <a:xfrm>
            <a:off x="6414592" y="4251961"/>
            <a:ext cx="5661480" cy="2057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4160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D3909-C832-B09D-B690-817CEF5B199E}"/>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CA2F3FE4-5E62-318F-2E57-47FEECEA48EF}"/>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98720023-344F-8FF4-C3BC-F1D81F50EA17}"/>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F260DA51-723A-A904-2C1D-57E622E51978}"/>
              </a:ext>
            </a:extLst>
          </p:cNvPr>
          <p:cNvSpPr>
            <a:spLocks noGrp="1"/>
          </p:cNvSpPr>
          <p:nvPr>
            <p:ph type="title"/>
          </p:nvPr>
        </p:nvSpPr>
        <p:spPr/>
        <p:txBody>
          <a:bodyPr>
            <a:normAutofit/>
          </a:bodyPr>
          <a:lstStyle/>
          <a:p>
            <a:r>
              <a:rPr lang="ru-RU" sz="3600" dirty="0"/>
              <a:t>Формирование признаков (</a:t>
            </a:r>
            <a:r>
              <a:rPr lang="en-US" sz="3600" dirty="0"/>
              <a:t>Feature engineering)</a:t>
            </a:r>
            <a:endParaRPr lang="ru-RU" sz="3600" dirty="0"/>
          </a:p>
        </p:txBody>
      </p:sp>
      <p:sp>
        <p:nvSpPr>
          <p:cNvPr id="6" name="Текст 5">
            <a:extLst>
              <a:ext uri="{FF2B5EF4-FFF2-40B4-BE49-F238E27FC236}">
                <a16:creationId xmlns:a16="http://schemas.microsoft.com/office/drawing/2014/main" id="{3C6DB83F-83B1-05A8-DE85-DBC0DFD5B1ED}"/>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0CFA1F53-DEF2-A189-AC2E-C55AAC5B71DB}"/>
              </a:ext>
            </a:extLst>
          </p:cNvPr>
          <p:cNvSpPr>
            <a:spLocks noChangeArrowheads="1"/>
          </p:cNvSpPr>
          <p:nvPr/>
        </p:nvSpPr>
        <p:spPr bwMode="auto">
          <a:xfrm>
            <a:off x="585896" y="2114318"/>
            <a:ext cx="10441767" cy="3785652"/>
          </a:xfrm>
          <a:prstGeom prst="rect">
            <a:avLst/>
          </a:prstGeom>
          <a:noFill/>
        </p:spPr>
        <p:txBody>
          <a:bodyPr wrap="square" rtlCol="0">
            <a:spAutoFit/>
          </a:bodyPr>
          <a:lstStyle/>
          <a:p>
            <a:r>
              <a:rPr lang="ru-RU" sz="2000" b="1" dirty="0"/>
              <a:t>Что это?</a:t>
            </a:r>
          </a:p>
          <a:p>
            <a:r>
              <a:rPr lang="ru-RU" sz="2000" dirty="0"/>
              <a:t>Процесс создания новых признаков (</a:t>
            </a:r>
            <a:r>
              <a:rPr lang="ru-RU" sz="2000" dirty="0" err="1"/>
              <a:t>features</a:t>
            </a:r>
            <a:r>
              <a:rPr lang="ru-RU" sz="2000" dirty="0"/>
              <a:t>) на основе существующих сырых данных с целью улучшения качества прогнозов машинного обучения</a:t>
            </a:r>
          </a:p>
          <a:p>
            <a:endParaRPr lang="ru-RU" sz="2000" b="1" dirty="0"/>
          </a:p>
          <a:p>
            <a:r>
              <a:rPr lang="ru-RU" sz="2000" b="1" dirty="0"/>
              <a:t>Простая аналогия:</a:t>
            </a:r>
          </a:p>
          <a:p>
            <a:r>
              <a:rPr lang="ru-RU" sz="2000" dirty="0"/>
              <a:t>Сырые данные — это мука, вода, яйца. </a:t>
            </a:r>
            <a:r>
              <a:rPr lang="ru-RU" sz="2000" dirty="0" err="1"/>
              <a:t>Feature</a:t>
            </a:r>
            <a:r>
              <a:rPr lang="ru-RU" sz="2000" dirty="0"/>
              <a:t> Engineering — это процесс приготовления теста, раскатки и начинки, чтобы превратить их в пельмени, которые модель сможет легко «съесть» и «переварить»</a:t>
            </a:r>
          </a:p>
          <a:p>
            <a:endParaRPr lang="ru-RU" sz="2000" b="1" dirty="0"/>
          </a:p>
          <a:p>
            <a:r>
              <a:rPr lang="ru-RU" sz="2000" b="1" dirty="0"/>
              <a:t>Основная цель:</a:t>
            </a:r>
          </a:p>
          <a:p>
            <a:r>
              <a:rPr lang="ru-RU" sz="2000" dirty="0"/>
              <a:t>Сделать скрытые в данных закономерности более явными и понятными для алгоритма</a:t>
            </a:r>
          </a:p>
          <a:p>
            <a:endParaRPr lang="ru-RU" sz="2000" b="1" dirty="0"/>
          </a:p>
        </p:txBody>
      </p:sp>
      <p:sp>
        <p:nvSpPr>
          <p:cNvPr id="19" name="AutoShape 17">
            <a:extLst>
              <a:ext uri="{FF2B5EF4-FFF2-40B4-BE49-F238E27FC236}">
                <a16:creationId xmlns:a16="http://schemas.microsoft.com/office/drawing/2014/main" id="{4CE35DD5-8B10-12A1-1F09-61C7727357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1777612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C45A2-1D74-500C-BD14-A594ED702967}"/>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38DF1403-6D16-1104-75B6-A8690584BFC6}"/>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63B0700F-E6E6-6290-FD16-E6459FE70630}"/>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7C06154D-2A80-9AA9-64A0-55A801EE755A}"/>
              </a:ext>
            </a:extLst>
          </p:cNvPr>
          <p:cNvSpPr>
            <a:spLocks noGrp="1"/>
          </p:cNvSpPr>
          <p:nvPr>
            <p:ph type="title"/>
          </p:nvPr>
        </p:nvSpPr>
        <p:spPr/>
        <p:txBody>
          <a:bodyPr>
            <a:normAutofit/>
          </a:bodyPr>
          <a:lstStyle/>
          <a:p>
            <a:r>
              <a:rPr lang="ru-RU" sz="3600" dirty="0"/>
              <a:t>Формирование признаков (</a:t>
            </a:r>
            <a:r>
              <a:rPr lang="en-US" sz="3600" dirty="0"/>
              <a:t>Feature engineering)</a:t>
            </a:r>
            <a:endParaRPr lang="ru-RU" sz="3600" dirty="0"/>
          </a:p>
        </p:txBody>
      </p:sp>
      <p:sp>
        <p:nvSpPr>
          <p:cNvPr id="6" name="Текст 5">
            <a:extLst>
              <a:ext uri="{FF2B5EF4-FFF2-40B4-BE49-F238E27FC236}">
                <a16:creationId xmlns:a16="http://schemas.microsoft.com/office/drawing/2014/main" id="{334B9B71-65B6-31A0-FEEA-616097E6B2E0}"/>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AF04C055-6E4C-B0B4-258D-CFCD2E262A1E}"/>
              </a:ext>
            </a:extLst>
          </p:cNvPr>
          <p:cNvSpPr>
            <a:spLocks noChangeArrowheads="1"/>
          </p:cNvSpPr>
          <p:nvPr/>
        </p:nvSpPr>
        <p:spPr bwMode="auto">
          <a:xfrm>
            <a:off x="585896" y="2114318"/>
            <a:ext cx="10441767" cy="3170099"/>
          </a:xfrm>
          <a:prstGeom prst="rect">
            <a:avLst/>
          </a:prstGeom>
          <a:noFill/>
        </p:spPr>
        <p:txBody>
          <a:bodyPr wrap="square" rtlCol="0">
            <a:spAutoFit/>
          </a:bodyPr>
          <a:lstStyle/>
          <a:p>
            <a:r>
              <a:rPr lang="ru-RU" sz="2000" b="1" dirty="0"/>
              <a:t>Пример 1:</a:t>
            </a:r>
          </a:p>
          <a:p>
            <a:r>
              <a:rPr lang="ru-RU" sz="2000" dirty="0"/>
              <a:t>Вы разрабатываете модель оценки рисков сердечно-сосудистых заболеваний на основании данных приёма в терапевта в поликлинике.</a:t>
            </a:r>
            <a:br>
              <a:rPr lang="ru-RU" sz="2000" dirty="0"/>
            </a:br>
            <a:r>
              <a:rPr lang="ru-RU" sz="2000" dirty="0"/>
              <a:t>У вас есть табличные данные, собранные во время приёма:</a:t>
            </a:r>
          </a:p>
          <a:p>
            <a:pPr marL="342900" indent="-342900">
              <a:buFont typeface="Arial" panose="020B0604020202020204" pitchFamily="34" charset="0"/>
              <a:buChar char="•"/>
            </a:pPr>
            <a:r>
              <a:rPr lang="ru-RU" sz="2000" dirty="0"/>
              <a:t>Дата приёма</a:t>
            </a:r>
          </a:p>
          <a:p>
            <a:pPr marL="342900" indent="-342900">
              <a:buFont typeface="Arial" panose="020B0604020202020204" pitchFamily="34" charset="0"/>
              <a:buChar char="•"/>
            </a:pPr>
            <a:r>
              <a:rPr lang="ru-RU" sz="2000" dirty="0"/>
              <a:t>Возраст</a:t>
            </a:r>
          </a:p>
          <a:p>
            <a:pPr marL="342900" indent="-342900">
              <a:buFont typeface="Arial" panose="020B0604020202020204" pitchFamily="34" charset="0"/>
              <a:buChar char="•"/>
            </a:pPr>
            <a:r>
              <a:rPr lang="ru-RU" sz="2000" dirty="0"/>
              <a:t>Пол</a:t>
            </a:r>
          </a:p>
          <a:p>
            <a:pPr marL="342900" indent="-342900">
              <a:buFont typeface="Arial" panose="020B0604020202020204" pitchFamily="34" charset="0"/>
              <a:buChar char="•"/>
            </a:pPr>
            <a:r>
              <a:rPr lang="ru-RU" sz="2000" dirty="0"/>
              <a:t>Рост</a:t>
            </a:r>
          </a:p>
          <a:p>
            <a:pPr marL="342900" indent="-342900">
              <a:buFont typeface="Arial" panose="020B0604020202020204" pitchFamily="34" charset="0"/>
              <a:buChar char="•"/>
            </a:pPr>
            <a:r>
              <a:rPr lang="ru-RU" sz="2000" dirty="0"/>
              <a:t>Вес</a:t>
            </a:r>
          </a:p>
          <a:p>
            <a:pPr marL="342900" indent="-342900">
              <a:buFont typeface="Arial" panose="020B0604020202020204" pitchFamily="34" charset="0"/>
              <a:buChar char="•"/>
            </a:pPr>
            <a:r>
              <a:rPr lang="ru-RU" sz="2000" dirty="0"/>
              <a:t>Артериальное давление</a:t>
            </a:r>
          </a:p>
        </p:txBody>
      </p:sp>
      <p:sp>
        <p:nvSpPr>
          <p:cNvPr id="19" name="AutoShape 17">
            <a:extLst>
              <a:ext uri="{FF2B5EF4-FFF2-40B4-BE49-F238E27FC236}">
                <a16:creationId xmlns:a16="http://schemas.microsoft.com/office/drawing/2014/main" id="{41FB3D58-56A7-66E9-547A-ACC1FD3A519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Rectangle 11">
            <a:extLst>
              <a:ext uri="{FF2B5EF4-FFF2-40B4-BE49-F238E27FC236}">
                <a16:creationId xmlns:a16="http://schemas.microsoft.com/office/drawing/2014/main" id="{FEC9A9E0-0955-9AC1-9486-E0F9F762653C}"/>
              </a:ext>
            </a:extLst>
          </p:cNvPr>
          <p:cNvSpPr>
            <a:spLocks noChangeArrowheads="1"/>
          </p:cNvSpPr>
          <p:nvPr/>
        </p:nvSpPr>
        <p:spPr bwMode="auto">
          <a:xfrm>
            <a:off x="585897" y="5509954"/>
            <a:ext cx="10441767" cy="707886"/>
          </a:xfrm>
          <a:prstGeom prst="rect">
            <a:avLst/>
          </a:prstGeom>
          <a:noFill/>
        </p:spPr>
        <p:txBody>
          <a:bodyPr wrap="square" rtlCol="0">
            <a:spAutoFit/>
          </a:bodyPr>
          <a:lstStyle/>
          <a:p>
            <a:r>
              <a:rPr lang="en-US" sz="2000" b="1" dirty="0"/>
              <a:t>Feature engineering</a:t>
            </a:r>
            <a:r>
              <a:rPr lang="ru-RU" sz="2000" b="1" dirty="0"/>
              <a:t>:</a:t>
            </a:r>
          </a:p>
          <a:p>
            <a:r>
              <a:rPr lang="ru-RU" sz="2000" dirty="0"/>
              <a:t>Создать столбец с данными индекса массы тела (ИМТ – вес/рост</a:t>
            </a:r>
            <a:r>
              <a:rPr lang="en-US" sz="2000" dirty="0"/>
              <a:t>^2)</a:t>
            </a:r>
            <a:endParaRPr lang="ru-RU" sz="2000" dirty="0"/>
          </a:p>
        </p:txBody>
      </p:sp>
    </p:spTree>
    <p:extLst>
      <p:ext uri="{BB962C8B-B14F-4D97-AF65-F5344CB8AC3E}">
        <p14:creationId xmlns:p14="http://schemas.microsoft.com/office/powerpoint/2010/main" val="1420218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FD988-E320-9075-26B2-290FBF5C319F}"/>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B15C87BA-5C9C-6CDA-2024-8715ACB90467}"/>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5E9013FF-9B0B-910C-7C51-6A0025AF82ED}"/>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0BB418EB-75E4-9227-683C-FEE22D907D1B}"/>
              </a:ext>
            </a:extLst>
          </p:cNvPr>
          <p:cNvSpPr>
            <a:spLocks noGrp="1"/>
          </p:cNvSpPr>
          <p:nvPr>
            <p:ph type="title"/>
          </p:nvPr>
        </p:nvSpPr>
        <p:spPr/>
        <p:txBody>
          <a:bodyPr>
            <a:normAutofit/>
          </a:bodyPr>
          <a:lstStyle/>
          <a:p>
            <a:r>
              <a:rPr lang="ru-RU" sz="3600" dirty="0"/>
              <a:t>Формирование признаков (</a:t>
            </a:r>
            <a:r>
              <a:rPr lang="en-US" sz="3600" dirty="0"/>
              <a:t>Feature engineering)</a:t>
            </a:r>
            <a:endParaRPr lang="ru-RU" sz="3600" dirty="0"/>
          </a:p>
        </p:txBody>
      </p:sp>
      <p:sp>
        <p:nvSpPr>
          <p:cNvPr id="6" name="Текст 5">
            <a:extLst>
              <a:ext uri="{FF2B5EF4-FFF2-40B4-BE49-F238E27FC236}">
                <a16:creationId xmlns:a16="http://schemas.microsoft.com/office/drawing/2014/main" id="{4AD0891B-4287-657C-D384-17A7F716ACF1}"/>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E77493F6-6149-0DA1-9A3E-170FD1B8B4D3}"/>
              </a:ext>
            </a:extLst>
          </p:cNvPr>
          <p:cNvSpPr>
            <a:spLocks noChangeArrowheads="1"/>
          </p:cNvSpPr>
          <p:nvPr/>
        </p:nvSpPr>
        <p:spPr bwMode="auto">
          <a:xfrm>
            <a:off x="585896" y="2114318"/>
            <a:ext cx="10441767" cy="3477875"/>
          </a:xfrm>
          <a:prstGeom prst="rect">
            <a:avLst/>
          </a:prstGeom>
          <a:noFill/>
        </p:spPr>
        <p:txBody>
          <a:bodyPr wrap="square" rtlCol="0">
            <a:spAutoFit/>
          </a:bodyPr>
          <a:lstStyle/>
          <a:p>
            <a:r>
              <a:rPr lang="ru-RU" sz="2000" b="1" dirty="0"/>
              <a:t>Пример 2:</a:t>
            </a:r>
          </a:p>
          <a:p>
            <a:r>
              <a:rPr lang="ru-RU" sz="2000" dirty="0"/>
              <a:t>Вы работаете на оператора связи и должны обучить модель предсказания ухода клиента к другому оператору (0 – останется, 1 – уйдет)</a:t>
            </a:r>
            <a:br>
              <a:rPr lang="ru-RU" sz="2000" dirty="0"/>
            </a:br>
            <a:r>
              <a:rPr lang="ru-RU" sz="2000" dirty="0"/>
              <a:t>У вас есть все данные о текущем статусе клиента:</a:t>
            </a:r>
          </a:p>
          <a:p>
            <a:pPr marL="342900" indent="-342900">
              <a:buFont typeface="Arial" panose="020B0604020202020204" pitchFamily="34" charset="0"/>
              <a:buChar char="•"/>
            </a:pPr>
            <a:r>
              <a:rPr lang="ru-RU" sz="2000" dirty="0"/>
              <a:t>Дата заключения договора</a:t>
            </a:r>
          </a:p>
          <a:p>
            <a:pPr marL="342900" indent="-342900">
              <a:buFont typeface="Arial" panose="020B0604020202020204" pitchFamily="34" charset="0"/>
              <a:buChar char="•"/>
            </a:pPr>
            <a:r>
              <a:rPr lang="ru-RU" sz="2000" dirty="0"/>
              <a:t>Возраст</a:t>
            </a:r>
          </a:p>
          <a:p>
            <a:pPr marL="342900" indent="-342900">
              <a:buFont typeface="Arial" panose="020B0604020202020204" pitchFamily="34" charset="0"/>
              <a:buChar char="•"/>
            </a:pPr>
            <a:r>
              <a:rPr lang="ru-RU" sz="2000" dirty="0"/>
              <a:t>Семейный статус (женат/замужем)</a:t>
            </a:r>
          </a:p>
          <a:p>
            <a:pPr marL="342900" indent="-342900">
              <a:buFont typeface="Arial" panose="020B0604020202020204" pitchFamily="34" charset="0"/>
              <a:buChar char="•"/>
            </a:pPr>
            <a:r>
              <a:rPr lang="ru-RU" sz="2000" dirty="0"/>
              <a:t>Текущий тариф</a:t>
            </a:r>
          </a:p>
          <a:p>
            <a:pPr marL="342900" indent="-342900">
              <a:buFont typeface="Arial" panose="020B0604020202020204" pitchFamily="34" charset="0"/>
              <a:buChar char="•"/>
            </a:pPr>
            <a:r>
              <a:rPr lang="ru-RU" sz="2000" dirty="0"/>
              <a:t>Количество подключенных дополнительных услуг</a:t>
            </a:r>
          </a:p>
          <a:p>
            <a:pPr marL="342900" indent="-342900">
              <a:buFont typeface="Arial" panose="020B0604020202020204" pitchFamily="34" charset="0"/>
              <a:buChar char="•"/>
            </a:pPr>
            <a:r>
              <a:rPr lang="ru-RU" sz="2000" dirty="0"/>
              <a:t>Среднее количество использованных минут/</a:t>
            </a:r>
            <a:r>
              <a:rPr lang="en-US" sz="2000" dirty="0"/>
              <a:t>SMS/</a:t>
            </a:r>
            <a:r>
              <a:rPr lang="ru-RU" sz="2000" dirty="0"/>
              <a:t>интернета в месяц</a:t>
            </a:r>
          </a:p>
          <a:p>
            <a:pPr marL="342900" indent="-342900">
              <a:buFont typeface="Arial" panose="020B0604020202020204" pitchFamily="34" charset="0"/>
              <a:buChar char="•"/>
            </a:pPr>
            <a:endParaRPr lang="ru-RU" sz="2000" dirty="0"/>
          </a:p>
        </p:txBody>
      </p:sp>
      <p:sp>
        <p:nvSpPr>
          <p:cNvPr id="19" name="AutoShape 17">
            <a:extLst>
              <a:ext uri="{FF2B5EF4-FFF2-40B4-BE49-F238E27FC236}">
                <a16:creationId xmlns:a16="http://schemas.microsoft.com/office/drawing/2014/main" id="{373CCB4D-8F0E-3607-37F9-5AB3FF63619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Rectangle 11">
            <a:extLst>
              <a:ext uri="{FF2B5EF4-FFF2-40B4-BE49-F238E27FC236}">
                <a16:creationId xmlns:a16="http://schemas.microsoft.com/office/drawing/2014/main" id="{38AD6E01-F7AA-5D72-B84F-516AEEF6F6D3}"/>
              </a:ext>
            </a:extLst>
          </p:cNvPr>
          <p:cNvSpPr>
            <a:spLocks noChangeArrowheads="1"/>
          </p:cNvSpPr>
          <p:nvPr/>
        </p:nvSpPr>
        <p:spPr bwMode="auto">
          <a:xfrm>
            <a:off x="585895" y="5527571"/>
            <a:ext cx="10441767" cy="707886"/>
          </a:xfrm>
          <a:prstGeom prst="rect">
            <a:avLst/>
          </a:prstGeom>
          <a:noFill/>
        </p:spPr>
        <p:txBody>
          <a:bodyPr wrap="square" rtlCol="0">
            <a:spAutoFit/>
          </a:bodyPr>
          <a:lstStyle/>
          <a:p>
            <a:r>
              <a:rPr lang="en-US" sz="2000" b="1" dirty="0"/>
              <a:t>Feature engineering</a:t>
            </a:r>
            <a:r>
              <a:rPr lang="ru-RU" sz="2000" b="1" dirty="0"/>
              <a:t>:</a:t>
            </a:r>
          </a:p>
          <a:p>
            <a:r>
              <a:rPr lang="ru-RU" sz="2000" dirty="0"/>
              <a:t>Заменить столбец даты на столбец «Длительность контракта» (текущая дата – дата договора)</a:t>
            </a:r>
          </a:p>
        </p:txBody>
      </p:sp>
    </p:spTree>
    <p:extLst>
      <p:ext uri="{BB962C8B-B14F-4D97-AF65-F5344CB8AC3E}">
        <p14:creationId xmlns:p14="http://schemas.microsoft.com/office/powerpoint/2010/main" val="132541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08CE-7154-28A1-B30A-B5486FBB9EB8}"/>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B3737F8E-C857-3796-40C5-687D7A838664}"/>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854B5F36-ADC8-5AC2-AD20-47FE3E18BFE7}"/>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8B14E4A4-8135-6DF5-2640-9A8F45D2AA48}"/>
              </a:ext>
            </a:extLst>
          </p:cNvPr>
          <p:cNvSpPr>
            <a:spLocks noGrp="1"/>
          </p:cNvSpPr>
          <p:nvPr>
            <p:ph type="title"/>
          </p:nvPr>
        </p:nvSpPr>
        <p:spPr/>
        <p:txBody>
          <a:bodyPr>
            <a:normAutofit/>
          </a:bodyPr>
          <a:lstStyle/>
          <a:p>
            <a:r>
              <a:rPr lang="ru-RU" sz="3600" dirty="0"/>
              <a:t>Формирование признаков (</a:t>
            </a:r>
            <a:r>
              <a:rPr lang="en-US" sz="3600" dirty="0"/>
              <a:t>Feature engineering)</a:t>
            </a:r>
            <a:endParaRPr lang="ru-RU" sz="3600" dirty="0"/>
          </a:p>
        </p:txBody>
      </p:sp>
      <p:sp>
        <p:nvSpPr>
          <p:cNvPr id="6" name="Текст 5">
            <a:extLst>
              <a:ext uri="{FF2B5EF4-FFF2-40B4-BE49-F238E27FC236}">
                <a16:creationId xmlns:a16="http://schemas.microsoft.com/office/drawing/2014/main" id="{D38A4781-FDE8-8FF3-99E2-D4F2E13B6B98}"/>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88C5AB0D-2478-17A1-E9D1-EE2D051F4600}"/>
              </a:ext>
            </a:extLst>
          </p:cNvPr>
          <p:cNvSpPr>
            <a:spLocks noChangeArrowheads="1"/>
          </p:cNvSpPr>
          <p:nvPr/>
        </p:nvSpPr>
        <p:spPr bwMode="auto">
          <a:xfrm>
            <a:off x="585896" y="2114318"/>
            <a:ext cx="10441767" cy="3170099"/>
          </a:xfrm>
          <a:prstGeom prst="rect">
            <a:avLst/>
          </a:prstGeom>
          <a:noFill/>
        </p:spPr>
        <p:txBody>
          <a:bodyPr wrap="square" rtlCol="0">
            <a:spAutoFit/>
          </a:bodyPr>
          <a:lstStyle/>
          <a:p>
            <a:r>
              <a:rPr lang="ru-RU" sz="2000" b="1" dirty="0"/>
              <a:t>Пример 3:</a:t>
            </a:r>
          </a:p>
          <a:p>
            <a:r>
              <a:rPr lang="ru-RU" sz="2000" dirty="0"/>
              <a:t>Вы разрабатываете модель для помощи врачам в автоматическом определении стадии заболевания по данным опухоли на УЗИ.</a:t>
            </a:r>
            <a:br>
              <a:rPr lang="ru-RU" sz="2000" dirty="0"/>
            </a:br>
            <a:r>
              <a:rPr lang="ru-RU" sz="2000" dirty="0"/>
              <a:t>У вас есть табличные данные о проведенном исследовании:</a:t>
            </a:r>
          </a:p>
          <a:p>
            <a:pPr marL="342900" indent="-342900">
              <a:buFont typeface="Arial" panose="020B0604020202020204" pitchFamily="34" charset="0"/>
              <a:buChar char="•"/>
            </a:pPr>
            <a:r>
              <a:rPr lang="ru-RU" sz="2000" dirty="0"/>
              <a:t>Дата проведения исследования</a:t>
            </a:r>
          </a:p>
          <a:p>
            <a:pPr marL="342900" indent="-342900">
              <a:buFont typeface="Arial" panose="020B0604020202020204" pitchFamily="34" charset="0"/>
              <a:buChar char="•"/>
            </a:pPr>
            <a:r>
              <a:rPr lang="ru-RU" sz="2000" dirty="0"/>
              <a:t>Возраст/пол</a:t>
            </a:r>
          </a:p>
          <a:p>
            <a:pPr marL="342900" indent="-342900">
              <a:buFont typeface="Arial" panose="020B0604020202020204" pitchFamily="34" charset="0"/>
              <a:buChar char="•"/>
            </a:pPr>
            <a:r>
              <a:rPr lang="ru-RU" sz="2000" dirty="0"/>
              <a:t>Контуры и границы (четкость/ровность)</a:t>
            </a:r>
          </a:p>
          <a:p>
            <a:pPr marL="342900" indent="-342900">
              <a:buFont typeface="Arial" panose="020B0604020202020204" pitchFamily="34" charset="0"/>
              <a:buChar char="•"/>
            </a:pPr>
            <a:r>
              <a:rPr lang="ru-RU" sz="2000" dirty="0"/>
              <a:t>Структура и </a:t>
            </a:r>
            <a:r>
              <a:rPr lang="ru-RU" sz="2000" dirty="0" err="1"/>
              <a:t>эхогенность</a:t>
            </a:r>
            <a:endParaRPr lang="ru-RU" sz="2000" dirty="0"/>
          </a:p>
          <a:p>
            <a:pPr marL="342900" indent="-342900">
              <a:buFont typeface="Arial" panose="020B0604020202020204" pitchFamily="34" charset="0"/>
              <a:buChar char="•"/>
            </a:pPr>
            <a:r>
              <a:rPr lang="ru-RU" sz="2000" dirty="0"/>
              <a:t>Линейные размеры опухоли (длина/ширина/высота)</a:t>
            </a:r>
          </a:p>
          <a:p>
            <a:pPr marL="342900" indent="-342900">
              <a:buFont typeface="Arial" panose="020B0604020202020204" pitchFamily="34" charset="0"/>
              <a:buChar char="•"/>
            </a:pPr>
            <a:r>
              <a:rPr lang="ru-RU" sz="2000" dirty="0"/>
              <a:t>Наличие жидкостных компонентов (есть/нет)</a:t>
            </a:r>
          </a:p>
        </p:txBody>
      </p:sp>
      <p:sp>
        <p:nvSpPr>
          <p:cNvPr id="19" name="AutoShape 17">
            <a:extLst>
              <a:ext uri="{FF2B5EF4-FFF2-40B4-BE49-F238E27FC236}">
                <a16:creationId xmlns:a16="http://schemas.microsoft.com/office/drawing/2014/main" id="{7E23B043-3E0A-B068-16C8-0C6BAF1E08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Rectangle 11">
            <a:extLst>
              <a:ext uri="{FF2B5EF4-FFF2-40B4-BE49-F238E27FC236}">
                <a16:creationId xmlns:a16="http://schemas.microsoft.com/office/drawing/2014/main" id="{85030E69-3D92-FE3E-6715-3C4FE1B1F5EB}"/>
              </a:ext>
            </a:extLst>
          </p:cNvPr>
          <p:cNvSpPr>
            <a:spLocks noChangeArrowheads="1"/>
          </p:cNvSpPr>
          <p:nvPr/>
        </p:nvSpPr>
        <p:spPr bwMode="auto">
          <a:xfrm>
            <a:off x="585897" y="5509954"/>
            <a:ext cx="10441767" cy="707886"/>
          </a:xfrm>
          <a:prstGeom prst="rect">
            <a:avLst/>
          </a:prstGeom>
          <a:noFill/>
        </p:spPr>
        <p:txBody>
          <a:bodyPr wrap="square" rtlCol="0">
            <a:spAutoFit/>
          </a:bodyPr>
          <a:lstStyle/>
          <a:p>
            <a:r>
              <a:rPr lang="en-US" sz="2000" b="1" dirty="0"/>
              <a:t>Feature engineering</a:t>
            </a:r>
            <a:r>
              <a:rPr lang="ru-RU" sz="2000" b="1" dirty="0"/>
              <a:t>:</a:t>
            </a:r>
          </a:p>
          <a:p>
            <a:r>
              <a:rPr lang="ru-RU" sz="2000" dirty="0"/>
              <a:t>Заменит/дополнить линейные размеры объёмом опухоли (длина * ширина * высота)</a:t>
            </a:r>
          </a:p>
        </p:txBody>
      </p:sp>
    </p:spTree>
    <p:extLst>
      <p:ext uri="{BB962C8B-B14F-4D97-AF65-F5344CB8AC3E}">
        <p14:creationId xmlns:p14="http://schemas.microsoft.com/office/powerpoint/2010/main" val="343821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CAF6-BE4D-0973-0304-DC0E2E8A1259}"/>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B74B748A-308F-A3CC-759C-8B47328B9272}"/>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0FF5B785-C5B8-06A5-6FB5-FA2B8BC8ADB7}"/>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A3BB4361-A9CD-C932-A7FA-8081506553D4}"/>
              </a:ext>
            </a:extLst>
          </p:cNvPr>
          <p:cNvSpPr>
            <a:spLocks noGrp="1"/>
          </p:cNvSpPr>
          <p:nvPr>
            <p:ph type="title"/>
          </p:nvPr>
        </p:nvSpPr>
        <p:spPr/>
        <p:txBody>
          <a:bodyPr>
            <a:normAutofit/>
          </a:bodyPr>
          <a:lstStyle/>
          <a:p>
            <a:r>
              <a:rPr lang="ru-RU" sz="3600" dirty="0"/>
              <a:t>Воодушевляющий пример: </a:t>
            </a:r>
            <a:r>
              <a:rPr lang="en-US" sz="3600" dirty="0"/>
              <a:t>AlphaFold</a:t>
            </a:r>
            <a:endParaRPr lang="ru-RU" sz="3600" dirty="0"/>
          </a:p>
        </p:txBody>
      </p:sp>
      <p:sp>
        <p:nvSpPr>
          <p:cNvPr id="6" name="Текст 5">
            <a:extLst>
              <a:ext uri="{FF2B5EF4-FFF2-40B4-BE49-F238E27FC236}">
                <a16:creationId xmlns:a16="http://schemas.microsoft.com/office/drawing/2014/main" id="{588DD5DE-A839-6BE8-1CB4-8ED88E332844}"/>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203861B1-36C9-E4CB-CA71-85E3B2C36398}"/>
              </a:ext>
            </a:extLst>
          </p:cNvPr>
          <p:cNvSpPr>
            <a:spLocks noChangeArrowheads="1"/>
          </p:cNvSpPr>
          <p:nvPr/>
        </p:nvSpPr>
        <p:spPr bwMode="auto">
          <a:xfrm>
            <a:off x="585897" y="2114318"/>
            <a:ext cx="9161608" cy="4401205"/>
          </a:xfrm>
          <a:prstGeom prst="rect">
            <a:avLst/>
          </a:prstGeom>
          <a:noFill/>
        </p:spPr>
        <p:txBody>
          <a:bodyPr wrap="square" rtlCol="0">
            <a:spAutoFit/>
          </a:bodyPr>
          <a:lstStyle/>
          <a:p>
            <a:r>
              <a:rPr lang="en-US" sz="2000" b="1" dirty="0"/>
              <a:t>AlphaFold</a:t>
            </a:r>
            <a:r>
              <a:rPr lang="en-US" sz="2000" dirty="0"/>
              <a:t> – </a:t>
            </a:r>
            <a:r>
              <a:rPr lang="ru-RU" sz="2000" dirty="0"/>
              <a:t>алгоритм от </a:t>
            </a:r>
            <a:r>
              <a:rPr lang="en-US" sz="2000" dirty="0"/>
              <a:t>DeepMind (2020), </a:t>
            </a:r>
            <a:r>
              <a:rPr lang="ru-RU" sz="2000" dirty="0"/>
              <a:t>который научился предсказывать 3D-структуру белка по его аминокислотной последовательности с точностью, близкой к экспериментальной. </a:t>
            </a:r>
            <a:endParaRPr lang="en-US" sz="2000" dirty="0"/>
          </a:p>
          <a:p>
            <a:endParaRPr lang="en-US" sz="2000" dirty="0"/>
          </a:p>
          <a:p>
            <a:r>
              <a:rPr lang="ru-RU" sz="2000" dirty="0"/>
              <a:t>Почему вдруг ИИ смог? Одной из ключевых причин стало наличие </a:t>
            </a:r>
            <a:r>
              <a:rPr lang="ru-RU" sz="2000" b="1" dirty="0"/>
              <a:t>большого объёма качественных данных по белкам</a:t>
            </a:r>
            <a:r>
              <a:rPr lang="en-US" sz="2000" b="1" dirty="0"/>
              <a:t> </a:t>
            </a:r>
            <a:r>
              <a:rPr lang="ru-RU" sz="2000" dirty="0"/>
              <a:t>в международной базе </a:t>
            </a:r>
            <a:r>
              <a:rPr lang="ru-RU" sz="2000" b="1" dirty="0" err="1"/>
              <a:t>Protein</a:t>
            </a:r>
            <a:r>
              <a:rPr lang="ru-RU" sz="2000" b="1" dirty="0"/>
              <a:t> Data Bank (PDB)</a:t>
            </a:r>
            <a:r>
              <a:rPr lang="ru-RU" sz="2000" dirty="0"/>
              <a:t>, где собраны все экспериментально выясненные структуры белков. </a:t>
            </a:r>
            <a:br>
              <a:rPr lang="ru-RU" sz="2000" dirty="0"/>
            </a:br>
            <a:r>
              <a:rPr lang="ru-RU" sz="2000" dirty="0"/>
              <a:t>К 2020 году там накопилось порядка 170 тысяч уникальных структур. Каждая структура – по сути пример того, как последовательность аминокислот сворачивается в пространственную форму.</a:t>
            </a:r>
            <a:endParaRPr lang="en-US" sz="2000" dirty="0"/>
          </a:p>
          <a:p>
            <a:endParaRPr lang="ru-RU" sz="2000" dirty="0"/>
          </a:p>
          <a:p>
            <a:r>
              <a:rPr lang="ru-RU" sz="2000" dirty="0"/>
              <a:t>Результат потряс сообщество: модель предсказывала форму белков с точностью ~1 ангстрем для многих случаев – это сравнимо с ошибкой экспериментальных методов. </a:t>
            </a:r>
            <a:r>
              <a:rPr lang="ru-RU" sz="2000" b="1" dirty="0"/>
              <a:t>Высококачественные данные стали топливом</a:t>
            </a:r>
            <a:r>
              <a:rPr lang="ru-RU" sz="2000" dirty="0"/>
              <a:t>.</a:t>
            </a:r>
            <a:endParaRPr lang="en-US" sz="2000" dirty="0"/>
          </a:p>
        </p:txBody>
      </p:sp>
      <p:sp>
        <p:nvSpPr>
          <p:cNvPr id="19" name="AutoShape 17">
            <a:extLst>
              <a:ext uri="{FF2B5EF4-FFF2-40B4-BE49-F238E27FC236}">
                <a16:creationId xmlns:a16="http://schemas.microsoft.com/office/drawing/2014/main" id="{AC08FD40-63EF-20D3-7162-5C9406ACDE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146" name="Picture 2" descr="Ontologic | AlphaFold">
            <a:extLst>
              <a:ext uri="{FF2B5EF4-FFF2-40B4-BE49-F238E27FC236}">
                <a16:creationId xmlns:a16="http://schemas.microsoft.com/office/drawing/2014/main" id="{24A7FBB4-5FC5-159B-B9F4-9B77DFDBE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28874" y="3075432"/>
            <a:ext cx="2133610" cy="2133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456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CAF6-BE4D-0973-0304-DC0E2E8A1259}"/>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B74B748A-308F-A3CC-759C-8B47328B9272}"/>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0FF5B785-C5B8-06A5-6FB5-FA2B8BC8ADB7}"/>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A3BB4361-A9CD-C932-A7FA-8081506553D4}"/>
              </a:ext>
            </a:extLst>
          </p:cNvPr>
          <p:cNvSpPr>
            <a:spLocks noGrp="1"/>
          </p:cNvSpPr>
          <p:nvPr>
            <p:ph type="title"/>
          </p:nvPr>
        </p:nvSpPr>
        <p:spPr>
          <a:xfrm>
            <a:off x="585897" y="1447790"/>
            <a:ext cx="10183703" cy="777025"/>
          </a:xfrm>
        </p:spPr>
        <p:txBody>
          <a:bodyPr>
            <a:noAutofit/>
          </a:bodyPr>
          <a:lstStyle/>
          <a:p>
            <a:r>
              <a:rPr lang="ru-RU" sz="3600" dirty="0"/>
              <a:t>Воодушевляющий пример: </a:t>
            </a:r>
            <a:br>
              <a:rPr lang="ru-RU" sz="3600" dirty="0"/>
            </a:br>
            <a:r>
              <a:rPr lang="ru-RU" sz="3600" dirty="0"/>
              <a:t>Диабетическая ретинопатия</a:t>
            </a:r>
          </a:p>
        </p:txBody>
      </p:sp>
      <p:sp>
        <p:nvSpPr>
          <p:cNvPr id="6" name="Текст 5">
            <a:extLst>
              <a:ext uri="{FF2B5EF4-FFF2-40B4-BE49-F238E27FC236}">
                <a16:creationId xmlns:a16="http://schemas.microsoft.com/office/drawing/2014/main" id="{588DD5DE-A839-6BE8-1CB4-8ED88E332844}"/>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7" name="Rectangle 11">
            <a:extLst>
              <a:ext uri="{FF2B5EF4-FFF2-40B4-BE49-F238E27FC236}">
                <a16:creationId xmlns:a16="http://schemas.microsoft.com/office/drawing/2014/main" id="{203861B1-36C9-E4CB-CA71-85E3B2C36398}"/>
              </a:ext>
            </a:extLst>
          </p:cNvPr>
          <p:cNvSpPr>
            <a:spLocks noChangeArrowheads="1"/>
          </p:cNvSpPr>
          <p:nvPr/>
        </p:nvSpPr>
        <p:spPr bwMode="auto">
          <a:xfrm>
            <a:off x="484296" y="2715776"/>
            <a:ext cx="10003081" cy="3785652"/>
          </a:xfrm>
          <a:prstGeom prst="rect">
            <a:avLst/>
          </a:prstGeom>
          <a:noFill/>
        </p:spPr>
        <p:txBody>
          <a:bodyPr wrap="square" rtlCol="0">
            <a:spAutoFit/>
          </a:bodyPr>
          <a:lstStyle/>
          <a:p>
            <a:r>
              <a:rPr lang="ru-RU" sz="2400" dirty="0"/>
              <a:t>Благодаря </a:t>
            </a:r>
            <a:r>
              <a:rPr lang="ru-RU" sz="2400" b="1" dirty="0"/>
              <a:t>128 тыс. размеченных снимков глазного дна </a:t>
            </a:r>
            <a:r>
              <a:rPr lang="en-US" sz="2400" dirty="0"/>
              <a:t>Google </a:t>
            </a:r>
            <a:r>
              <a:rPr lang="ru-RU" sz="2400" dirty="0"/>
              <a:t>смогли обучить модель для заблаговременного определения повреждений сетчатки</a:t>
            </a:r>
          </a:p>
          <a:p>
            <a:endParaRPr lang="ru-RU" sz="2400" dirty="0"/>
          </a:p>
          <a:p>
            <a:r>
              <a:rPr lang="ru-RU" sz="2400" b="1" dirty="0"/>
              <a:t>Особенности</a:t>
            </a:r>
            <a:r>
              <a:rPr lang="ru-RU" sz="2400" dirty="0"/>
              <a:t>:</a:t>
            </a:r>
          </a:p>
          <a:p>
            <a:pPr marL="342900" indent="-342900">
              <a:buFont typeface="Arial" panose="020B0604020202020204" pitchFamily="34" charset="0"/>
              <a:buChar char="•"/>
            </a:pPr>
            <a:r>
              <a:rPr lang="ru-RU" sz="2400" dirty="0"/>
              <a:t>Высокое качество изображений</a:t>
            </a:r>
          </a:p>
          <a:p>
            <a:pPr marL="342900" indent="-342900">
              <a:buFont typeface="Arial" panose="020B0604020202020204" pitchFamily="34" charset="0"/>
              <a:buChar char="•"/>
            </a:pPr>
            <a:r>
              <a:rPr lang="ru-RU" sz="2400" dirty="0"/>
              <a:t>Профессионально размеченные данные</a:t>
            </a:r>
          </a:p>
          <a:p>
            <a:pPr marL="342900" indent="-342900">
              <a:buFont typeface="Arial" panose="020B0604020202020204" pitchFamily="34" charset="0"/>
              <a:buChar char="•"/>
            </a:pPr>
            <a:r>
              <a:rPr lang="ru-RU" sz="2400" dirty="0"/>
              <a:t>Диверсифицированные данные (разные камеры, пациенты, больницы)</a:t>
            </a:r>
          </a:p>
          <a:p>
            <a:pPr marL="342900" indent="-342900">
              <a:buFont typeface="Arial" panose="020B0604020202020204" pitchFamily="34" charset="0"/>
              <a:buChar char="•"/>
            </a:pPr>
            <a:r>
              <a:rPr lang="en-US" sz="2400" b="1" dirty="0"/>
              <a:t>~</a:t>
            </a:r>
            <a:r>
              <a:rPr lang="ru-RU" sz="2400" b="1" dirty="0"/>
              <a:t>95%</a:t>
            </a:r>
            <a:r>
              <a:rPr lang="ru-RU" sz="2400" dirty="0"/>
              <a:t> чувствительности, </a:t>
            </a:r>
            <a:r>
              <a:rPr lang="en-US" sz="2400" dirty="0"/>
              <a:t>~</a:t>
            </a:r>
            <a:r>
              <a:rPr lang="ru-RU" sz="2400" b="1" dirty="0"/>
              <a:t>90%</a:t>
            </a:r>
            <a:r>
              <a:rPr lang="ru-RU" sz="2400" dirty="0"/>
              <a:t> специфичности – сопоставимо с качеством врачебного анализа</a:t>
            </a:r>
            <a:endParaRPr lang="en-US" sz="2400" dirty="0"/>
          </a:p>
        </p:txBody>
      </p:sp>
      <p:sp>
        <p:nvSpPr>
          <p:cNvPr id="19" name="AutoShape 17">
            <a:extLst>
              <a:ext uri="{FF2B5EF4-FFF2-40B4-BE49-F238E27FC236}">
                <a16:creationId xmlns:a16="http://schemas.microsoft.com/office/drawing/2014/main" id="{AC08FD40-63EF-20D3-7162-5C9406ACDE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3988786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67D85-0E86-1067-57D6-CB39A9CC6543}"/>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6ED34B56-EFC7-A532-843C-C263C31C8BFC}"/>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A17F4C60-9AA5-0BEC-99FF-E37BA49330E7}"/>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01D68AF6-41D7-A789-2557-5D11C1D4EA8F}"/>
              </a:ext>
            </a:extLst>
          </p:cNvPr>
          <p:cNvSpPr>
            <a:spLocks noGrp="1"/>
          </p:cNvSpPr>
          <p:nvPr>
            <p:ph type="title"/>
          </p:nvPr>
        </p:nvSpPr>
        <p:spPr/>
        <p:txBody>
          <a:bodyPr>
            <a:normAutofit/>
          </a:bodyPr>
          <a:lstStyle/>
          <a:p>
            <a:r>
              <a:rPr lang="ru-RU" sz="3600" dirty="0"/>
              <a:t>Вопросы для размышления</a:t>
            </a:r>
          </a:p>
        </p:txBody>
      </p:sp>
      <p:sp>
        <p:nvSpPr>
          <p:cNvPr id="6" name="Текст 5">
            <a:extLst>
              <a:ext uri="{FF2B5EF4-FFF2-40B4-BE49-F238E27FC236}">
                <a16:creationId xmlns:a16="http://schemas.microsoft.com/office/drawing/2014/main" id="{7F55BFE9-9996-086F-1749-18E03F2BA692}"/>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3" name="TextBox 12">
            <a:extLst>
              <a:ext uri="{FF2B5EF4-FFF2-40B4-BE49-F238E27FC236}">
                <a16:creationId xmlns:a16="http://schemas.microsoft.com/office/drawing/2014/main" id="{50549DA2-86EF-E29F-928D-EEC8204C550C}"/>
              </a:ext>
            </a:extLst>
          </p:cNvPr>
          <p:cNvSpPr txBox="1"/>
          <p:nvPr/>
        </p:nvSpPr>
        <p:spPr>
          <a:xfrm>
            <a:off x="1143689" y="2296855"/>
            <a:ext cx="9286010" cy="2246769"/>
          </a:xfrm>
          <a:prstGeom prst="rect">
            <a:avLst/>
          </a:prstGeom>
          <a:noFill/>
        </p:spPr>
        <p:txBody>
          <a:bodyPr wrap="square" rtlCol="0">
            <a:spAutoFit/>
          </a:bodyPr>
          <a:lstStyle/>
          <a:p>
            <a:r>
              <a:rPr lang="ru-RU" sz="2000" b="1" dirty="0"/>
              <a:t>Вопрос 1:</a:t>
            </a:r>
            <a:r>
              <a:rPr lang="ru-RU" sz="2000" dirty="0"/>
              <a:t> Вы собираете данные для клинического исследования нового препарата для лечения астмы. Классифицируйте каждый из признаков:</a:t>
            </a:r>
          </a:p>
          <a:p>
            <a:pPr marL="342900" indent="-342900">
              <a:buFont typeface="Arial" panose="020B0604020202020204" pitchFamily="34" charset="0"/>
              <a:buChar char="•"/>
            </a:pPr>
            <a:r>
              <a:rPr lang="ru-RU" sz="2000" dirty="0"/>
              <a:t>Возраст пациента (в годах)</a:t>
            </a:r>
          </a:p>
          <a:p>
            <a:pPr marL="342900" indent="-342900">
              <a:buFont typeface="Arial" panose="020B0604020202020204" pitchFamily="34" charset="0"/>
              <a:buChar char="•"/>
            </a:pPr>
            <a:r>
              <a:rPr lang="ru-RU" sz="2000" dirty="0"/>
              <a:t>Объем форсированного выдоха за 1 секунду (ОФВ1, в литрах)</a:t>
            </a:r>
          </a:p>
          <a:p>
            <a:pPr marL="342900" indent="-342900">
              <a:buFont typeface="Arial" panose="020B0604020202020204" pitchFamily="34" charset="0"/>
              <a:buChar char="•"/>
            </a:pPr>
            <a:r>
              <a:rPr lang="ru-RU" sz="2000" dirty="0"/>
              <a:t>Наличие у пациента аллергии на пыльцу ('Да', 'Нет')</a:t>
            </a:r>
          </a:p>
          <a:p>
            <a:pPr marL="342900" indent="-342900">
              <a:buFont typeface="Arial" panose="020B0604020202020204" pitchFamily="34" charset="0"/>
              <a:buChar char="•"/>
            </a:pPr>
            <a:r>
              <a:rPr lang="ru-RU" sz="2000" dirty="0"/>
              <a:t>Тяжесть течения астмы, оцененная врачом ('Легкая', 'Средняя', 'Тяжелая')</a:t>
            </a:r>
          </a:p>
          <a:p>
            <a:pPr marL="342900" indent="-342900">
              <a:buFont typeface="Arial" panose="020B0604020202020204" pitchFamily="34" charset="0"/>
              <a:buChar char="•"/>
            </a:pPr>
            <a:r>
              <a:rPr lang="ru-RU" sz="2000" dirty="0"/>
              <a:t>Количество госпитализаций из-за астмы за последний год</a:t>
            </a:r>
          </a:p>
        </p:txBody>
      </p:sp>
      <p:sp>
        <p:nvSpPr>
          <p:cNvPr id="8" name="AutoShape 2">
            <a:extLst>
              <a:ext uri="{FF2B5EF4-FFF2-40B4-BE49-F238E27FC236}">
                <a16:creationId xmlns:a16="http://schemas.microsoft.com/office/drawing/2014/main" id="{33AE3A86-7F3B-590E-8278-28930D51716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TextBox 9">
            <a:extLst>
              <a:ext uri="{FF2B5EF4-FFF2-40B4-BE49-F238E27FC236}">
                <a16:creationId xmlns:a16="http://schemas.microsoft.com/office/drawing/2014/main" id="{83B20263-E16E-17C4-8C79-8186C527840E}"/>
              </a:ext>
            </a:extLst>
          </p:cNvPr>
          <p:cNvSpPr txBox="1"/>
          <p:nvPr/>
        </p:nvSpPr>
        <p:spPr>
          <a:xfrm>
            <a:off x="1108179" y="4789531"/>
            <a:ext cx="10013390" cy="1631216"/>
          </a:xfrm>
          <a:prstGeom prst="rect">
            <a:avLst/>
          </a:prstGeom>
          <a:noFill/>
        </p:spPr>
        <p:txBody>
          <a:bodyPr wrap="square" rtlCol="0">
            <a:spAutoFit/>
          </a:bodyPr>
          <a:lstStyle/>
          <a:p>
            <a:pPr marL="342900" indent="-342900">
              <a:buFont typeface="Arial" panose="020B0604020202020204" pitchFamily="34" charset="0"/>
              <a:buChar char="•"/>
            </a:pPr>
            <a:r>
              <a:rPr lang="ru-RU" sz="2000" b="1" dirty="0"/>
              <a:t>Возраст пациента:</a:t>
            </a:r>
            <a:r>
              <a:rPr lang="ru-RU" sz="2000" dirty="0"/>
              <a:t> Числовой, дискретный признак</a:t>
            </a:r>
          </a:p>
          <a:p>
            <a:pPr marL="342900" indent="-342900">
              <a:buFont typeface="Arial" panose="020B0604020202020204" pitchFamily="34" charset="0"/>
              <a:buChar char="•"/>
            </a:pPr>
            <a:r>
              <a:rPr lang="ru-RU" sz="2000" b="1" dirty="0"/>
              <a:t>Объем форсированного выдоха (ОФВ1):</a:t>
            </a:r>
            <a:r>
              <a:rPr lang="ru-RU" sz="2000" dirty="0"/>
              <a:t> Числовой, непрерывный признак</a:t>
            </a:r>
          </a:p>
          <a:p>
            <a:pPr marL="342900" indent="-342900">
              <a:buFont typeface="Arial" panose="020B0604020202020204" pitchFamily="34" charset="0"/>
              <a:buChar char="•"/>
            </a:pPr>
            <a:r>
              <a:rPr lang="ru-RU" sz="2000" b="1" dirty="0"/>
              <a:t>Наличие аллергии:</a:t>
            </a:r>
            <a:r>
              <a:rPr lang="ru-RU" sz="2000" dirty="0"/>
              <a:t> Категориальный, бинарный признак</a:t>
            </a:r>
          </a:p>
          <a:p>
            <a:pPr marL="342900" indent="-342900">
              <a:buFont typeface="Arial" panose="020B0604020202020204" pitchFamily="34" charset="0"/>
              <a:buChar char="•"/>
            </a:pPr>
            <a:r>
              <a:rPr lang="ru-RU" sz="2000" b="1" dirty="0"/>
              <a:t>Тяжесть течения астмы:</a:t>
            </a:r>
            <a:r>
              <a:rPr lang="ru-RU" sz="2000" dirty="0"/>
              <a:t> Категориальный, порядковый признак</a:t>
            </a:r>
          </a:p>
          <a:p>
            <a:pPr marL="342900" indent="-342900">
              <a:buFont typeface="Arial" panose="020B0604020202020204" pitchFamily="34" charset="0"/>
              <a:buChar char="•"/>
            </a:pPr>
            <a:r>
              <a:rPr lang="ru-RU" sz="2000" b="1" dirty="0"/>
              <a:t>Количество госпитализаций:</a:t>
            </a:r>
            <a:r>
              <a:rPr lang="ru-RU" sz="2000" dirty="0"/>
              <a:t> Числовой, дискретный признак</a:t>
            </a:r>
            <a:endParaRPr lang="ru-RU" sz="2000" dirty="0">
              <a:latin typeface="HSE Sans" panose="02000000000000000000" pitchFamily="2" charset="0"/>
            </a:endParaRPr>
          </a:p>
        </p:txBody>
      </p:sp>
      <p:pic>
        <p:nvPicPr>
          <p:cNvPr id="12" name="Image 0" descr="preencoded.png">
            <a:extLst>
              <a:ext uri="{FF2B5EF4-FFF2-40B4-BE49-F238E27FC236}">
                <a16:creationId xmlns:a16="http://schemas.microsoft.com/office/drawing/2014/main" id="{5333441E-B4A2-7897-802E-529CAEC070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7035" y="2450743"/>
            <a:ext cx="707886" cy="707886"/>
          </a:xfrm>
          <a:prstGeom prst="rect">
            <a:avLst/>
          </a:prstGeom>
        </p:spPr>
      </p:pic>
    </p:spTree>
    <p:extLst>
      <p:ext uri="{BB962C8B-B14F-4D97-AF65-F5344CB8AC3E}">
        <p14:creationId xmlns:p14="http://schemas.microsoft.com/office/powerpoint/2010/main" val="205587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0C997-41C8-8114-9096-7FAA49FB8A51}"/>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7A082E9E-1D24-147E-8106-FC9563BB0241}"/>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392B6410-0D67-67AD-B607-625389177405}"/>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C838B775-8285-E147-5E80-FC5BDA806F29}"/>
              </a:ext>
            </a:extLst>
          </p:cNvPr>
          <p:cNvSpPr>
            <a:spLocks noGrp="1"/>
          </p:cNvSpPr>
          <p:nvPr>
            <p:ph type="title"/>
          </p:nvPr>
        </p:nvSpPr>
        <p:spPr/>
        <p:txBody>
          <a:bodyPr>
            <a:normAutofit/>
          </a:bodyPr>
          <a:lstStyle/>
          <a:p>
            <a:r>
              <a:rPr lang="ru-RU" sz="3600" dirty="0"/>
              <a:t>Вопросы для размышления</a:t>
            </a:r>
          </a:p>
        </p:txBody>
      </p:sp>
      <p:sp>
        <p:nvSpPr>
          <p:cNvPr id="6" name="Текст 5">
            <a:extLst>
              <a:ext uri="{FF2B5EF4-FFF2-40B4-BE49-F238E27FC236}">
                <a16:creationId xmlns:a16="http://schemas.microsoft.com/office/drawing/2014/main" id="{92D54B19-D20C-EB2A-0AB2-7A24D9761DE8}"/>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3" name="TextBox 12">
            <a:extLst>
              <a:ext uri="{FF2B5EF4-FFF2-40B4-BE49-F238E27FC236}">
                <a16:creationId xmlns:a16="http://schemas.microsoft.com/office/drawing/2014/main" id="{97FDD086-9D21-DC8A-102A-FB806288257B}"/>
              </a:ext>
            </a:extLst>
          </p:cNvPr>
          <p:cNvSpPr txBox="1"/>
          <p:nvPr/>
        </p:nvSpPr>
        <p:spPr>
          <a:xfrm>
            <a:off x="1143688" y="2105561"/>
            <a:ext cx="10377751" cy="1323439"/>
          </a:xfrm>
          <a:prstGeom prst="rect">
            <a:avLst/>
          </a:prstGeom>
          <a:noFill/>
        </p:spPr>
        <p:txBody>
          <a:bodyPr wrap="square" rtlCol="0">
            <a:spAutoFit/>
          </a:bodyPr>
          <a:lstStyle/>
          <a:p>
            <a:r>
              <a:rPr lang="ru-RU" sz="2000" b="1" dirty="0"/>
              <a:t>Вопрос 2:</a:t>
            </a:r>
            <a:r>
              <a:rPr lang="ru-RU" sz="2000" dirty="0"/>
              <a:t> Вы анализируете данные электронных медицинских карт и обнаруживаете, что в столбце «Уровень витамина D» пропущено 40% значений.</a:t>
            </a:r>
            <a:br>
              <a:rPr lang="ru-RU" sz="2000" dirty="0"/>
            </a:br>
            <a:r>
              <a:rPr lang="ru-RU" sz="2000" dirty="0"/>
              <a:t>Что лучше – удалить строчки с пропусками или заполнить их средним значением? Какие есть риски?</a:t>
            </a:r>
          </a:p>
        </p:txBody>
      </p:sp>
      <p:sp>
        <p:nvSpPr>
          <p:cNvPr id="8" name="AutoShape 2">
            <a:extLst>
              <a:ext uri="{FF2B5EF4-FFF2-40B4-BE49-F238E27FC236}">
                <a16:creationId xmlns:a16="http://schemas.microsoft.com/office/drawing/2014/main" id="{3BC385B4-8C53-B382-EA63-4C673D025F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TextBox 9">
            <a:extLst>
              <a:ext uri="{FF2B5EF4-FFF2-40B4-BE49-F238E27FC236}">
                <a16:creationId xmlns:a16="http://schemas.microsoft.com/office/drawing/2014/main" id="{791F6761-6B5B-5398-5647-CBF01B104D35}"/>
              </a:ext>
            </a:extLst>
          </p:cNvPr>
          <p:cNvSpPr txBox="1"/>
          <p:nvPr/>
        </p:nvSpPr>
        <p:spPr>
          <a:xfrm>
            <a:off x="1143689" y="3501040"/>
            <a:ext cx="10013390" cy="2862322"/>
          </a:xfrm>
          <a:prstGeom prst="rect">
            <a:avLst/>
          </a:prstGeom>
          <a:noFill/>
        </p:spPr>
        <p:txBody>
          <a:bodyPr wrap="square" rtlCol="0">
            <a:spAutoFit/>
          </a:bodyPr>
          <a:lstStyle/>
          <a:p>
            <a:pPr marL="285750" indent="-285750">
              <a:buFont typeface="Arial" panose="020B0604020202020204" pitchFamily="34" charset="0"/>
              <a:buChar char="•"/>
            </a:pPr>
            <a:r>
              <a:rPr lang="ru-RU" b="1" dirty="0"/>
              <a:t>Почему удаление неверно:</a:t>
            </a:r>
            <a:r>
              <a:rPr lang="ru-RU" dirty="0"/>
              <a:t> Удаляя 40% пациентов, мы рискуем не только значительно сократить объем данных, но и внести систематическую ошибку. Вполне вероятно, что анализ на витамин D не назначался пациентам, у которых не было для этого показаний (например, более молодым и здоровым). Если мы их удалим, наша выборка станет смещенной в сторону более больных или пожилых пациентов, и выводы, сделанные на ее основе, будут нерепрезентативными.</a:t>
            </a:r>
          </a:p>
          <a:p>
            <a:pPr marL="285750" indent="-285750">
              <a:buFont typeface="Arial" panose="020B0604020202020204" pitchFamily="34" charset="0"/>
              <a:buChar char="•"/>
            </a:pPr>
            <a:r>
              <a:rPr lang="ru-RU" b="1" dirty="0"/>
              <a:t>Почему замена средним неверна:</a:t>
            </a:r>
            <a:r>
              <a:rPr lang="ru-RU" dirty="0"/>
              <a:t> Заполнение пропусков средним значением предполагает, что отсутствующие данные случайны. Но, как мы предположили выше, это может быть не так. Если мы присвоим среднее (вероятно, нормальное или пониженное) значение витамина D группе предположительно здоровых пациентов, мы искусственно исказим взаимосвязь между уровнем витамина D и другими показателями здоровья.</a:t>
            </a:r>
          </a:p>
        </p:txBody>
      </p:sp>
      <p:pic>
        <p:nvPicPr>
          <p:cNvPr id="12" name="Image 0" descr="preencoded.png">
            <a:extLst>
              <a:ext uri="{FF2B5EF4-FFF2-40B4-BE49-F238E27FC236}">
                <a16:creationId xmlns:a16="http://schemas.microsoft.com/office/drawing/2014/main" id="{A2452036-6C38-FB5C-980A-E6F48C69CC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35" y="2259449"/>
            <a:ext cx="707886" cy="707886"/>
          </a:xfrm>
          <a:prstGeom prst="rect">
            <a:avLst/>
          </a:prstGeom>
        </p:spPr>
      </p:pic>
    </p:spTree>
    <p:extLst>
      <p:ext uri="{BB962C8B-B14F-4D97-AF65-F5344CB8AC3E}">
        <p14:creationId xmlns:p14="http://schemas.microsoft.com/office/powerpoint/2010/main" val="1950687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0C997-41C8-8114-9096-7FAA49FB8A51}"/>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7A082E9E-1D24-147E-8106-FC9563BB0241}"/>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392B6410-0D67-67AD-B607-625389177405}"/>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C838B775-8285-E147-5E80-FC5BDA806F29}"/>
              </a:ext>
            </a:extLst>
          </p:cNvPr>
          <p:cNvSpPr>
            <a:spLocks noGrp="1"/>
          </p:cNvSpPr>
          <p:nvPr>
            <p:ph type="title"/>
          </p:nvPr>
        </p:nvSpPr>
        <p:spPr/>
        <p:txBody>
          <a:bodyPr>
            <a:normAutofit/>
          </a:bodyPr>
          <a:lstStyle/>
          <a:p>
            <a:r>
              <a:rPr lang="ru-RU" sz="3600" dirty="0"/>
              <a:t>Вопросы для размышления</a:t>
            </a:r>
          </a:p>
        </p:txBody>
      </p:sp>
      <p:sp>
        <p:nvSpPr>
          <p:cNvPr id="6" name="Текст 5">
            <a:extLst>
              <a:ext uri="{FF2B5EF4-FFF2-40B4-BE49-F238E27FC236}">
                <a16:creationId xmlns:a16="http://schemas.microsoft.com/office/drawing/2014/main" id="{92D54B19-D20C-EB2A-0AB2-7A24D9761DE8}"/>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3" name="TextBox 12">
            <a:extLst>
              <a:ext uri="{FF2B5EF4-FFF2-40B4-BE49-F238E27FC236}">
                <a16:creationId xmlns:a16="http://schemas.microsoft.com/office/drawing/2014/main" id="{97FDD086-9D21-DC8A-102A-FB806288257B}"/>
              </a:ext>
            </a:extLst>
          </p:cNvPr>
          <p:cNvSpPr txBox="1"/>
          <p:nvPr/>
        </p:nvSpPr>
        <p:spPr>
          <a:xfrm>
            <a:off x="1143688" y="2296855"/>
            <a:ext cx="10377751" cy="1323439"/>
          </a:xfrm>
          <a:prstGeom prst="rect">
            <a:avLst/>
          </a:prstGeom>
          <a:noFill/>
        </p:spPr>
        <p:txBody>
          <a:bodyPr wrap="square" rtlCol="0">
            <a:spAutoFit/>
          </a:bodyPr>
          <a:lstStyle/>
          <a:p>
            <a:r>
              <a:rPr lang="ru-RU" sz="2000" b="1" dirty="0"/>
              <a:t>Вопрос </a:t>
            </a:r>
            <a:r>
              <a:rPr lang="en-US" sz="2000" b="1" dirty="0"/>
              <a:t>3</a:t>
            </a:r>
            <a:r>
              <a:rPr lang="ru-RU" sz="2000" b="1" dirty="0"/>
              <a:t>:</a:t>
            </a:r>
            <a:r>
              <a:rPr lang="ru-RU" sz="2000" dirty="0"/>
              <a:t> У вас в </a:t>
            </a:r>
            <a:r>
              <a:rPr lang="ru-RU" sz="2000" dirty="0" err="1"/>
              <a:t>датасете</a:t>
            </a:r>
            <a:r>
              <a:rPr lang="ru-RU" sz="2000" dirty="0"/>
              <a:t> есть рост и вес пациента. Вы добавляете третий столбец — ИМТ, вычисленный как вес / рост². Никакой новой информации в данных не появилось: ИМТ полностью выводится из двух уже имеющихся столбцов. Почему тогда такой признак может улучшить работу модели?</a:t>
            </a:r>
          </a:p>
        </p:txBody>
      </p:sp>
      <p:sp>
        <p:nvSpPr>
          <p:cNvPr id="8" name="AutoShape 2">
            <a:extLst>
              <a:ext uri="{FF2B5EF4-FFF2-40B4-BE49-F238E27FC236}">
                <a16:creationId xmlns:a16="http://schemas.microsoft.com/office/drawing/2014/main" id="{3BC385B4-8C53-B382-EA63-4C673D025F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TextBox 9">
            <a:extLst>
              <a:ext uri="{FF2B5EF4-FFF2-40B4-BE49-F238E27FC236}">
                <a16:creationId xmlns:a16="http://schemas.microsoft.com/office/drawing/2014/main" id="{791F6761-6B5B-5398-5647-CBF01B104D35}"/>
              </a:ext>
            </a:extLst>
          </p:cNvPr>
          <p:cNvSpPr txBox="1"/>
          <p:nvPr/>
        </p:nvSpPr>
        <p:spPr>
          <a:xfrm>
            <a:off x="1143689" y="3731773"/>
            <a:ext cx="10013390" cy="2585323"/>
          </a:xfrm>
          <a:prstGeom prst="rect">
            <a:avLst/>
          </a:prstGeom>
          <a:noFill/>
        </p:spPr>
        <p:txBody>
          <a:bodyPr wrap="square" rtlCol="0">
            <a:spAutoFit/>
          </a:bodyPr>
          <a:lstStyle/>
          <a:p>
            <a:r>
              <a:rPr lang="ru-RU" b="1" dirty="0"/>
              <a:t>Ответ.</a:t>
            </a:r>
            <a:r>
              <a:rPr lang="ru-RU" dirty="0"/>
              <a:t> Информация та же, а </a:t>
            </a:r>
            <a:r>
              <a:rPr lang="ru-RU" b="1" dirty="0"/>
              <a:t>представление</a:t>
            </a:r>
            <a:r>
              <a:rPr lang="ru-RU" dirty="0"/>
              <a:t> другое. Модель не перебирает все мыслимые функции от признаков — каждое семейство моделей умеет выражать только определённый класс комбинаций. Если модель складывает признаки с весами, она в принципе не может построить из них отношение или произведение: такой операции в её словаре нет. Рост и вес по отдельности говорят о риске мало (высокий человек тяжелее просто потому, что высокий), а их отношение — уже осмысленная величина.</a:t>
            </a:r>
          </a:p>
          <a:p>
            <a:r>
              <a:rPr lang="ru-RU" dirty="0"/>
              <a:t>Это и есть суть </a:t>
            </a:r>
            <a:r>
              <a:rPr lang="ru-RU" dirty="0" err="1"/>
              <a:t>feature</a:t>
            </a:r>
            <a:r>
              <a:rPr lang="ru-RU" dirty="0"/>
              <a:t> </a:t>
            </a:r>
            <a:r>
              <a:rPr lang="ru-RU" dirty="0" err="1"/>
              <a:t>engineering</a:t>
            </a:r>
            <a:r>
              <a:rPr lang="ru-RU" dirty="0"/>
              <a:t>: мы не добавляем информацию, мы перекладываем </a:t>
            </a:r>
            <a:r>
              <a:rPr lang="ru-RU" b="1" dirty="0"/>
              <a:t>знание предметной области</a:t>
            </a:r>
            <a:r>
              <a:rPr lang="ru-RU" dirty="0"/>
              <a:t> в такую форму, которую модель способна использовать. Формулу ИМТ придумал не алгоритм, а исследователь, знавший физиологию.</a:t>
            </a:r>
          </a:p>
        </p:txBody>
      </p:sp>
      <p:pic>
        <p:nvPicPr>
          <p:cNvPr id="12" name="Image 0" descr="preencoded.png">
            <a:extLst>
              <a:ext uri="{FF2B5EF4-FFF2-40B4-BE49-F238E27FC236}">
                <a16:creationId xmlns:a16="http://schemas.microsoft.com/office/drawing/2014/main" id="{A2452036-6C38-FB5C-980A-E6F48C69CC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35" y="2450743"/>
            <a:ext cx="707886" cy="707886"/>
          </a:xfrm>
          <a:prstGeom prst="rect">
            <a:avLst/>
          </a:prstGeom>
        </p:spPr>
      </p:pic>
    </p:spTree>
    <p:extLst>
      <p:ext uri="{BB962C8B-B14F-4D97-AF65-F5344CB8AC3E}">
        <p14:creationId xmlns:p14="http://schemas.microsoft.com/office/powerpoint/2010/main" val="2699581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1235D-3AA6-D538-08E9-82BE7A8DA003}"/>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248BBAE2-416D-A7DE-D5A1-455E40BD40DC}"/>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BF42E3D8-D79C-13E2-E597-9A1ABC6859C5}"/>
              </a:ext>
            </a:extLst>
          </p:cNvPr>
          <p:cNvSpPr>
            <a:spLocks noGrp="1"/>
          </p:cNvSpPr>
          <p:nvPr>
            <p:ph type="body" sz="quarter" idx="14"/>
          </p:nvPr>
        </p:nvSpPr>
        <p:spPr/>
        <p:txBody>
          <a:bodyPr anchor="ctr"/>
          <a:lstStyle/>
          <a:p>
            <a:r>
              <a:rPr lang="ru-RU" dirty="0"/>
              <a:t>Введение в машинное обучение. Лекция 2</a:t>
            </a:r>
          </a:p>
        </p:txBody>
      </p:sp>
      <p:sp>
        <p:nvSpPr>
          <p:cNvPr id="4" name="Заголовок 3">
            <a:extLst>
              <a:ext uri="{FF2B5EF4-FFF2-40B4-BE49-F238E27FC236}">
                <a16:creationId xmlns:a16="http://schemas.microsoft.com/office/drawing/2014/main" id="{8C16BBAD-5C73-8418-AA55-C4EE5FF5B0FD}"/>
              </a:ext>
            </a:extLst>
          </p:cNvPr>
          <p:cNvSpPr>
            <a:spLocks noGrp="1"/>
          </p:cNvSpPr>
          <p:nvPr>
            <p:ph type="title"/>
          </p:nvPr>
        </p:nvSpPr>
        <p:spPr/>
        <p:txBody>
          <a:bodyPr>
            <a:normAutofit/>
          </a:bodyPr>
          <a:lstStyle/>
          <a:p>
            <a:r>
              <a:rPr lang="ru-RU" sz="3600" dirty="0"/>
              <a:t>Вопросы для размышления</a:t>
            </a:r>
          </a:p>
        </p:txBody>
      </p:sp>
      <p:sp>
        <p:nvSpPr>
          <p:cNvPr id="6" name="Текст 5">
            <a:extLst>
              <a:ext uri="{FF2B5EF4-FFF2-40B4-BE49-F238E27FC236}">
                <a16:creationId xmlns:a16="http://schemas.microsoft.com/office/drawing/2014/main" id="{D419FD0B-04F6-2CD5-83AD-A78E886C7CA2}"/>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13" name="TextBox 12">
            <a:extLst>
              <a:ext uri="{FF2B5EF4-FFF2-40B4-BE49-F238E27FC236}">
                <a16:creationId xmlns:a16="http://schemas.microsoft.com/office/drawing/2014/main" id="{9D95168D-F55C-A076-5B5A-A80B65F7615A}"/>
              </a:ext>
            </a:extLst>
          </p:cNvPr>
          <p:cNvSpPr txBox="1"/>
          <p:nvPr/>
        </p:nvSpPr>
        <p:spPr>
          <a:xfrm>
            <a:off x="1143689" y="2296855"/>
            <a:ext cx="9286010" cy="1015663"/>
          </a:xfrm>
          <a:prstGeom prst="rect">
            <a:avLst/>
          </a:prstGeom>
          <a:noFill/>
        </p:spPr>
        <p:txBody>
          <a:bodyPr wrap="square" rtlCol="0">
            <a:spAutoFit/>
          </a:bodyPr>
          <a:lstStyle/>
          <a:p>
            <a:r>
              <a:rPr lang="ru-RU" sz="2000" b="1" dirty="0"/>
              <a:t>Вопрос </a:t>
            </a:r>
            <a:r>
              <a:rPr lang="en-US" sz="2000" b="1" dirty="0"/>
              <a:t>4</a:t>
            </a:r>
            <a:r>
              <a:rPr lang="ru-RU" sz="2000" b="1" dirty="0"/>
              <a:t>:</a:t>
            </a:r>
            <a:r>
              <a:rPr lang="ru-RU" sz="2000" dirty="0"/>
              <a:t> На графике веса пациентов вы видите точку 400 кг. Что это, скорее всего: ошибка ввода или реальный экстремальный случай? Как ваше решение по обработке этого значения повлияет на модель, предсказывающую риск диабета?</a:t>
            </a:r>
          </a:p>
        </p:txBody>
      </p:sp>
      <p:sp>
        <p:nvSpPr>
          <p:cNvPr id="8" name="AutoShape 2">
            <a:extLst>
              <a:ext uri="{FF2B5EF4-FFF2-40B4-BE49-F238E27FC236}">
                <a16:creationId xmlns:a16="http://schemas.microsoft.com/office/drawing/2014/main" id="{970E21BC-CD6B-540A-26D6-05895CFAF8E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TextBox 9">
            <a:extLst>
              <a:ext uri="{FF2B5EF4-FFF2-40B4-BE49-F238E27FC236}">
                <a16:creationId xmlns:a16="http://schemas.microsoft.com/office/drawing/2014/main" id="{C3A27F90-C6C3-2AF2-C2FC-E6B1C129220C}"/>
              </a:ext>
            </a:extLst>
          </p:cNvPr>
          <p:cNvSpPr txBox="1"/>
          <p:nvPr/>
        </p:nvSpPr>
        <p:spPr>
          <a:xfrm>
            <a:off x="1143689" y="3399211"/>
            <a:ext cx="10013390" cy="2862322"/>
          </a:xfrm>
          <a:prstGeom prst="rect">
            <a:avLst/>
          </a:prstGeom>
          <a:noFill/>
        </p:spPr>
        <p:txBody>
          <a:bodyPr wrap="square" rtlCol="0">
            <a:spAutoFit/>
          </a:bodyPr>
          <a:lstStyle/>
          <a:p>
            <a:pPr marL="342900" indent="-342900">
              <a:buFont typeface="Arial" panose="020B0604020202020204" pitchFamily="34" charset="0"/>
              <a:buChar char="•"/>
            </a:pPr>
            <a:r>
              <a:rPr lang="ru-RU" sz="2000" b="1" dirty="0"/>
              <a:t>Вероятность:</a:t>
            </a:r>
            <a:r>
              <a:rPr lang="ru-RU" sz="2000" dirty="0"/>
              <a:t> Скорее всего, это ошибка ввода. Реальный вес 400 кг возможен, но крайне маловероятен. Первый шаг — проверить первичную документацию (если есть возможность)</a:t>
            </a:r>
          </a:p>
          <a:p>
            <a:pPr marL="342900" indent="-342900">
              <a:buFont typeface="Arial" panose="020B0604020202020204" pitchFamily="34" charset="0"/>
              <a:buChar char="•"/>
            </a:pPr>
            <a:r>
              <a:rPr lang="ru-RU" sz="2000" b="1" dirty="0"/>
              <a:t>Влияние на модель:</a:t>
            </a:r>
            <a:r>
              <a:rPr lang="ru-RU" sz="2000" dirty="0"/>
              <a:t> Если оставить это значение, оно сильно «перетянет» на себя любую модель, основанную на минимизации ошибки</a:t>
            </a:r>
            <a:r>
              <a:rPr lang="en-US" sz="2000" dirty="0"/>
              <a:t> </a:t>
            </a:r>
            <a:r>
              <a:rPr lang="ru-RU" sz="2000" dirty="0"/>
              <a:t>и подверженности выбросам (например, линейную регрессию с </a:t>
            </a:r>
            <a:r>
              <a:rPr lang="en-US" sz="2000" dirty="0"/>
              <a:t>MSE</a:t>
            </a:r>
            <a:r>
              <a:rPr lang="ru-RU" sz="2000" dirty="0"/>
              <a:t>). Модель будет стараться угодить этой одной точке в ущерб всем остальным. Если это ошибка, ее нужно исправить или удалить. Если это реальный, но нерепрезентативный случай, его можно исключить из обучения и проанализировать отдельно</a:t>
            </a:r>
            <a:endParaRPr lang="ru-RU" sz="2000" dirty="0">
              <a:latin typeface="HSE Sans" panose="02000000000000000000" pitchFamily="2" charset="0"/>
            </a:endParaRPr>
          </a:p>
        </p:txBody>
      </p:sp>
      <p:pic>
        <p:nvPicPr>
          <p:cNvPr id="12" name="Image 0" descr="preencoded.png">
            <a:extLst>
              <a:ext uri="{FF2B5EF4-FFF2-40B4-BE49-F238E27FC236}">
                <a16:creationId xmlns:a16="http://schemas.microsoft.com/office/drawing/2014/main" id="{3381451F-A5B3-FE15-6A2D-0FCBC4CBCE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035" y="2450743"/>
            <a:ext cx="707886" cy="707886"/>
          </a:xfrm>
          <a:prstGeom prst="rect">
            <a:avLst/>
          </a:prstGeom>
        </p:spPr>
      </p:pic>
    </p:spTree>
    <p:extLst>
      <p:ext uri="{BB962C8B-B14F-4D97-AF65-F5344CB8AC3E}">
        <p14:creationId xmlns:p14="http://schemas.microsoft.com/office/powerpoint/2010/main" val="203558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4A022-1FE1-ACA3-7F8E-05BBAC96D418}"/>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E1ED199E-2A35-44CB-B297-87A2DD87ABF3}"/>
              </a:ext>
            </a:extLst>
          </p:cNvPr>
          <p:cNvSpPr>
            <a:spLocks noGrp="1"/>
          </p:cNvSpPr>
          <p:nvPr>
            <p:ph type="body" sz="quarter" idx="13"/>
          </p:nvPr>
        </p:nvSpPr>
        <p:spPr/>
        <p:txBody>
          <a:bodyPr anchor="ctr"/>
          <a:lstStyle/>
          <a:p>
            <a:r>
              <a:rPr lang="ru-RU" dirty="0"/>
              <a:t>Центр биомедицинских исследований и технологий</a:t>
            </a:r>
          </a:p>
        </p:txBody>
      </p:sp>
      <p:sp>
        <p:nvSpPr>
          <p:cNvPr id="3" name="Текст 2">
            <a:extLst>
              <a:ext uri="{FF2B5EF4-FFF2-40B4-BE49-F238E27FC236}">
                <a16:creationId xmlns:a16="http://schemas.microsoft.com/office/drawing/2014/main" id="{B2EBC24B-8D95-C1D8-4DF7-4B21C73646CB}"/>
              </a:ext>
            </a:extLst>
          </p:cNvPr>
          <p:cNvSpPr>
            <a:spLocks noGrp="1"/>
          </p:cNvSpPr>
          <p:nvPr>
            <p:ph type="body" sz="quarter" idx="14"/>
          </p:nvPr>
        </p:nvSpPr>
        <p:spPr/>
        <p:txBody>
          <a:bodyPr anchor="ctr"/>
          <a:lstStyle/>
          <a:p>
            <a:r>
              <a:rPr lang="ru-RU"/>
              <a:t>Введение в машинное обучение. </a:t>
            </a:r>
            <a:r>
              <a:rPr lang="ru-RU" dirty="0"/>
              <a:t>Лекция 2</a:t>
            </a:r>
          </a:p>
        </p:txBody>
      </p:sp>
      <p:sp>
        <p:nvSpPr>
          <p:cNvPr id="4" name="Заголовок 3">
            <a:extLst>
              <a:ext uri="{FF2B5EF4-FFF2-40B4-BE49-F238E27FC236}">
                <a16:creationId xmlns:a16="http://schemas.microsoft.com/office/drawing/2014/main" id="{95E49FA6-1477-3908-18E5-E0F77F6AA470}"/>
              </a:ext>
            </a:extLst>
          </p:cNvPr>
          <p:cNvSpPr>
            <a:spLocks noGrp="1"/>
          </p:cNvSpPr>
          <p:nvPr>
            <p:ph type="title"/>
          </p:nvPr>
        </p:nvSpPr>
        <p:spPr/>
        <p:txBody>
          <a:bodyPr>
            <a:normAutofit/>
          </a:bodyPr>
          <a:lstStyle/>
          <a:p>
            <a:r>
              <a:rPr lang="ru-RU" sz="3600" dirty="0"/>
              <a:t>Заключение</a:t>
            </a:r>
          </a:p>
        </p:txBody>
      </p:sp>
      <p:sp>
        <p:nvSpPr>
          <p:cNvPr id="6" name="Текст 5">
            <a:extLst>
              <a:ext uri="{FF2B5EF4-FFF2-40B4-BE49-F238E27FC236}">
                <a16:creationId xmlns:a16="http://schemas.microsoft.com/office/drawing/2014/main" id="{70859C3A-CE7A-2679-9899-2DD3748C175A}"/>
              </a:ext>
            </a:extLst>
          </p:cNvPr>
          <p:cNvSpPr>
            <a:spLocks noGrp="1"/>
          </p:cNvSpPr>
          <p:nvPr>
            <p:ph type="body" sz="quarter" idx="15"/>
          </p:nvPr>
        </p:nvSpPr>
        <p:spPr/>
        <p:txBody>
          <a:bodyPr anchor="ctr"/>
          <a:lstStyle/>
          <a:p>
            <a:r>
              <a:rPr lang="ru-RU" dirty="0"/>
              <a:t>Данные </a:t>
            </a:r>
            <a:r>
              <a:rPr lang="en-US" dirty="0"/>
              <a:t>-</a:t>
            </a:r>
            <a:r>
              <a:rPr lang="ru-RU" dirty="0"/>
              <a:t> сырье для ИИ</a:t>
            </a:r>
          </a:p>
        </p:txBody>
      </p:sp>
      <p:sp>
        <p:nvSpPr>
          <p:cNvPr id="8" name="AutoShape 2">
            <a:extLst>
              <a:ext uri="{FF2B5EF4-FFF2-40B4-BE49-F238E27FC236}">
                <a16:creationId xmlns:a16="http://schemas.microsoft.com/office/drawing/2014/main" id="{519B4773-5194-F9B3-E3A7-9116D9AFC46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TextBox 9">
            <a:extLst>
              <a:ext uri="{FF2B5EF4-FFF2-40B4-BE49-F238E27FC236}">
                <a16:creationId xmlns:a16="http://schemas.microsoft.com/office/drawing/2014/main" id="{825C6087-1FED-9715-77D2-851DA364099C}"/>
              </a:ext>
            </a:extLst>
          </p:cNvPr>
          <p:cNvSpPr txBox="1"/>
          <p:nvPr/>
        </p:nvSpPr>
        <p:spPr>
          <a:xfrm>
            <a:off x="585897" y="2363222"/>
            <a:ext cx="8347791" cy="3416320"/>
          </a:xfrm>
          <a:prstGeom prst="rect">
            <a:avLst/>
          </a:prstGeom>
          <a:noFill/>
        </p:spPr>
        <p:txBody>
          <a:bodyPr wrap="square" rtlCol="0">
            <a:spAutoFit/>
          </a:bodyPr>
          <a:lstStyle/>
          <a:p>
            <a:pPr marL="342900" indent="-342900">
              <a:buFont typeface="Arial" panose="020B0604020202020204" pitchFamily="34" charset="0"/>
              <a:buChar char="•"/>
            </a:pPr>
            <a:r>
              <a:rPr lang="ru-RU" sz="2400" b="1" dirty="0"/>
              <a:t>Подготовка данных </a:t>
            </a:r>
            <a:r>
              <a:rPr lang="ru-RU" sz="2400" dirty="0"/>
              <a:t>— самый трудоемкий, но и самый важный этап ML-проекта</a:t>
            </a:r>
          </a:p>
          <a:p>
            <a:pPr marL="342900" indent="-342900">
              <a:buFont typeface="Arial" panose="020B0604020202020204" pitchFamily="34" charset="0"/>
              <a:buChar char="•"/>
            </a:pPr>
            <a:r>
              <a:rPr lang="ru-RU" sz="2400" b="1" dirty="0"/>
              <a:t>Разведочный анализ (EDA) </a:t>
            </a:r>
            <a:r>
              <a:rPr lang="ru-RU" sz="2400" dirty="0"/>
              <a:t>— наш первый и главный инструмент для понимания данных</a:t>
            </a:r>
          </a:p>
          <a:p>
            <a:pPr marL="342900" indent="-342900">
              <a:buFont typeface="Arial" panose="020B0604020202020204" pitchFamily="34" charset="0"/>
              <a:buChar char="•"/>
            </a:pPr>
            <a:r>
              <a:rPr lang="ru-RU" sz="2400" dirty="0"/>
              <a:t>Биомедицинские данные редко бывают «чистыми». </a:t>
            </a:r>
            <a:r>
              <a:rPr lang="ru-RU" sz="2400" b="1" dirty="0"/>
              <a:t>Пропуски, выбросы и разный масштаб</a:t>
            </a:r>
            <a:r>
              <a:rPr lang="ru-RU" sz="2400" dirty="0"/>
              <a:t> — это норма, а не исключение</a:t>
            </a:r>
          </a:p>
          <a:p>
            <a:pPr marL="342900" indent="-342900">
              <a:buFont typeface="Arial" panose="020B0604020202020204" pitchFamily="34" charset="0"/>
              <a:buChar char="•"/>
            </a:pPr>
            <a:r>
              <a:rPr lang="ru-RU" sz="2400" b="1" dirty="0"/>
              <a:t>Предобработка</a:t>
            </a:r>
            <a:r>
              <a:rPr lang="ru-RU" sz="2400" dirty="0"/>
              <a:t> — это не просто техническая процедура, а процесс, требующий научного и клинического суждения</a:t>
            </a:r>
            <a:endParaRPr lang="ru-RU" sz="2400" dirty="0">
              <a:latin typeface="HSE Sans" panose="02000000000000000000" pitchFamily="2" charset="0"/>
            </a:endParaRPr>
          </a:p>
        </p:txBody>
      </p:sp>
    </p:spTree>
    <p:extLst>
      <p:ext uri="{BB962C8B-B14F-4D97-AF65-F5344CB8AC3E}">
        <p14:creationId xmlns:p14="http://schemas.microsoft.com/office/powerpoint/2010/main" val="2166050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2161965"/>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34386AA-1848-4C75-B336-1053927CB025}">
  <ds:schemaRefs>
    <ds:schemaRef ds:uri="http://schemas.microsoft.com/sharepoint/v3/contenttype/forms"/>
  </ds:schemaRefs>
</ds:datastoreItem>
</file>

<file path=customXml/itemProps3.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docProps/app.xml><?xml version="1.0" encoding="utf-8"?>
<Properties xmlns="http://schemas.openxmlformats.org/officeDocument/2006/extended-properties" xmlns:vt="http://schemas.openxmlformats.org/officeDocument/2006/docPropsVTypes">
  <TotalTime>2759</TotalTime>
  <Words>3855</Words>
  <Application>Microsoft Office PowerPoint</Application>
  <PresentationFormat>Широкоэкранный</PresentationFormat>
  <Paragraphs>358</Paragraphs>
  <Slides>36</Slides>
  <Notes>29</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36</vt:i4>
      </vt:variant>
    </vt:vector>
  </HeadingPairs>
  <TitlesOfParts>
    <vt:vector size="41" baseType="lpstr">
      <vt:lpstr>Arial</vt:lpstr>
      <vt:lpstr>Calibri</vt:lpstr>
      <vt:lpstr>Calibri Light</vt:lpstr>
      <vt:lpstr>HSE Sans</vt:lpstr>
      <vt:lpstr>Office Theme</vt:lpstr>
      <vt:lpstr>Лекция 2: Данные - сырье для ИИ</vt:lpstr>
      <vt:lpstr>План лекции</vt:lpstr>
      <vt:lpstr>Данные: фундамент любого ML-проекта</vt:lpstr>
      <vt:lpstr>Анатомия набора данных</vt:lpstr>
      <vt:lpstr>Датасет: Фрамингемское исследование сердца</vt:lpstr>
      <vt:lpstr>Датасет: Фрамингемское исследование сердца</vt:lpstr>
      <vt:lpstr>Типы признаков – 1</vt:lpstr>
      <vt:lpstr>Типы признаков – 2</vt:lpstr>
      <vt:lpstr>Разведочный анализ данных (EDA)</vt:lpstr>
      <vt:lpstr>EDA: Одномерный анализ</vt:lpstr>
      <vt:lpstr>EDA: Двумерный анализ</vt:lpstr>
      <vt:lpstr>Обучающая и тестовая выборки (Train-test split)</vt:lpstr>
      <vt:lpstr>Проблема №1: Пропуски в данных</vt:lpstr>
      <vt:lpstr>Проблема №2: Выбросы (Outliers)</vt:lpstr>
      <vt:lpstr>Проблема №3: Разный масштаб признаков</vt:lpstr>
      <vt:lpstr>Проблема №4: Мусорные данные</vt:lpstr>
      <vt:lpstr>Проблема №5: Смещенные (biased) данные</vt:lpstr>
      <vt:lpstr>Проблема №5: Смещенные (biased) данные</vt:lpstr>
      <vt:lpstr>Проблема №6: Батч-эффект</vt:lpstr>
      <vt:lpstr>Проблема №6: Батч-эффект - Примеры</vt:lpstr>
      <vt:lpstr>Проблема №6: Батч-эффект – Что делать?</vt:lpstr>
      <vt:lpstr>Что делать с категориями?</vt:lpstr>
      <vt:lpstr>Что делать с категориями?</vt:lpstr>
      <vt:lpstr>Аугментация данных</vt:lpstr>
      <vt:lpstr>Формирование признаков (Feature engineering)</vt:lpstr>
      <vt:lpstr>Формирование признаков (Feature engineering)</vt:lpstr>
      <vt:lpstr>Формирование признаков (Feature engineering)</vt:lpstr>
      <vt:lpstr>Формирование признаков (Feature engineering)</vt:lpstr>
      <vt:lpstr>Воодушевляющий пример: AlphaFold</vt:lpstr>
      <vt:lpstr>Воодушевляющий пример:  Диабетическая ретинопатия</vt:lpstr>
      <vt:lpstr>Вопросы для размышления</vt:lpstr>
      <vt:lpstr>Вопросы для размышления</vt:lpstr>
      <vt:lpstr>Вопросы для размышления</vt:lpstr>
      <vt:lpstr>Вопросы для размышления</vt:lpstr>
      <vt:lpstr>Заключение</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Artem Bashkatov</cp:lastModifiedBy>
  <cp:revision>162</cp:revision>
  <cp:lastPrinted>2021-11-11T13:08:42Z</cp:lastPrinted>
  <dcterms:created xsi:type="dcterms:W3CDTF">2021-11-11T08:52:47Z</dcterms:created>
  <dcterms:modified xsi:type="dcterms:W3CDTF">2026-09-16T09:55:07Z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