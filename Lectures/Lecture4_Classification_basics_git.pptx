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91" r:id="rId5"/>
    <p:sldId id="273" r:id="rId6"/>
    <p:sldId id="293" r:id="rId7"/>
    <p:sldId id="379" r:id="rId8"/>
    <p:sldId id="380" r:id="rId9"/>
    <p:sldId id="381" r:id="rId10"/>
    <p:sldId id="382" r:id="rId11"/>
    <p:sldId id="388" r:id="rId12"/>
    <p:sldId id="386" r:id="rId13"/>
    <p:sldId id="387" r:id="rId14"/>
    <p:sldId id="383" r:id="rId15"/>
    <p:sldId id="384" r:id="rId16"/>
    <p:sldId id="334" r:id="rId17"/>
    <p:sldId id="306" r:id="rId18"/>
    <p:sldId id="374" r:id="rId19"/>
    <p:sldId id="385" r:id="rId20"/>
    <p:sldId id="322" r:id="rId21"/>
    <p:sldId id="307" r:id="rId22"/>
    <p:sldId id="285" r:id="rId2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6AA7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958" autoAdjust="0"/>
  </p:normalViewPr>
  <p:slideViewPr>
    <p:cSldViewPr snapToGrid="0" snapToObjects="1">
      <p:cViewPr varScale="1">
        <p:scale>
          <a:sx n="119" d="100"/>
          <a:sy n="119" d="100"/>
        </p:scale>
        <p:origin x="1902" y="10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10/06/2026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13151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AAEB-AC96-8D38-7908-3B66F0AE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6F6B27-5B6A-A1F8-E7B0-5609B221C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784CB6-AF6C-5063-014C-4B46CB5D1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4860BB-7569-0585-DBCC-603CA844E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67220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9CAC-A8FB-241E-649E-08428121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53B57D2-7671-C58E-5FF8-67DED8A33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7B89FE-7285-A912-E015-C9131161E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12D0FB-3193-10DB-C819-1CB953383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962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BF86-403E-9EFB-96EE-3B416A7B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3B4E52-45C4-3719-71E0-63658440D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15B17F-4400-5277-2C49-42DFCCE33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4D7D1A-EA63-8C70-0965-523824A15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1535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947F-B164-0A3C-0768-B03DB1A6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992476-9FAF-E487-9890-F913FA228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5A8834-1D20-BEFF-786E-B41041C48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0B70AF-9CAA-0B3B-89BB-234454F67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73129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279F5-D319-D4F9-4BD1-0E3DC9D0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B34978-868C-334E-E1C2-10DA70FE3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DBCC45-84EA-8845-87DF-ACB132279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303887-824B-DC47-1532-975000725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4687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947F-B164-0A3C-0768-B03DB1A6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992476-9FAF-E487-9890-F913FA228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5A8834-1D20-BEFF-786E-B41041C48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0B70AF-9CAA-0B3B-89BB-234454F67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3148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947F-B164-0A3C-0768-B03DB1A6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992476-9FAF-E487-9890-F913FA228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5A8834-1D20-BEFF-786E-B41041C48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про 2, 3, 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0B70AF-9CAA-0B3B-89BB-234454F67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50283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7CA8-9681-8D4F-9061-6C5EDFA6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A1279E-609B-4652-3D7D-79FEFE74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82EA4C-5E61-5306-0CF0-A6DA3316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7D8581-E22E-6784-5199-971C505D0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70177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9F07-06DF-FF50-1BAA-2C22440D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8FF4676-074F-E52A-A187-7FE53C2BA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BB16C41-501A-F773-B7BB-C2B62FCED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CD9BF6-609E-94E4-4581-CD9DA43ED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65090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7333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10/06/2026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K-nearest_neighbors_algorith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evidentlyai.com/classification-metrics/confusion-matrix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8F73-DFEE-9AAF-C63D-E7FE356A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4F9BA-F2D8-F1D6-8708-ADFAB091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0"/>
            <a:ext cx="9087583" cy="1978323"/>
          </a:xfrm>
        </p:spPr>
        <p:txBody>
          <a:bodyPr anchor="ctr">
            <a:noAutofit/>
          </a:bodyPr>
          <a:lstStyle/>
          <a:p>
            <a:r>
              <a:rPr lang="ru-RU" dirty="0"/>
              <a:t>Лекция </a:t>
            </a:r>
            <a:r>
              <a:rPr lang="en-US" dirty="0"/>
              <a:t>4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Классификация: базовые методы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C2ED9E-A9AD-4811-EA42-397777183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</a:t>
            </a:r>
            <a:br>
              <a:rPr lang="ru-RU" dirty="0"/>
            </a:br>
            <a:r>
              <a:rPr lang="ru-RU" dirty="0"/>
              <a:t>Компьютерных</a:t>
            </a:r>
            <a:br>
              <a:rPr lang="ru-RU" dirty="0"/>
            </a:br>
            <a:r>
              <a:rPr lang="ru-RU" dirty="0"/>
              <a:t>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699B9-7DB8-01F9-B616-F3BDB0C8D4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D2B9B7-151A-A8CC-749D-65AE2F09A88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</a:t>
            </a:r>
            <a:br>
              <a:rPr lang="ru-RU" dirty="0"/>
            </a:br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613304B-FCE9-7B64-0124-7A39A6324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 «Анализ данных в биологии и медицине»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BF5E7F-4251-0011-549C-40A552E3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022" y="1203016"/>
            <a:ext cx="2124545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87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План лекции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041E80A7-9EC8-5199-B1F0-2228DBCF4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707" y="2078329"/>
                <a:ext cx="11390585" cy="4689566"/>
              </a:xfrm>
              <a:prstGeom prst="rect">
                <a:avLst/>
              </a:prstGeom>
            </p:spPr>
            <p:txBody>
              <a:bodyPr vert="horz" lIns="0" tIns="0" rIns="0" bIns="45720" numCol="3" spcCol="252000" rtlCol="0">
                <a:no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Постановка задачи бинарной классификации: </a:t>
                </a:r>
                <a:b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</a:br>
                <a:r>
                  <a:rPr lang="ru-RU" altLang="ru-RU" sz="2400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Ц</a:t>
                </a:r>
                <a:r>
                  <a:rPr lang="ru-RU" sz="2400" dirty="0"/>
                  <a:t>елевая переменная, признаки, шкалы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k-</a:t>
                </a:r>
                <a: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ближайших соседей (</a:t>
                </a:r>
                <a:r>
                  <a:rPr lang="en-US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k-NN</a:t>
                </a:r>
                <a: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): </a:t>
                </a:r>
                <a:b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</a:br>
                <a:r>
                  <a:rPr lang="ru-RU" altLang="ru-RU" sz="2400" dirty="0"/>
                  <a:t>М</a:t>
                </a:r>
                <a:r>
                  <a:rPr lang="ru-RU" sz="2400" dirty="0"/>
                  <a:t>етрики расстояния, масштабирование признаков; выбор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; вычислительная стоимость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Логистическая регрессия:</a:t>
                </a:r>
                <a:b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</a:br>
                <a:r>
                  <a:rPr lang="ru-RU" altLang="ru-RU" sz="2400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Модель, </a:t>
                </a:r>
                <a:r>
                  <a:rPr lang="ru-RU" altLang="ru-RU" sz="2400" dirty="0" err="1">
                    <a:solidFill>
                      <a:srgbClr val="0E2D69"/>
                    </a:solidFill>
                    <a:latin typeface="HSE Sans" panose="02000000000000000000" pitchFamily="2" charset="0"/>
                  </a:rPr>
                  <a:t>сигмоида</a:t>
                </a:r>
                <a:r>
                  <a:rPr lang="ru-RU" altLang="ru-RU" sz="2400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, разделяющая гиперплоскость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Функция потерь:</a:t>
                </a:r>
                <a:r>
                  <a:rPr lang="ru-RU" sz="2400" dirty="0"/>
                  <a:t> перекрёстная энтропия и почему именно она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ru-RU" altLang="ru-RU" sz="2400" dirty="0">
                  <a:solidFill>
                    <a:srgbClr val="0E2D69"/>
                  </a:solidFill>
                  <a:latin typeface="HSE Sans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ru-RU" altLang="ru-RU" sz="2400" dirty="0">
                  <a:solidFill>
                    <a:srgbClr val="0E2D69"/>
                  </a:solidFill>
                  <a:latin typeface="HSE Sans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ru-RU" altLang="ru-RU" sz="2400" dirty="0">
                  <a:solidFill>
                    <a:srgbClr val="0E2D69"/>
                  </a:solidFill>
                  <a:latin typeface="HSE Sans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sz="2400" b="1" dirty="0" err="1"/>
                  <a:t>Многоклассовая</a:t>
                </a:r>
                <a:r>
                  <a:rPr lang="ru-RU" sz="2400" b="1" dirty="0"/>
                  <a:t> классификация:</a:t>
                </a:r>
                <a:r>
                  <a:rPr lang="ru-RU" sz="2400" dirty="0"/>
                  <a:t> One-</a:t>
                </a:r>
                <a:r>
                  <a:rPr lang="ru-RU" sz="2400" dirty="0" err="1"/>
                  <a:t>vs</a:t>
                </a:r>
                <a:r>
                  <a:rPr lang="ru-RU" sz="2400" dirty="0"/>
                  <a:t>-</a:t>
                </a:r>
                <a:r>
                  <a:rPr lang="ru-RU" sz="2400" dirty="0" err="1"/>
                  <a:t>Rest</a:t>
                </a:r>
                <a:r>
                  <a:rPr lang="ru-RU" sz="2400" dirty="0"/>
                  <a:t> и </a:t>
                </a:r>
                <a:r>
                  <a:rPr lang="ru-RU" sz="2400" dirty="0" err="1"/>
                  <a:t>Softmax</a:t>
                </a:r>
                <a:endParaRPr lang="ru-RU" sz="2400" dirty="0"/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Основные метрики: </a:t>
                </a:r>
                <a:br>
                  <a:rPr lang="ru-RU" altLang="ru-RU" sz="2400" b="1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</a:br>
                <a:r>
                  <a:rPr lang="ru-RU" altLang="ru-RU" sz="2400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Матрица ошибок</a:t>
                </a:r>
                <a:r>
                  <a:rPr lang="en-US" altLang="ru-RU" sz="2400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;</a:t>
                </a:r>
                <a:r>
                  <a:rPr lang="ru-RU" altLang="ru-RU" sz="2400" dirty="0">
                    <a:solidFill>
                      <a:srgbClr val="0E2D69"/>
                    </a:solidFill>
                    <a:latin typeface="HSE Sans" panose="02000000000000000000" pitchFamily="2" charset="0"/>
                  </a:rPr>
                  <a:t> </a:t>
                </a:r>
                <a:r>
                  <a:rPr lang="en-US" sz="2400" dirty="0"/>
                  <a:t>TP/FP/TN/FN; Accuracy, Precision, Recall, Specificity, F1-мера</a:t>
                </a:r>
                <a:br>
                  <a:rPr lang="ru-RU" sz="2400" dirty="0"/>
                </a:br>
                <a:endParaRPr lang="ru-RU" altLang="ru-RU" sz="2400" b="1" dirty="0">
                  <a:solidFill>
                    <a:srgbClr val="0E2D69"/>
                  </a:solidFill>
                  <a:latin typeface="HSE Sans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041E80A7-9EC8-5199-B1F0-2228DBCF4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707" y="2078329"/>
                <a:ext cx="11390585" cy="4689566"/>
              </a:xfrm>
              <a:prstGeom prst="rect">
                <a:avLst/>
              </a:prstGeom>
              <a:blipFill>
                <a:blip r:embed="rId2"/>
                <a:stretch>
                  <a:fillRect l="-1552" t="-2081" r="-54" b="-7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Что такое классификация?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587850" y="2162112"/>
            <a:ext cx="70382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Определение:</a:t>
            </a:r>
            <a:r>
              <a:rPr lang="ru-RU" sz="2000" dirty="0"/>
              <a:t> Классификация – это задача прогнозирования категориального (дискретного) ответа на основе входных данных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Примеры:</a:t>
            </a:r>
            <a:r>
              <a:rPr lang="ru-RU" sz="2000" dirty="0"/>
              <a:t> В медицине типичная задача классификации – диагностика заболевания по данным пациента. </a:t>
            </a:r>
            <a:br>
              <a:rPr lang="en-US" sz="2000" dirty="0"/>
            </a:br>
            <a:r>
              <a:rPr lang="ru-RU" sz="2000" dirty="0"/>
              <a:t>Например, по результатам анализов и симптомам нужно определить, болен пациент (класс «болен») или здоров (класс «не болен»)</a:t>
            </a:r>
            <a:br>
              <a:rPr lang="en-US" sz="2000" dirty="0">
                <a:latin typeface="HSE Sans" panose="02000000000000000000"/>
              </a:rPr>
            </a:b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Тип обучения:</a:t>
            </a:r>
            <a:r>
              <a:rPr lang="ru-RU" sz="2000" dirty="0"/>
              <a:t> Классификация относится к обучению с учителем – алгоритм обучается на размеченных данных, где каждому объекту привязан известный класс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F1A64CA-B04A-89BE-51F5-F124B0DD84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75" t="5905" r="6152" b="6692"/>
          <a:stretch>
            <a:fillRect/>
          </a:stretch>
        </p:blipFill>
        <p:spPr>
          <a:xfrm>
            <a:off x="7577197" y="2224815"/>
            <a:ext cx="4115555" cy="40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0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B88E-BBA0-653C-8300-2AAE600B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14B4B07-EBD3-E947-BFEF-B26122FEB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880977-0742-C902-9B0D-A92CDE5BA5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5327C32-306F-90DD-67DB-A4BA23C8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Типы задач классификации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CD5A98A-970E-5717-A761-953A646EF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8C45B-A4DD-0C26-DC8A-499100C1337C}"/>
              </a:ext>
            </a:extLst>
          </p:cNvPr>
          <p:cNvSpPr txBox="1"/>
          <p:nvPr/>
        </p:nvSpPr>
        <p:spPr>
          <a:xfrm>
            <a:off x="587850" y="2162112"/>
            <a:ext cx="70382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Бинарная </a:t>
            </a:r>
            <a:r>
              <a:rPr lang="en-US" sz="2000" b="1" dirty="0"/>
              <a:t>vs. </a:t>
            </a:r>
            <a:r>
              <a:rPr lang="ru-RU" sz="2000" b="1" dirty="0" err="1"/>
              <a:t>многоклассовая</a:t>
            </a:r>
            <a:r>
              <a:rPr lang="ru-RU" sz="2000" b="1" dirty="0"/>
              <a:t>: </a:t>
            </a:r>
            <a:br>
              <a:rPr lang="ru-RU" sz="2000" dirty="0"/>
            </a:br>
            <a:r>
              <a:rPr lang="ru-RU" sz="2000" dirty="0"/>
              <a:t>Бинарная - два класса (например «болен» </a:t>
            </a:r>
            <a:r>
              <a:rPr lang="ru-RU" sz="2000" dirty="0" err="1"/>
              <a:t>vs</a:t>
            </a:r>
            <a:r>
              <a:rPr lang="ru-RU" sz="2000" dirty="0"/>
              <a:t> «здоров). В бинарной классификации часто оперируют понятиями «положительный класс» (условно, интересующее событие – например, наличие заболевания) и «отрицательный класс» (отсутствие заболевания). </a:t>
            </a:r>
            <a:br>
              <a:rPr lang="ru-RU" sz="2000" dirty="0"/>
            </a:br>
            <a:r>
              <a:rPr lang="ru-RU" sz="2000" dirty="0"/>
              <a:t>В </a:t>
            </a:r>
            <a:r>
              <a:rPr lang="ru-RU" sz="2000" dirty="0" err="1"/>
              <a:t>многоклассовой</a:t>
            </a:r>
            <a:r>
              <a:rPr lang="ru-RU" sz="2000" dirty="0"/>
              <a:t> – каждая из нескольких категорий рассматривается как отдельный класс, и модель должна выбрать одну из них для каждого объекта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Многомерная классификация:</a:t>
            </a:r>
            <a:r>
              <a:rPr lang="ru-RU" sz="2000" dirty="0"/>
              <a:t> </a:t>
            </a:r>
            <a:br>
              <a:rPr lang="ru-RU" sz="2000" dirty="0"/>
            </a:br>
            <a:r>
              <a:rPr lang="ru-RU" sz="2000" dirty="0"/>
              <a:t>В некоторых случаях объект может принадлежать сразу нескольким классам (</a:t>
            </a:r>
            <a:r>
              <a:rPr lang="ru-RU" sz="2000" dirty="0" err="1"/>
              <a:t>multi-label</a:t>
            </a:r>
            <a:r>
              <a:rPr lang="ru-RU" sz="2000" dirty="0"/>
              <a:t> классификация), но такие задачи более сложны и выходят за рамки базового рассмотрения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A09EFF-31B4-6FB6-1AF9-7B31EA5DC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57" t="7447" r="64180" b="82169"/>
          <a:stretch>
            <a:fillRect/>
          </a:stretch>
        </p:blipFill>
        <p:spPr>
          <a:xfrm>
            <a:off x="8766928" y="1583703"/>
            <a:ext cx="1602558" cy="3016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A480AE2-6D79-9995-20FA-3EA5C49406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975" t="9655" r="12408" b="82491"/>
          <a:stretch>
            <a:fillRect/>
          </a:stretch>
        </p:blipFill>
        <p:spPr>
          <a:xfrm>
            <a:off x="8675364" y="4111898"/>
            <a:ext cx="2125049" cy="26213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6FE2DAC-5E46-BE73-351D-004111D845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8" t="20528" r="13063" b="7166"/>
          <a:stretch>
            <a:fillRect/>
          </a:stretch>
        </p:blipFill>
        <p:spPr bwMode="auto">
          <a:xfrm>
            <a:off x="7989996" y="1883436"/>
            <a:ext cx="3289956" cy="212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B27861-1218-1DBF-6AD4-B6C5646D1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16032" r="8752" b="6181"/>
          <a:stretch>
            <a:fillRect/>
          </a:stretch>
        </p:blipFill>
        <p:spPr bwMode="auto">
          <a:xfrm>
            <a:off x="8030161" y="4440968"/>
            <a:ext cx="3249791" cy="200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77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FB78-741A-B82A-C1C1-6F4F393B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0134634-4D9E-4F44-D497-B50CBC6B2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EBBA1F-4E67-748E-732A-0FFDCB76E4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24AE6C-BBC8-1849-9FD7-921B8D5E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Базовые методы классификации</a:t>
            </a:r>
            <a:r>
              <a:rPr lang="en-US" sz="3600" dirty="0"/>
              <a:t>:</a:t>
            </a:r>
            <a:r>
              <a:rPr lang="ru-RU" sz="3600" dirty="0"/>
              <a:t> </a:t>
            </a:r>
            <a:r>
              <a:rPr lang="en-US" sz="3600" dirty="0"/>
              <a:t>k-NN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ADB66E3-BAF0-9B75-30D8-A5047D0E11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A9CA4-6997-71AD-05D7-001A9CBD4A8A}"/>
              </a:ext>
            </a:extLst>
          </p:cNvPr>
          <p:cNvSpPr txBox="1"/>
          <p:nvPr/>
        </p:nvSpPr>
        <p:spPr>
          <a:xfrm>
            <a:off x="587850" y="2162112"/>
            <a:ext cx="79892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Метод </a:t>
            </a:r>
            <a:r>
              <a:rPr lang="en-US" sz="2000" b="1" dirty="0"/>
              <a:t>k-</a:t>
            </a:r>
            <a:r>
              <a:rPr lang="ru-RU" sz="2000" b="1" dirty="0"/>
              <a:t>ближайших соседей (</a:t>
            </a:r>
            <a:r>
              <a:rPr lang="en-US" sz="2000" b="1" dirty="0"/>
              <a:t>k-NN)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Находим </a:t>
            </a:r>
            <a:r>
              <a:rPr lang="ru-RU" sz="2000" b="1" i="1" dirty="0"/>
              <a:t>k</a:t>
            </a:r>
            <a:r>
              <a:rPr lang="ru-RU" sz="2000" dirty="0"/>
              <a:t> наиболее близких объектов из обучающего набора и относим объект к тому классу, который наиболее распространён среди соседей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Обычно используется евклидово расстояние или другая метрика для определения «близости».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Количество соседей k – </a:t>
            </a:r>
            <a:r>
              <a:rPr lang="ru-RU" sz="2000" dirty="0" err="1"/>
              <a:t>гиперпараметр</a:t>
            </a:r>
            <a:r>
              <a:rPr lang="ru-RU" sz="2000" dirty="0"/>
              <a:t>: небольшое k делает модель более чуткой к локальным данным, а большое k – сглаживает прогноз, но может промахиваться по мелким структурам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k-NN – </a:t>
            </a:r>
            <a:r>
              <a:rPr lang="ru-RU" sz="2000" i="1" dirty="0"/>
              <a:t>непараметрический</a:t>
            </a:r>
            <a:r>
              <a:rPr lang="ru-RU" sz="2000" dirty="0"/>
              <a:t> «ленивый» алгоритм: он не учится заранее, а хранит обучающие данные и выполняет все вычисления во время предсказания.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Минусы</a:t>
            </a:r>
            <a:r>
              <a:rPr lang="ru-RU" sz="2000" dirty="0"/>
              <a:t> – медленная классификация при больших данных и чувствительность к масштабу признаков (требуется нормализация)</a:t>
            </a:r>
            <a:endParaRPr lang="en-US" sz="2000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D8BA6CF6-ED83-968F-4DEC-D2D372D75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657" y="2484130"/>
            <a:ext cx="323833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69818A-E11B-00EB-142C-EC443484FC47}"/>
              </a:ext>
            </a:extLst>
          </p:cNvPr>
          <p:cNvSpPr txBox="1"/>
          <p:nvPr/>
        </p:nvSpPr>
        <p:spPr>
          <a:xfrm>
            <a:off x="10181844" y="5897880"/>
            <a:ext cx="598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HSE Sans" panose="02000000000000000000" pitchFamily="2" charset="0"/>
                <a:hlinkClick r:id="rId4"/>
              </a:rPr>
              <a:t>Wiki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33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16F2E-A068-375E-A5B1-79DADFC0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C0D183A-F32F-9676-38AE-9C404E82E1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477E56-C23E-42D4-2060-096DA6F47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1DF383-8C66-7C6E-18F6-5E3E8175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Базовые методы классификации</a:t>
            </a:r>
            <a:r>
              <a:rPr lang="en-US" sz="3600" dirty="0"/>
              <a:t>:</a:t>
            </a:r>
            <a:r>
              <a:rPr lang="ru-RU" sz="3600" dirty="0"/>
              <a:t> </a:t>
            </a:r>
            <a:r>
              <a:rPr lang="en-US" sz="3600" dirty="0" err="1"/>
              <a:t>LogReg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478F331-5B49-A6C8-59DA-DE50664278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5502E6-F27F-B9A1-1F63-695FCDE825B8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7202838" cy="4301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Логистическая регрессия (линейный классификатор)</a:t>
                </a:r>
                <a:endParaRPr lang="ru-RU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Базовый метод для бинарной классификации, относящийся к линейным моделям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Модель вычисляет взвешенную сумму признаков, а затем применяет </a:t>
                </a:r>
                <a:r>
                  <a:rPr lang="ru-RU" sz="2000" dirty="0" err="1"/>
                  <a:t>сигмоидную</a:t>
                </a:r>
                <a:r>
                  <a:rPr lang="ru-RU" sz="2000" dirty="0"/>
                  <a:t> функцию</a:t>
                </a:r>
                <a:r>
                  <a:rPr lang="en-US" sz="2000" dirty="0"/>
                  <a:t> </a:t>
                </a:r>
                <a:r>
                  <a:rPr lang="ru-RU" sz="2000" dirty="0"/>
                  <a:t>для преобразования в вероятность класса 1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solidFill>
                            <a:srgbClr val="0F2C68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solidFill>
                            <a:srgbClr val="0F2C6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0F2C6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solidFill>
                            <a:srgbClr val="0F2C6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F2C68"/>
                          </a:solidFill>
                          <a:latin typeface="Cambria Math" panose="02040503050406030204" pitchFamily="18" charset="0"/>
                        </a:rPr>
                        <m:t> …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F2C6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>
                  <a:defRPr/>
                </a:pP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F2C6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F2C6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2C6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2C6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2C6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F2C6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F2C6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Модель предсказывает класс по выбранному </a:t>
                </a:r>
                <a:r>
                  <a:rPr lang="ru-RU" sz="2000" b="1" dirty="0"/>
                  <a:t>порогу</a:t>
                </a:r>
                <a:r>
                  <a:rPr lang="ru-RU" sz="2000" dirty="0"/>
                  <a:t> вероятности (например, 0.5)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5502E6-F27F-B9A1-1F63-695FCDE8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7202838" cy="4301049"/>
              </a:xfrm>
              <a:prstGeom prst="rect">
                <a:avLst/>
              </a:prstGeom>
              <a:blipFill>
                <a:blip r:embed="rId3"/>
                <a:stretch>
                  <a:fillRect l="-846" t="-851" r="-1438" b="-17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A7AF4E8B-42E0-61E0-2AB4-17032597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231" y="2372487"/>
            <a:ext cx="4320512" cy="337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86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962E-EFC8-FBE4-02B5-C3D10D36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494666A-0329-B586-B8F5-0EFEDE1F4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6833EE-3FA6-C0FC-2966-581ED7EEE3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99DF4D5-9437-2A81-B93A-67EE0858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для классификации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1B581E8-424A-D5FB-841D-586FCB0D0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ACD2C1-D619-76E6-3C18-809D0D2CAC0A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1029351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Перекрёстная энтропия (</a:t>
                </a:r>
                <a:r>
                  <a:rPr lang="en-US" sz="2000" b="1" dirty="0"/>
                  <a:t>cross-entropy</a:t>
                </a:r>
                <a:r>
                  <a:rPr lang="ru-RU" sz="2000" b="1" dirty="0"/>
                  <a:t>)</a:t>
                </a:r>
                <a:endParaRPr lang="ru-RU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Метрика, измеряющая, насколько предсказания модели классификации далеки от реальных меток. Проще говоря, это </a:t>
                </a:r>
                <a:r>
                  <a:rPr lang="ru-RU" sz="2000" b="1" dirty="0"/>
                  <a:t>мера «удивления»</a:t>
                </a:r>
                <a:r>
                  <a:rPr lang="ru-RU" sz="2000" dirty="0"/>
                  <a:t>: она показывает, насколько модель «удивлена» ответом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000" dirty="0"/>
              </a:p>
              <a:p>
                <a:endParaRPr lang="ru-RU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i="1" dirty="0"/>
                  <a:t>p</a:t>
                </a:r>
                <a:r>
                  <a:rPr lang="en-US" sz="2000" dirty="0"/>
                  <a:t> – </a:t>
                </a:r>
                <a:r>
                  <a:rPr lang="ru-RU" sz="2000" dirty="0"/>
                  <a:t>предсказанная вероятность класса 1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i="1" dirty="0"/>
                  <a:t>y</a:t>
                </a:r>
                <a:r>
                  <a:rPr lang="en-US" sz="2000" dirty="0"/>
                  <a:t> – </a:t>
                </a:r>
                <a:r>
                  <a:rPr lang="ru-RU" sz="2000" dirty="0"/>
                  <a:t>истинная метка (0 или 1)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ACD2C1-D619-76E6-3C18-809D0D2CA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10293510" cy="2862322"/>
              </a:xfrm>
              <a:prstGeom prst="rect">
                <a:avLst/>
              </a:prstGeom>
              <a:blipFill>
                <a:blip r:embed="rId3"/>
                <a:stretch>
                  <a:fillRect l="-592" t="-1279" b="-2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35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F68D-F780-D0C8-4DBA-6B7D1BA8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9DC6532-AD30-9273-A28D-D025633035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94DFA0-C479-E7CC-14F0-9B0DAA04D0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796CF0B-7644-3BA5-0271-1C0E72CC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Почему именно такая функция потерь?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59AADE8-86A7-DC5C-16BD-3964B1C9BA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7CDBB-8603-726A-613C-DD2020F479F0}"/>
              </a:ext>
            </a:extLst>
          </p:cNvPr>
          <p:cNvSpPr/>
          <p:nvPr/>
        </p:nvSpPr>
        <p:spPr>
          <a:xfrm>
            <a:off x="585896" y="2492853"/>
            <a:ext cx="1783677" cy="872346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Цель:</a:t>
            </a:r>
            <a:br>
              <a:rPr lang="ru-RU" sz="2000" dirty="0"/>
            </a:br>
            <a:r>
              <a:rPr lang="ru-RU" sz="2000" dirty="0"/>
              <a:t>Хорошая модель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0CFCD91-8148-A130-2E24-F6B25C90CD64}"/>
              </a:ext>
            </a:extLst>
          </p:cNvPr>
          <p:cNvSpPr/>
          <p:nvPr/>
        </p:nvSpPr>
        <p:spPr>
          <a:xfrm>
            <a:off x="3624317" y="2492854"/>
            <a:ext cx="1783677" cy="872346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Найти лучшие веса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4C26E48-2E47-E931-A9F4-510916B55F6A}"/>
              </a:ext>
            </a:extLst>
          </p:cNvPr>
          <p:cNvSpPr/>
          <p:nvPr/>
        </p:nvSpPr>
        <p:spPr>
          <a:xfrm>
            <a:off x="544925" y="4633184"/>
            <a:ext cx="1865618" cy="872346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Предсказания от 0 до 1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D277697-EC4A-0353-7E84-9B4DCACB7F54}"/>
              </a:ext>
            </a:extLst>
          </p:cNvPr>
          <p:cNvSpPr/>
          <p:nvPr/>
        </p:nvSpPr>
        <p:spPr>
          <a:xfrm>
            <a:off x="6662738" y="2492852"/>
            <a:ext cx="1783677" cy="872346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Градиентный спуск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DE2646BF-433D-B219-BD7B-026EB30CF2E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369573" y="2929026"/>
            <a:ext cx="125474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18B18ED-B20F-F2C5-93B1-D6BB01E2859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5407994" y="2929025"/>
            <a:ext cx="1254744" cy="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20B01C9-7FF3-82BA-4109-98B51D1455E2}"/>
              </a:ext>
            </a:extLst>
          </p:cNvPr>
          <p:cNvSpPr/>
          <p:nvPr/>
        </p:nvSpPr>
        <p:spPr>
          <a:xfrm>
            <a:off x="9202994" y="2224817"/>
            <a:ext cx="2526890" cy="1383622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Функция потерь с минимумом там, где хорошая модель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2284C75-0D70-7758-271F-D136F3D19C04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 flipV="1">
            <a:off x="8446415" y="2916628"/>
            <a:ext cx="756579" cy="1239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8A5B5F07-2E1D-4720-23E6-9FC3DAF4B43D}"/>
                  </a:ext>
                </a:extLst>
              </p:cNvPr>
              <p:cNvSpPr/>
              <p:nvPr/>
            </p:nvSpPr>
            <p:spPr>
              <a:xfrm>
                <a:off x="7554576" y="5202359"/>
                <a:ext cx="2897114" cy="872346"/>
              </a:xfrm>
              <a:prstGeom prst="roundRect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0: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8A5B5F07-2E1D-4720-23E6-9FC3DAF4B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576" y="5202359"/>
                <a:ext cx="2897114" cy="8723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: скругленные углы 23">
                <a:extLst>
                  <a:ext uri="{FF2B5EF4-FFF2-40B4-BE49-F238E27FC236}">
                    <a16:creationId xmlns:a16="http://schemas.microsoft.com/office/drawing/2014/main" id="{C1536551-0B1F-4C82-403D-034BBF4C4B70}"/>
                  </a:ext>
                </a:extLst>
              </p:cNvPr>
              <p:cNvSpPr/>
              <p:nvPr/>
            </p:nvSpPr>
            <p:spPr>
              <a:xfrm>
                <a:off x="7554576" y="3991307"/>
                <a:ext cx="2897114" cy="872346"/>
              </a:xfrm>
              <a:prstGeom prst="roundRect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1: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4" name="Прямоугольник: скругленные углы 23">
                <a:extLst>
                  <a:ext uri="{FF2B5EF4-FFF2-40B4-BE49-F238E27FC236}">
                    <a16:creationId xmlns:a16="http://schemas.microsoft.com/office/drawing/2014/main" id="{C1536551-0B1F-4C82-403D-034BBF4C4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576" y="3991307"/>
                <a:ext cx="2897114" cy="8723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EE6BEC2-C8BE-E4E6-37D2-C72BD605170B}"/>
              </a:ext>
            </a:extLst>
          </p:cNvPr>
          <p:cNvSpPr/>
          <p:nvPr/>
        </p:nvSpPr>
        <p:spPr>
          <a:xfrm>
            <a:off x="3602374" y="4500181"/>
            <a:ext cx="2011845" cy="1138351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If {1}: pred -&gt; 1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if {0}: pred -&gt; 0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288CD4E-807B-31FB-6121-DDC148D68FBA}"/>
              </a:ext>
            </a:extLst>
          </p:cNvPr>
          <p:cNvCxnSpPr>
            <a:cxnSpLocks/>
            <a:stCxn id="9" idx="3"/>
            <a:endCxn id="25" idx="1"/>
          </p:cNvCxnSpPr>
          <p:nvPr/>
        </p:nvCxnSpPr>
        <p:spPr>
          <a:xfrm>
            <a:off x="2410543" y="5069357"/>
            <a:ext cx="119183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C4AA81A-3CD4-F96F-96B3-536684EB8930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 flipV="1">
            <a:off x="5614219" y="4427480"/>
            <a:ext cx="1940357" cy="6418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09881528-84B1-F134-1149-4F97D6C323B2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5614219" y="5069357"/>
            <a:ext cx="1940357" cy="5691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0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7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962E-EFC8-FBE4-02B5-C3D10D36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494666A-0329-B586-B8F5-0EFEDE1F4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6833EE-3FA6-C0FC-2966-581ED7EEE3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99DF4D5-9437-2A81-B93A-67EE0858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err="1"/>
              <a:t>Многоклассовая</a:t>
            </a:r>
            <a:r>
              <a:rPr lang="ru-RU" sz="3600" dirty="0"/>
              <a:t> классификация – </a:t>
            </a:r>
            <a:r>
              <a:rPr lang="en-US" sz="3600" dirty="0"/>
              <a:t>One-vs-Rest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1B581E8-424A-D5FB-841D-586FCB0D0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CD2C1-D619-76E6-3C18-809D0D2CAC0A}"/>
              </a:ext>
            </a:extLst>
          </p:cNvPr>
          <p:cNvSpPr txBox="1"/>
          <p:nvPr/>
        </p:nvSpPr>
        <p:spPr>
          <a:xfrm>
            <a:off x="587850" y="2162112"/>
            <a:ext cx="74131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«Один против всех» (</a:t>
            </a:r>
            <a:r>
              <a:rPr lang="en-US" sz="2000" b="1" dirty="0" err="1"/>
              <a:t>OvR</a:t>
            </a:r>
            <a:r>
              <a:rPr lang="en-US" sz="2000" b="1" dirty="0"/>
              <a:t>)</a:t>
            </a:r>
            <a:r>
              <a:rPr lang="en-US" sz="2000" dirty="0"/>
              <a:t> – </a:t>
            </a:r>
            <a:r>
              <a:rPr lang="ru-RU" sz="2000" dirty="0"/>
              <a:t>самый интуитивно понятный и распространенный метод.</a:t>
            </a:r>
            <a:br>
              <a:rPr lang="ru-RU" sz="2000" dirty="0"/>
            </a:br>
            <a:r>
              <a:rPr lang="ru-RU" sz="2000" dirty="0"/>
              <a:t>Идея заключается к сведению одной </a:t>
            </a:r>
            <a:r>
              <a:rPr lang="ru-RU" sz="2000" dirty="0" err="1"/>
              <a:t>многоклассовой</a:t>
            </a:r>
            <a:r>
              <a:rPr lang="ru-RU" sz="2000" dirty="0"/>
              <a:t> задачи к нескольким бинарным</a:t>
            </a: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Модель №1 (специалист по собакам): учится отличать «собаку» от «всех остальных»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Модель №2 (специалист по кошкам): учится отличать «кошку» от «всех остальных»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Модель №3 (специалист по лисам): учится отличать «лису» от «всех остальных»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r>
              <a:rPr lang="ru-RU" sz="2000" dirty="0"/>
              <a:t>Итого: Модель №1 (0.1), </a:t>
            </a:r>
            <a:r>
              <a:rPr lang="ru-RU" sz="2000" b="1" dirty="0"/>
              <a:t>Модель №2 (0.8), </a:t>
            </a:r>
            <a:r>
              <a:rPr lang="ru-RU" sz="2000" dirty="0"/>
              <a:t>Модель №3 (0.4)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t="26666" r="40379" b="22727"/>
          <a:stretch/>
        </p:blipFill>
        <p:spPr>
          <a:xfrm>
            <a:off x="7662335" y="2715776"/>
            <a:ext cx="4384903" cy="27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11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962E-EFC8-FBE4-02B5-C3D10D36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494666A-0329-B586-B8F5-0EFEDE1F4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6833EE-3FA6-C0FC-2966-581ED7EEE3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99DF4D5-9437-2A81-B93A-67EE0858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err="1"/>
              <a:t>Многоклассовая</a:t>
            </a:r>
            <a:r>
              <a:rPr lang="ru-RU" sz="3600" dirty="0"/>
              <a:t> классификация – </a:t>
            </a:r>
            <a:r>
              <a:rPr lang="en-US" sz="3600" dirty="0" err="1"/>
              <a:t>Softmax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1B581E8-424A-D5FB-841D-586FCB0D0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ACD2C1-D619-76E6-3C18-809D0D2CAC0A}"/>
                  </a:ext>
                </a:extLst>
              </p:cNvPr>
              <p:cNvSpPr txBox="1"/>
              <p:nvPr/>
            </p:nvSpPr>
            <p:spPr>
              <a:xfrm>
                <a:off x="587849" y="2162112"/>
                <a:ext cx="11604151" cy="4296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Softmax – </a:t>
                </a:r>
                <a:r>
                  <a:rPr lang="ru-RU" sz="2400" dirty="0"/>
                  <a:t>функция, позволяющая превратить выходные данные модели (</a:t>
                </a:r>
                <a:r>
                  <a:rPr lang="ru-RU" sz="2400" dirty="0" err="1"/>
                  <a:t>логиты</a:t>
                </a:r>
                <a:r>
                  <a:rPr lang="ru-RU" sz="2400" dirty="0"/>
                  <a:t>) в вероятности для нескольких классов</a:t>
                </a:r>
                <a:endParaRPr lang="en-US" sz="2400" dirty="0"/>
              </a:p>
              <a:p>
                <a:endParaRPr lang="en-US" sz="2400" dirty="0"/>
              </a:p>
              <a:p>
                <a:pPr/>
                <a:r>
                  <a:rPr lang="ru-RU" sz="2400" dirty="0"/>
                  <a:t>Обучая модель сразу на все классы </a:t>
                </a:r>
                <a:r>
                  <a:rPr lang="en-US" sz="2400" b="1" dirty="0"/>
                  <a:t>[</a:t>
                </a:r>
                <a:r>
                  <a:rPr lang="ru-RU" sz="2400" b="1" dirty="0"/>
                  <a:t>0, 1, 2</a:t>
                </a:r>
                <a:r>
                  <a:rPr lang="en-US" sz="2400" b="1" dirty="0"/>
                  <a:t>, </a:t>
                </a:r>
                <a:r>
                  <a:rPr lang="ru-RU" sz="2400" b="1" dirty="0"/>
                  <a:t>…</a:t>
                </a:r>
                <a:r>
                  <a:rPr lang="en-US" sz="2400" b="1" dirty="0"/>
                  <a:t> K], </a:t>
                </a:r>
                <a:r>
                  <a:rPr lang="ru-RU" sz="2400" dirty="0"/>
                  <a:t>мы получим свой набор весов для каждого из классов</a:t>
                </a:r>
                <a:br>
                  <a:rPr lang="en-US" sz="2400" dirty="0"/>
                </a:br>
                <a:r>
                  <a:rPr lang="ru-RU" sz="2400" dirty="0"/>
                  <a:t>На выходе модели мы будут некие числа (оценки моделью каждого класса) в виде вектора </a:t>
                </a:r>
                <a:r>
                  <a:rPr lang="en-US" sz="2400" b="1" dirty="0"/>
                  <a:t>[z1, z2, z3, …, K]</a:t>
                </a:r>
                <a:br>
                  <a:rPr lang="en-US" sz="2400" dirty="0"/>
                </a:br>
                <a:r>
                  <a:rPr lang="en-US" sz="2400" dirty="0" err="1"/>
                  <a:t>Softmax</a:t>
                </a:r>
                <a:r>
                  <a:rPr lang="en-US" sz="2400" dirty="0"/>
                  <a:t> </a:t>
                </a:r>
                <a:r>
                  <a:rPr lang="ru-RU" sz="2400" dirty="0"/>
                  <a:t>преобразует эти значения в вероятности так, что сумма всех вероятностей равна 1</a:t>
                </a:r>
                <a:br>
                  <a:rPr lang="ru-RU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ACD2C1-D619-76E6-3C18-809D0D2CA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9" y="2162112"/>
                <a:ext cx="11604151" cy="4296882"/>
              </a:xfrm>
              <a:prstGeom prst="rect">
                <a:avLst/>
              </a:prstGeom>
              <a:blipFill>
                <a:blip r:embed="rId3"/>
                <a:stretch>
                  <a:fillRect l="-788" t="-11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54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1FAA-23AF-2DAF-E6AC-233C5273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BBBEF1F-73DA-744C-3272-864C29145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3E949-61CE-6C01-EC23-2CDCAAF36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91E53B-5D9B-68EA-D2EE-FD1F19D3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Матрица ошибок (</a:t>
            </a:r>
            <a:r>
              <a:rPr lang="en-US" sz="3600" dirty="0"/>
              <a:t>confusion matrix)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424DC19-A2EF-CF69-3AFA-A79D30E2F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37EF7-6404-99C3-EA3D-BA3FD6D0A249}"/>
              </a:ext>
            </a:extLst>
          </p:cNvPr>
          <p:cNvSpPr txBox="1"/>
          <p:nvPr/>
        </p:nvSpPr>
        <p:spPr>
          <a:xfrm>
            <a:off x="587850" y="2162112"/>
            <a:ext cx="640731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Матрица ошибок </a:t>
            </a:r>
            <a:r>
              <a:rPr lang="ru-RU" sz="2000" dirty="0"/>
              <a:t>— это таблица для оценки производительности модели классификации. </a:t>
            </a:r>
            <a:br>
              <a:rPr lang="ru-RU" sz="2000" dirty="0"/>
            </a:br>
            <a:r>
              <a:rPr lang="ru-RU" sz="2000" dirty="0"/>
              <a:t>Она показывает не просто общую долю правильных ответов, а то, </a:t>
            </a:r>
            <a:r>
              <a:rPr lang="ru-RU" sz="2000" b="1" dirty="0"/>
              <a:t>какие именно ошибки</a:t>
            </a:r>
            <a:r>
              <a:rPr lang="ru-RU" sz="2000" dirty="0"/>
              <a:t> совершает модель</a:t>
            </a:r>
            <a:endParaRPr lang="en-US" sz="2000" dirty="0"/>
          </a:p>
          <a:p>
            <a:endParaRPr lang="en-US" sz="2000" dirty="0"/>
          </a:p>
          <a:p>
            <a:r>
              <a:rPr lang="ru-RU" sz="2000" dirty="0"/>
              <a:t>Матрица сопоставляет </a:t>
            </a:r>
            <a:r>
              <a:rPr lang="ru-RU" sz="2000" b="1" dirty="0"/>
              <a:t>истинные классы</a:t>
            </a:r>
            <a:r>
              <a:rPr lang="ru-RU" sz="2000" dirty="0"/>
              <a:t> с </a:t>
            </a:r>
            <a:r>
              <a:rPr lang="ru-RU" sz="2000" b="1" dirty="0"/>
              <a:t>предсказанными</a:t>
            </a:r>
            <a:r>
              <a:rPr lang="ru-RU" sz="2000" dirty="0"/>
              <a:t> моделью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TP/TN:</a:t>
            </a:r>
            <a:r>
              <a:rPr lang="en-US" sz="2000" dirty="0"/>
              <a:t> </a:t>
            </a:r>
            <a:r>
              <a:rPr lang="ru-RU" sz="2000" dirty="0"/>
              <a:t>Верные предсказания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FP/FN:</a:t>
            </a:r>
            <a:r>
              <a:rPr lang="en-US" sz="2000" dirty="0"/>
              <a:t> </a:t>
            </a:r>
            <a:r>
              <a:rPr lang="ru-RU" sz="2000" dirty="0"/>
              <a:t>Ошибки</a:t>
            </a:r>
            <a:endParaRPr lang="en-US" sz="2000" dirty="0"/>
          </a:p>
        </p:txBody>
      </p:sp>
      <p:pic>
        <p:nvPicPr>
          <p:cNvPr id="5122" name="Picture 2" descr="Confusion matrix table">
            <a:extLst>
              <a:ext uri="{FF2B5EF4-FFF2-40B4-BE49-F238E27FC236}">
                <a16:creationId xmlns:a16="http://schemas.microsoft.com/office/drawing/2014/main" id="{5565E319-CDC3-96D6-B4E9-11B9493066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t="7092" r="11778" b="7553"/>
          <a:stretch>
            <a:fillRect/>
          </a:stretch>
        </p:blipFill>
        <p:spPr bwMode="auto">
          <a:xfrm>
            <a:off x="6995160" y="2096799"/>
            <a:ext cx="4992624" cy="300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AFFE6B-C857-C23C-DF6D-2CF085435322}"/>
              </a:ext>
            </a:extLst>
          </p:cNvPr>
          <p:cNvSpPr txBox="1"/>
          <p:nvPr/>
        </p:nvSpPr>
        <p:spPr>
          <a:xfrm>
            <a:off x="9761220" y="5436661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 err="1">
                <a:latin typeface="HSE Sans" panose="02000000000000000000" pitchFamily="2" charset="0"/>
                <a:hlinkClick r:id="rId4"/>
              </a:rPr>
              <a:t>EvidentlyAI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83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C85D-2C48-E6A8-8727-0A1CAE8A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9391906-FFD4-EE92-0816-8A9489FB5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F6AF73-83A3-6B97-B140-1470511392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4C0735-B677-01A1-ECEA-2A9ACF2B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Основные метрики матрицы ошибок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BD0BBFC-E27D-ECA0-0332-196C3A26E7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631073-A7FC-1829-B494-199DA76E9B3A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10366662" cy="397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Точность </a:t>
                </a:r>
                <a:r>
                  <a:rPr lang="en-US" sz="2000" b="1" dirty="0"/>
                  <a:t>(Accuracy)</a:t>
                </a:r>
                <a:r>
                  <a:rPr lang="ru-RU" sz="2000" dirty="0"/>
                  <a:t> – общая доля верных ответов</a:t>
                </a:r>
                <a:r>
                  <a:rPr lang="en-US" sz="20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TN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Точность</a:t>
                </a:r>
                <a:r>
                  <a:rPr lang="en-US" sz="2000" b="1" dirty="0"/>
                  <a:t> </a:t>
                </a:r>
                <a:r>
                  <a:rPr lang="ru-RU" sz="2000" dirty="0"/>
                  <a:t>(опять)</a:t>
                </a:r>
                <a:r>
                  <a:rPr lang="ru-RU" sz="2000" b="1" dirty="0"/>
                  <a:t> (</a:t>
                </a:r>
                <a:r>
                  <a:rPr lang="en-US" sz="2000" b="1" dirty="0"/>
                  <a:t>Precision</a:t>
                </a:r>
                <a:r>
                  <a:rPr lang="ru-RU" sz="2000" b="1" dirty="0"/>
                  <a:t>)</a:t>
                </a:r>
                <a:r>
                  <a:rPr lang="ru-RU" sz="2000" dirty="0"/>
                  <a:t> – насколько можно доверять положительным предсказаниям: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ru-RU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Полнота </a:t>
                </a:r>
                <a:r>
                  <a:rPr lang="en-US" sz="2000" b="1" dirty="0"/>
                  <a:t>(Recall)</a:t>
                </a:r>
                <a:r>
                  <a:rPr lang="en-US" sz="2000" dirty="0"/>
                  <a:t> - </a:t>
                </a:r>
                <a:r>
                  <a:rPr lang="ru-RU" sz="2000" dirty="0"/>
                  <a:t>как много реальных положительных случаев мы нашли</a:t>
                </a:r>
                <a:r>
                  <a:rPr lang="en-US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F1-</a:t>
                </a:r>
                <a:r>
                  <a:rPr lang="ru-RU" sz="2000" b="1" dirty="0"/>
                  <a:t>мера</a:t>
                </a:r>
                <a:r>
                  <a:rPr lang="ru-RU" sz="2000" dirty="0"/>
                  <a:t> - баланс между точностью и полнотой: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Recall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631073-A7FC-1829-B494-199DA76E9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10366662" cy="3978077"/>
              </a:xfrm>
              <a:prstGeom prst="rect">
                <a:avLst/>
              </a:prstGeom>
              <a:blipFill>
                <a:blip r:embed="rId3"/>
                <a:stretch>
                  <a:fillRect l="-529" t="-920" r="-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514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7D85-0E86-1067-57D6-CB39A9CC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D34B56-EFC7-A532-843C-C263C31C8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F4C60-9AA5-0BEC-99FF-E37BA4933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D68AF6-41D7-A789-2557-5D11C1D4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F55BFE9-9996-086F-1749-18E03F2BA6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49DA2-86EF-E29F-928D-EEC8204C550C}"/>
              </a:ext>
            </a:extLst>
          </p:cNvPr>
          <p:cNvSpPr txBox="1"/>
          <p:nvPr/>
        </p:nvSpPr>
        <p:spPr>
          <a:xfrm>
            <a:off x="1143689" y="2136338"/>
            <a:ext cx="94724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Вопрос 1:</a:t>
            </a:r>
            <a:r>
              <a:rPr lang="ru-RU" dirty="0"/>
              <a:t> Модель предсказывает вероятность того, что новообразование на коже является злокачественной меланомой. По умолчанию, вы используете порог 0.5. Рассмотрите две клинические ситуации: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Сценарий А (Скрининг):</a:t>
            </a:r>
            <a:r>
              <a:rPr lang="ru-RU" dirty="0"/>
              <a:t> Положительный результат модели ведет к направлению пациента на неинвазивную дерматоскопию к специалисту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Сценарий Б (Инвазивная диагностика):</a:t>
            </a:r>
            <a:r>
              <a:rPr lang="ru-RU" dirty="0"/>
              <a:t> Положительный результат модели является прямым показанием к немедленной хирургической биопсии, которая оставляет шрам и несет риски</a:t>
            </a:r>
          </a:p>
          <a:p>
            <a:r>
              <a:rPr lang="ru-RU" dirty="0"/>
              <a:t>Как лучше изменить порог принятия решений для каждого из сценариев?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3AE3A86-7F3B-590E-8278-28930D5171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20263-E16E-17C4-8C79-8186C527840E}"/>
              </a:ext>
            </a:extLst>
          </p:cNvPr>
          <p:cNvSpPr txBox="1"/>
          <p:nvPr/>
        </p:nvSpPr>
        <p:spPr>
          <a:xfrm>
            <a:off x="1034921" y="4827345"/>
            <a:ext cx="100133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Сценарий А (Скрининг): порог следует снизить, так как цена ошибки </a:t>
            </a:r>
            <a:r>
              <a:rPr lang="ru-RU" dirty="0" err="1"/>
              <a:t>False</a:t>
            </a:r>
            <a:r>
              <a:rPr lang="ru-RU" dirty="0"/>
              <a:t> </a:t>
            </a:r>
            <a:r>
              <a:rPr lang="ru-RU" dirty="0" err="1"/>
              <a:t>Negative</a:t>
            </a:r>
            <a:r>
              <a:rPr lang="ru-RU" dirty="0"/>
              <a:t> — пропустить потенциальный рак — чрезвычайно высока. Цена ошибки </a:t>
            </a:r>
            <a:r>
              <a:rPr lang="ru-RU" dirty="0" err="1"/>
              <a:t>False</a:t>
            </a:r>
            <a:r>
              <a:rPr lang="ru-RU" dirty="0"/>
              <a:t> </a:t>
            </a:r>
            <a:r>
              <a:rPr lang="ru-RU" dirty="0" err="1"/>
              <a:t>Positive</a:t>
            </a:r>
            <a:r>
              <a:rPr lang="ru-RU" dirty="0"/>
              <a:t> — направить здорового пациента на дополнительный осмотр — относительно низка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Сценарий Б (Инвазивная диагностика): порог следует повысить. Здесь цена ошибки </a:t>
            </a:r>
            <a:r>
              <a:rPr lang="en-US" dirty="0"/>
              <a:t>False Positive</a:t>
            </a:r>
            <a:r>
              <a:rPr lang="ru-RU" dirty="0"/>
              <a:t> высока (операция, шрамы, риски, стресс), а цена </a:t>
            </a:r>
            <a:r>
              <a:rPr lang="en-US" dirty="0"/>
              <a:t>False Negative </a:t>
            </a:r>
            <a:r>
              <a:rPr lang="ru-RU" dirty="0"/>
              <a:t>также высока, но её можно отловить другими методами</a:t>
            </a:r>
            <a:endParaRPr lang="ru-RU" dirty="0">
              <a:latin typeface="HSE Sans" panose="020000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333441E-B4A2-7897-802E-529CAEC07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224815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7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C997-41C8-8114-9096-7FAA49FB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082E9E-1D24-147E-8106-FC9563BB02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2B6410-0D67-67AD-B607-625389177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838B775-8285-E147-5E80-FC5BDA80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2D54B19-D20C-EB2A-0AB2-7A24D9761D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DD086-9D21-DC8A-102A-FB806288257B}"/>
              </a:ext>
            </a:extLst>
          </p:cNvPr>
          <p:cNvSpPr txBox="1"/>
          <p:nvPr/>
        </p:nvSpPr>
        <p:spPr>
          <a:xfrm>
            <a:off x="1143689" y="2224815"/>
            <a:ext cx="9286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2:</a:t>
            </a:r>
            <a:r>
              <a:rPr lang="ru-RU" sz="2000" dirty="0"/>
              <a:t> Вам нужно разработать модель для крупной больницы. Модель должна быть обучена на архиве из 10 миллионов историй болезни. Врач должен вводить данные нового пациента и получать мгновенный прогноз. Какой алгоритм лучше выбрать – логистическую регрессию или </a:t>
            </a:r>
            <a:r>
              <a:rPr lang="en-US" sz="2000" dirty="0"/>
              <a:t>k-NN</a:t>
            </a:r>
            <a:r>
              <a:rPr lang="ru-RU" sz="2000" dirty="0"/>
              <a:t>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BC385B4-8C53-B382-EA63-4C673D025F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F6761-6B5B-5398-5647-CBF01B104D35}"/>
              </a:ext>
            </a:extLst>
          </p:cNvPr>
          <p:cNvSpPr txBox="1"/>
          <p:nvPr/>
        </p:nvSpPr>
        <p:spPr>
          <a:xfrm>
            <a:off x="1143689" y="3722876"/>
            <a:ext cx="100133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Логистическая регрессия</a:t>
            </a:r>
            <a:r>
              <a:rPr lang="en-US" dirty="0"/>
              <a:t>: </a:t>
            </a:r>
            <a:br>
              <a:rPr lang="ru-RU" dirty="0"/>
            </a:br>
            <a:r>
              <a:rPr lang="ru-RU" b="1" dirty="0"/>
              <a:t>Обучение</a:t>
            </a:r>
            <a:r>
              <a:rPr lang="en-US" b="1" dirty="0"/>
              <a:t> </a:t>
            </a:r>
            <a:r>
              <a:rPr lang="ru-RU" b="1" dirty="0"/>
              <a:t>очень затратное</a:t>
            </a:r>
            <a:r>
              <a:rPr lang="ru-RU" dirty="0"/>
              <a:t>. Модели нужно будет проанализировать все 10 миллионов примеров</a:t>
            </a:r>
            <a:br>
              <a:rPr lang="ru-RU" dirty="0"/>
            </a:br>
            <a:r>
              <a:rPr lang="ru-RU" b="1" dirty="0"/>
              <a:t>Предсказание мгновенное</a:t>
            </a:r>
            <a:r>
              <a:rPr lang="ru-RU" dirty="0"/>
              <a:t>. После того как модель обучена, все, что у нее есть — это готовая формула (z = β0 ​+ β1 ​x 1 ​+ …).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</a:t>
            </a:r>
            <a:r>
              <a:rPr lang="ru-RU" dirty="0"/>
              <a:t>Ближайших соседей:</a:t>
            </a:r>
            <a:br>
              <a:rPr lang="ru-RU" dirty="0"/>
            </a:br>
            <a:r>
              <a:rPr lang="ru-RU" b="1" dirty="0"/>
              <a:t>Обучение:</a:t>
            </a:r>
            <a:r>
              <a:rPr lang="ru-RU" dirty="0"/>
              <a:t> </a:t>
            </a:r>
            <a:r>
              <a:rPr lang="ru-RU" b="1" dirty="0"/>
              <a:t>Мгновенное</a:t>
            </a:r>
            <a:r>
              <a:rPr lang="ru-RU" dirty="0"/>
              <a:t>. Алгоритм ничего не делает, он просто "запоминает" (сохраняет) все 10 миллионов историй болезни</a:t>
            </a:r>
            <a:br>
              <a:rPr lang="ru-RU" dirty="0"/>
            </a:br>
            <a:r>
              <a:rPr lang="ru-RU" b="1" dirty="0"/>
              <a:t>Предсказание:</a:t>
            </a:r>
            <a:r>
              <a:rPr lang="ru-RU" dirty="0"/>
              <a:t> Очень </a:t>
            </a:r>
            <a:r>
              <a:rPr lang="ru-RU" b="1" dirty="0"/>
              <a:t>затратное</a:t>
            </a:r>
            <a:r>
              <a:rPr lang="ru-RU" dirty="0"/>
              <a:t>. Чтобы классифицировать одного нового пациента, алгоритму нужно вычислить расстояние от него до </a:t>
            </a:r>
            <a:r>
              <a:rPr lang="ru-RU" i="1" dirty="0"/>
              <a:t>каждого</a:t>
            </a:r>
            <a:r>
              <a:rPr lang="ru-RU" dirty="0"/>
              <a:t> из 10 миллионов пациентов в архиве, отсортировать эти расстояния и найти k ближайших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2452036-6C38-FB5C-980A-E6F48C69C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296855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8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52CC-ED21-E440-05EA-9E308AC7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68E35FB-67FF-935E-5382-3EAA512494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A72808-8552-5E65-3C25-58048DF035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CB8339-D5E0-69B9-D24B-C0798819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22ADC1B-646F-ADBB-AD3A-6A0BE6902A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A3000-084C-C0E0-E38A-E796D6A1A479}"/>
              </a:ext>
            </a:extLst>
          </p:cNvPr>
          <p:cNvSpPr txBox="1"/>
          <p:nvPr/>
        </p:nvSpPr>
        <p:spPr>
          <a:xfrm>
            <a:off x="1143689" y="2208618"/>
            <a:ext cx="10158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Вопрос 3:</a:t>
            </a:r>
            <a:r>
              <a:rPr lang="ru-RU" dirty="0"/>
              <a:t> Вы строите модель для классификации двух типов лейкемии на основе данных экспрессии генов. Изначально у вас есть 20 генов, которые, являются отличными предикторами</a:t>
            </a:r>
            <a:r>
              <a:rPr lang="en-US" dirty="0"/>
              <a:t>, </a:t>
            </a:r>
            <a:r>
              <a:rPr lang="ru-RU" dirty="0"/>
              <a:t>и данные о 500 пациентах. Ваша модель k-NN (k=5) показывает прекрасные результаты. Ваш коллега предлагает "улучшить" модель, добавив в нее данные по экспрессии еще 5000 генов, которые не связаны с заболеванием.</a:t>
            </a:r>
            <a:br>
              <a:rPr lang="ru-RU" dirty="0"/>
            </a:br>
            <a:r>
              <a:rPr lang="ru-RU" dirty="0"/>
              <a:t>Как это повлияет на </a:t>
            </a:r>
            <a:r>
              <a:rPr lang="en-US" dirty="0"/>
              <a:t>k-NN? </a:t>
            </a:r>
            <a:r>
              <a:rPr lang="ru-RU" dirty="0"/>
              <a:t>Как это может повлиять на логистическую регрессию?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247B1BA-11C4-B0AB-6A86-47FCC6769F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D5650-346F-9126-48B2-4A1B537E4F39}"/>
              </a:ext>
            </a:extLst>
          </p:cNvPr>
          <p:cNvSpPr txBox="1"/>
          <p:nvPr/>
        </p:nvSpPr>
        <p:spPr>
          <a:xfrm>
            <a:off x="1108178" y="3874699"/>
            <a:ext cx="105356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k-Ближайших соседей (k-NN):</a:t>
            </a:r>
            <a:r>
              <a:rPr lang="ru-RU" dirty="0"/>
              <a:t> Производительность </a:t>
            </a:r>
            <a:r>
              <a:rPr lang="ru-RU" b="1" dirty="0"/>
              <a:t>очень сильно упадет</a:t>
            </a:r>
            <a:br>
              <a:rPr lang="ru-RU" dirty="0"/>
            </a:br>
            <a:r>
              <a:rPr lang="en-US" dirty="0"/>
              <a:t>k</a:t>
            </a:r>
            <a:r>
              <a:rPr lang="ru-RU" dirty="0"/>
              <a:t>-</a:t>
            </a:r>
            <a:r>
              <a:rPr lang="en-US" dirty="0"/>
              <a:t>NN </a:t>
            </a:r>
            <a:r>
              <a:rPr lang="ru-RU" dirty="0"/>
              <a:t>работает на понятии расстояния признаков. Добавив 5000 новых шумовых признаков, мы заглушим сигнал от 20 полезных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Логистическая регрессия: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1 вариант (без регуляризации). Производительность, </a:t>
            </a:r>
            <a:r>
              <a:rPr lang="ru-RU" b="1" dirty="0"/>
              <a:t>также сильно упадет</a:t>
            </a:r>
            <a:r>
              <a:rPr lang="ru-RU" dirty="0"/>
              <a:t>, так как при </a:t>
            </a:r>
            <a:r>
              <a:rPr lang="en-US" dirty="0"/>
              <a:t>p&gt;&gt;n </a:t>
            </a:r>
            <a:r>
              <a:rPr lang="ru-RU" dirty="0"/>
              <a:t>нам гарантирована </a:t>
            </a:r>
            <a:r>
              <a:rPr lang="ru-RU" dirty="0" err="1"/>
              <a:t>мультиколлинеарность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2 вариант (с регуляризацией – лекция 5) </a:t>
            </a:r>
            <a:r>
              <a:rPr lang="ru-RU" b="1" dirty="0"/>
              <a:t>упадет, но не так сильно</a:t>
            </a:r>
            <a:r>
              <a:rPr lang="ru-RU" dirty="0"/>
              <a:t>, или </a:t>
            </a:r>
            <a:r>
              <a:rPr lang="ru-RU" b="1" dirty="0"/>
              <a:t>может остаться на приемлемом уровне</a:t>
            </a:r>
            <a:r>
              <a:rPr lang="ru-RU" dirty="0"/>
              <a:t>. Для 5000 шумовых признаков, которые не несут никакой информации о классе, оптимальные веса будут </a:t>
            </a:r>
            <a:r>
              <a:rPr lang="ru-RU" dirty="0" err="1"/>
              <a:t>зануляться</a:t>
            </a:r>
            <a:r>
              <a:rPr lang="ru-RU" dirty="0"/>
              <a:t> или станут очень близки к нулю.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60ABF079-9842-FC81-DF0A-FD99B7A3E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035" y="2296855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2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46FC2-AB28-E95C-695A-97AD1C84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BEF8E8C-CFA3-9865-BBFF-EBFF6CC701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1DF808-ACE4-EE74-D360-6C0402A9AF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4DBCDA6-0AAD-5AA2-9A4B-E2363426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43FE5EA-2811-7757-4BC1-93489C5733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C04A4-B69F-EEB5-1BA2-7D868D40B0DC}"/>
              </a:ext>
            </a:extLst>
          </p:cNvPr>
          <p:cNvSpPr txBox="1"/>
          <p:nvPr/>
        </p:nvSpPr>
        <p:spPr>
          <a:xfrm>
            <a:off x="1143689" y="2208618"/>
            <a:ext cx="10158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Вопрос 4:</a:t>
            </a:r>
            <a:r>
              <a:rPr lang="ru-RU" dirty="0"/>
              <a:t> Представьте, что вы анализируете данные по двум биомаркерам (Биомаркер 1 и Биомаркер 2). При визуализации на диаграмме рассеяния выясняется, что пациенты с заболеванием (класс 1) образуют плотное кольцо, внутри которого находится облако здоровых пациентов (класс 0). </a:t>
            </a:r>
            <a:br>
              <a:rPr lang="ru-RU" dirty="0"/>
            </a:br>
            <a:r>
              <a:rPr lang="ru-RU" dirty="0"/>
              <a:t>Какой из двух алгоритмов — логистическая регрессия или k-NN — способен правильно разделить эти два класса? Почему?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A8D8FEB-835E-371B-D31D-FCE27C3D4A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24715-1BA9-7B0B-B6E4-1E13EBC679E7}"/>
              </a:ext>
            </a:extLst>
          </p:cNvPr>
          <p:cNvSpPr txBox="1"/>
          <p:nvPr/>
        </p:nvSpPr>
        <p:spPr>
          <a:xfrm>
            <a:off x="1143689" y="3766932"/>
            <a:ext cx="105356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k-Ближайших соседей (k-NN):</a:t>
            </a:r>
            <a:r>
              <a:rPr lang="ru-RU" sz="2000" dirty="0"/>
              <a:t> </a:t>
            </a:r>
            <a:r>
              <a:rPr lang="ru-RU" sz="2000" b="1" dirty="0"/>
              <a:t>Способен</a:t>
            </a:r>
            <a:r>
              <a:rPr lang="ru-RU" sz="2000" dirty="0"/>
              <a:t> правильно разделить классы.</a:t>
            </a:r>
            <a:br>
              <a:rPr lang="ru-RU" sz="2000" dirty="0"/>
            </a:br>
            <a:r>
              <a:rPr lang="ru-RU" sz="2000" dirty="0"/>
              <a:t>k-NN не строит явной границы. Его граница принятия решений является неявной и может принимать любую, сколь угодно сложную форму. Например, если новый пациент попадает внутрь "кольца", его ближайшими соседями будут точки из внутреннего "здорового" облака, и он будет классифицирован как здоровый (класс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Логистическая регрессия:</a:t>
            </a:r>
            <a:r>
              <a:rPr lang="ru-RU" sz="2000" dirty="0"/>
              <a:t> </a:t>
            </a:r>
            <a:r>
              <a:rPr lang="ru-RU" sz="2000" b="1" dirty="0"/>
              <a:t>Не способна</a:t>
            </a:r>
            <a:r>
              <a:rPr lang="ru-RU" sz="2000" dirty="0"/>
              <a:t> правильно разделить классы без </a:t>
            </a:r>
            <a:r>
              <a:rPr lang="en-US" sz="2000" dirty="0"/>
              <a:t>feature engineering</a:t>
            </a:r>
            <a:r>
              <a:rPr lang="ru-RU" sz="2000" dirty="0"/>
              <a:t>.</a:t>
            </a:r>
            <a:br>
              <a:rPr lang="ru-RU" sz="2000" dirty="0"/>
            </a:br>
            <a:r>
              <a:rPr lang="ru-RU" sz="2000" dirty="0"/>
              <a:t>Регрессия является линейным классификатором, т.е. граница, проводимая в пространстве признаков – это прямая линия/плоскость/гиперплоскость. Невозможно отделить кольцо от внутреннего содержимого одной линией.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B7E358E-D3E1-4AC3-3A16-C7169CBC7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296855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1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Классификация: базовые методы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5168D-F55C-A076-5B5A-A80B65F7615A}"/>
              </a:ext>
            </a:extLst>
          </p:cNvPr>
          <p:cNvSpPr txBox="1"/>
          <p:nvPr/>
        </p:nvSpPr>
        <p:spPr>
          <a:xfrm>
            <a:off x="1143689" y="2450743"/>
            <a:ext cx="9286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5:</a:t>
            </a:r>
            <a:r>
              <a:rPr lang="ru-RU" sz="2000" dirty="0"/>
              <a:t> Является ли метрика </a:t>
            </a:r>
            <a:r>
              <a:rPr lang="en-US" sz="2000" dirty="0"/>
              <a:t>F1 </a:t>
            </a:r>
            <a:r>
              <a:rPr lang="ru-RU" sz="2000" dirty="0"/>
              <a:t>чувствительной (зависимой) от изменения баланса классов? Аргументируйте. </a:t>
            </a:r>
            <a:r>
              <a:rPr lang="ru-RU" sz="2000" b="1" dirty="0"/>
              <a:t>(0.2 балла)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27F90-C6C3-2AF2-C2FC-E6B1C129220C}"/>
              </a:ext>
            </a:extLst>
          </p:cNvPr>
          <p:cNvSpPr txBox="1"/>
          <p:nvPr/>
        </p:nvSpPr>
        <p:spPr>
          <a:xfrm>
            <a:off x="1241705" y="3590544"/>
            <a:ext cx="100133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Да</a:t>
            </a:r>
            <a:r>
              <a:rPr lang="ru-RU" sz="2000" dirty="0"/>
              <a:t>. Например, при равном балансе классов (50/50) и случайном классификаторе, </a:t>
            </a:r>
            <a:r>
              <a:rPr lang="en-US" sz="2000" dirty="0"/>
              <a:t>F1</a:t>
            </a:r>
            <a:r>
              <a:rPr lang="ru-RU" sz="2000" dirty="0"/>
              <a:t>-мера будет равна 0.5. Тогда как при соотношении классов 1:9 и случайном предсказателе, </a:t>
            </a:r>
            <a:r>
              <a:rPr lang="en-US" sz="2000" dirty="0"/>
              <a:t>F1 </a:t>
            </a:r>
            <a:r>
              <a:rPr lang="ru-RU" sz="2000" dirty="0"/>
              <a:t>мера будет уже равна 0.1</a:t>
            </a:r>
            <a:r>
              <a:rPr lang="en-US" sz="2000" dirty="0"/>
              <a:t>6</a:t>
            </a:r>
            <a:endParaRPr lang="ru-RU" sz="2000" dirty="0">
              <a:latin typeface="HSE Sans" panose="020000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A022-1FE1-ACA3-7F8E-05BBAC96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ED199E-2A35-44CB-B297-87A2DD87A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/>
              <a:t>Центр биомедицинских исследований и технологий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EBC24B-8D95-C1D8-4DF7-4B21C7364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4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E49FA6-1477-3908-18E5-E0F77F6A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Заключение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0859C3A-CE7A-2679-9899-2DD3748C17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/>
              <a:t>Классификация: базовые методы</a:t>
            </a:r>
            <a:endParaRPr lang="ru-RU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19B4773-5194-F9B3-E3A7-9116D9AFC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C6087-1FED-9715-77D2-851DA364099C}"/>
              </a:ext>
            </a:extLst>
          </p:cNvPr>
          <p:cNvSpPr txBox="1"/>
          <p:nvPr/>
        </p:nvSpPr>
        <p:spPr>
          <a:xfrm>
            <a:off x="585897" y="2154296"/>
            <a:ext cx="72687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Классификация</a:t>
            </a:r>
            <a:r>
              <a:rPr lang="ru-RU" sz="2400" dirty="0"/>
              <a:t> – задача прогнозирования категорий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k-NN</a:t>
            </a:r>
            <a:r>
              <a:rPr lang="ru-RU" sz="2400" dirty="0"/>
              <a:t> – простой ленивый алгоритм, прогнозирует класс по ближайшим соседям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Логистическая регрессия </a:t>
            </a:r>
            <a:r>
              <a:rPr lang="ru-RU" sz="2400" dirty="0"/>
              <a:t>– линейная модель, предсказывает вероятность класса через </a:t>
            </a:r>
            <a:r>
              <a:rPr lang="ru-RU" sz="2400" dirty="0" err="1"/>
              <a:t>сигмоиду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Метрики качества:</a:t>
            </a:r>
            <a:r>
              <a:rPr lang="ru-RU" sz="2400" dirty="0"/>
              <a:t> Для оценки классификатора используем матрицу ошибок и производные от неё показатели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Функция потерь:</a:t>
            </a:r>
            <a:r>
              <a:rPr lang="ru-RU" sz="2400" dirty="0"/>
              <a:t> Для обучения моделей классификации введена кросс-энтропия</a:t>
            </a:r>
            <a:endParaRPr lang="ru-RU" sz="2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50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5D50C9-9995-4F81-99C1-2709443C08DD}">
  <we:reference id="wa104381909" version="3.19.0.0" store="ru-RU" storeType="OMEX"/>
  <we:alternateReferences>
    <we:reference id="WA104381909" version="3.19.0.0" store="WA10438190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4513</TotalTime>
  <Words>1997</Words>
  <Application>Microsoft Office PowerPoint</Application>
  <PresentationFormat>Широкоэкранный</PresentationFormat>
  <Paragraphs>177</Paragraphs>
  <Slides>19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HSE Sans</vt:lpstr>
      <vt:lpstr>Wingdings</vt:lpstr>
      <vt:lpstr>Office Theme</vt:lpstr>
      <vt:lpstr>Лекция 4: Классификация: базовые методы</vt:lpstr>
      <vt:lpstr>План лекции</vt:lpstr>
      <vt:lpstr>Что такое классификация?</vt:lpstr>
      <vt:lpstr>Типы задач классификации</vt:lpstr>
      <vt:lpstr>Базовые методы классификации: k-NN</vt:lpstr>
      <vt:lpstr>Базовые методы классификации: LogReg</vt:lpstr>
      <vt:lpstr>Функция потерь для классификации</vt:lpstr>
      <vt:lpstr>Почему именно такая функция потерь?</vt:lpstr>
      <vt:lpstr>Многоклассовая классификация – One-vs-Rest</vt:lpstr>
      <vt:lpstr>Многоклассовая классификация – Softmax</vt:lpstr>
      <vt:lpstr>Матрица ошибок (confusion matrix)</vt:lpstr>
      <vt:lpstr>Основные метрики матрицы ошибок</vt:lpstr>
      <vt:lpstr>Вопросы</vt:lpstr>
      <vt:lpstr>Вопросы</vt:lpstr>
      <vt:lpstr>Вопросы</vt:lpstr>
      <vt:lpstr>Вопросы</vt:lpstr>
      <vt:lpstr>Вопросы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Artem Bashkatov</cp:lastModifiedBy>
  <cp:revision>249</cp:revision>
  <cp:lastPrinted>2021-11-11T13:08:42Z</cp:lastPrinted>
  <dcterms:created xsi:type="dcterms:W3CDTF">2021-11-11T08:52:47Z</dcterms:created>
  <dcterms:modified xsi:type="dcterms:W3CDTF">2026-10-06T10:43:15Z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