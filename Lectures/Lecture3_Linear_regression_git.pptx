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4"/>
  </p:notesMasterIdLst>
  <p:sldIdLst>
    <p:sldId id="291" r:id="rId5"/>
    <p:sldId id="273" r:id="rId6"/>
    <p:sldId id="293" r:id="rId7"/>
    <p:sldId id="341" r:id="rId8"/>
    <p:sldId id="343" r:id="rId9"/>
    <p:sldId id="344" r:id="rId10"/>
    <p:sldId id="345" r:id="rId11"/>
    <p:sldId id="348" r:id="rId12"/>
    <p:sldId id="346" r:id="rId13"/>
    <p:sldId id="347" r:id="rId14"/>
    <p:sldId id="351" r:id="rId15"/>
    <p:sldId id="342" r:id="rId16"/>
    <p:sldId id="355" r:id="rId17"/>
    <p:sldId id="356" r:id="rId18"/>
    <p:sldId id="359" r:id="rId19"/>
    <p:sldId id="363" r:id="rId20"/>
    <p:sldId id="357" r:id="rId21"/>
    <p:sldId id="365" r:id="rId22"/>
    <p:sldId id="349" r:id="rId23"/>
    <p:sldId id="370" r:id="rId24"/>
    <p:sldId id="369" r:id="rId25"/>
    <p:sldId id="364" r:id="rId26"/>
    <p:sldId id="368" r:id="rId27"/>
    <p:sldId id="366" r:id="rId28"/>
    <p:sldId id="367" r:id="rId29"/>
    <p:sldId id="371" r:id="rId30"/>
    <p:sldId id="378" r:id="rId31"/>
    <p:sldId id="373" r:id="rId32"/>
    <p:sldId id="379" r:id="rId33"/>
    <p:sldId id="381" r:id="rId34"/>
    <p:sldId id="375" r:id="rId35"/>
    <p:sldId id="306" r:id="rId36"/>
    <p:sldId id="334" r:id="rId37"/>
    <p:sldId id="374" r:id="rId38"/>
    <p:sldId id="322" r:id="rId39"/>
    <p:sldId id="376" r:id="rId40"/>
    <p:sldId id="377" r:id="rId41"/>
    <p:sldId id="307" r:id="rId42"/>
    <p:sldId id="285" r:id="rId43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06AA7"/>
    <a:srgbClr val="029C63"/>
    <a:srgbClr val="96628C"/>
    <a:srgbClr val="11A0D7"/>
    <a:srgbClr val="E61F3D"/>
    <a:srgbClr val="CD5A5A"/>
    <a:srgbClr val="FFD746"/>
    <a:srgbClr val="0E2D6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8702" autoAdjust="0"/>
  </p:normalViewPr>
  <p:slideViewPr>
    <p:cSldViewPr snapToGrid="0" snapToObjects="1">
      <p:cViewPr varScale="1">
        <p:scale>
          <a:sx n="141" d="100"/>
          <a:sy n="141" d="100"/>
        </p:scale>
        <p:origin x="1026" y="12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10/06/2026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64638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13151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A35F3-E2FD-EF93-583E-755651298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25468AC-E4CA-DE2D-70D9-F2789112C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87AD5CA-BFBC-9484-EC7A-34C941442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D73F49-7BDB-4651-B676-8579FF3D8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22466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45B90-95BD-2A8A-8A1F-2C3DD7F7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B4A8DDF-ECBB-7A5B-E0A0-5085BFF3D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B8577FE-8288-0DD9-6117-AE5E8DA53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58289B-CD89-2158-590E-40C52631E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50583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E2E1-8AA6-B862-8C9B-EA434431A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849CF61-65F0-72B5-C0AA-D156B418B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CDBE7DE-56FB-C182-5C2C-693D00615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8F0E3A-B38C-000E-A1AB-086613CE5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33791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D7A5C-F309-0042-0DEE-B2F7C9DF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3D7A210-9700-7C75-8BD9-CE9830A20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D4A8A34-A71D-3DFA-F8F5-9FBF07850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EAAC3B-A925-2DB1-6A31-BFE041389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86095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4D612-AFCF-C1F2-F68C-06C8E9E1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A385B94-7F28-3039-0F8E-8F67A5726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034484E-4E14-3F90-C655-DBB0A422C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7955B2-0432-902A-5F60-16C8F36CE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56042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6F7D1-0706-9038-EE1C-C1550C89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EDDDF18-B686-5634-ED82-289D4DDDC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3DBDB6D-F408-4DB6-AB96-4CDE42448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1A6199-4321-9486-6B27-1D104C510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03013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90F55-3521-A26C-E0E3-114F07F1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8749471-B077-3838-5D83-B533E54E4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B8D2C18-AABD-EE64-B4E7-ABD0AA295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345B48-7777-24CB-F4F5-05FB3A304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7230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F51F0-5EA2-4618-B0E9-9A3C442D0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923D723-6A21-D2AA-4295-FF09CE3F6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CE56D31-CB50-12E5-F496-E55E0A288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05284E-FB4A-6C44-7EDE-2677092BE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6465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610A2-A6A2-A23B-1A51-07135D493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8ECBC0B-99B9-EE37-CE84-56E199636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71F240D-08BE-9128-CEAF-80E2F6CC1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26F0CA-9AC8-E374-A7E3-A9382BB0D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08404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CF5F5-5FAD-573C-EB34-C0B6550E9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2CA560F-AFA8-DF33-A647-C2852A0B9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AEDC46C-C043-560C-F966-C8F73A9D5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B906F6-54D5-00A0-DBDE-E6B30FD00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66083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ECC39-247D-AB8B-C884-D8A87A88F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283244E-027C-1598-A881-04AD7C494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02C0CEA-CE10-58B6-1C19-A71AF8403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335683-DB01-D476-7C82-2E17AFEBC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519361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ECEEA-8C52-38A9-30DA-12673271A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2FFC8D3-8C16-FA60-690A-2CC1E79B0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8B7FB79-B588-3AFD-B868-218507F35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4F3B97-D6F6-18A7-8A9D-65C9AFB5D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42289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A0851-60F3-09EF-0F61-29C1FCDF6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EBD4812-6938-8CA3-CBC6-E219B5916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99AF516-FAF6-C0EB-2555-4A4A35720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0E5F68-0F53-C571-0AE1-1902C1552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82463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CEC32-1D6B-85E3-1126-ABBDDBD63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008DDE3-D1E4-F5B9-C118-7E0B8E212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6BB7C9-5229-B11A-0C33-49821A522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5C9C28-4E97-6A50-D3DA-C7E33716FF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06300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48030-5C60-BF3D-3BBC-8C589E8C5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AE53FDB-8E6B-91B5-928B-11BA48C56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1FA4D07-E76E-66FD-BE59-C5A8F97BB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721530-DA54-E311-0CA7-A83D46249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613385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553BA-F7F7-71B6-CBE7-4AB58594B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827FD6F-9301-6D2C-F961-EB9C61AF2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ED87CE0-4D82-494D-946A-45C96E67E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4D6FEA-1A72-94F6-2EEE-E379DB627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738524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B9139-A057-693B-5CCE-51D40D2C9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BC072E1-6B7E-9D0F-8B74-875D479E0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AFAFF60-F088-7892-5FE5-A86E9A9E3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CCA6CA-9115-1CAB-B3D1-4E5B914D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927200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9AF37-F9C1-15E6-A07A-F49874DE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C2CD027-9BF5-42FD-5816-DDA86BA31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C5411B3-8383-2C64-D41E-69B21F8CA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85B465-611E-CAC6-0C0C-2FC4C25AB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801229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D9AEC-ABE1-A3CC-2DB6-0E9FBF55B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E637145-C762-0E08-C14E-E1AECB9C4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4246D8D-75D8-24BF-BA84-50E87B291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9F666A-28A1-F047-3AAA-C61F5F4C5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792200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6C90A-D95A-B0BB-E934-6696CF0DF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E463C4E-CDDA-FF0E-880B-C4C6AAA91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17F3A4D-47EA-1764-CA1A-99914CC08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493722-41BF-6FCA-20F3-AB568DDA7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772906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DE288-AC05-D7C4-EEDE-F17B66ABB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8381FE2-8347-A075-44D8-66DBEB924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C2D99D2-DD25-2C11-D46A-B2AC9B0EF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EBD328-8D40-838E-BCBC-416D1321E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876329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231A4-87B2-C5ED-7F17-5000AF365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2265232-687D-B591-214F-FD6740CDB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EF9F05B-E24C-1661-1B69-3A450788A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228A33-3045-6554-55CF-D79CD4BF5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962806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877BC-696F-472B-5A68-BE70D7A18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E424D9E-58A4-8DCD-AD23-0749E348A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7DB4EF5-63D7-5556-8050-FD122634B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B44F83-0173-F899-D789-41641ECFD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174475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DA9B5-57C1-4037-D15B-191EEEC22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35B6AB5-E771-53DB-D50B-7F1D02522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C80A6E-B1E0-2907-14E4-3E98E109A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C917FF-4A89-665A-BE32-A81B8D349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640587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DA9B5-57C1-4037-D15B-191EEEC22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35B6AB5-E771-53DB-D50B-7F1D02522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C80A6E-B1E0-2907-14E4-3E98E109A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C917FF-4A89-665A-BE32-A81B8D349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31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804807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37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36893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10/06/2026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sv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8F73-DFEE-9AAF-C63D-E7FE356A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4F9BA-F2D8-F1D6-8708-ADFAB0910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404670"/>
            <a:ext cx="9087583" cy="1978323"/>
          </a:xfrm>
        </p:spPr>
        <p:txBody>
          <a:bodyPr anchor="ctr">
            <a:noAutofit/>
          </a:bodyPr>
          <a:lstStyle/>
          <a:p>
            <a:r>
              <a:rPr lang="ru-RU" dirty="0"/>
              <a:t>Лекция 3:</a:t>
            </a:r>
            <a:br>
              <a:rPr lang="ru-RU" dirty="0"/>
            </a:br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C2ED9E-A9AD-4811-EA42-3977771838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ru-RU" dirty="0"/>
              <a:t>Факультет</a:t>
            </a:r>
            <a:br>
              <a:rPr lang="ru-RU" dirty="0"/>
            </a:br>
            <a:r>
              <a:rPr lang="ru-RU" dirty="0"/>
              <a:t>Компьютерных</a:t>
            </a:r>
            <a:br>
              <a:rPr lang="ru-RU" dirty="0"/>
            </a:br>
            <a:r>
              <a:rPr lang="ru-RU" dirty="0"/>
              <a:t>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0699B9-7DB8-01F9-B616-F3BDB0C8D4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DD2B9B7-151A-A8CC-749D-65AE2F09A88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 anchor="ctr"/>
          <a:lstStyle/>
          <a:p>
            <a:r>
              <a:rPr lang="ru-RU" dirty="0"/>
              <a:t>Москва</a:t>
            </a:r>
            <a:br>
              <a:rPr lang="ru-RU" dirty="0"/>
            </a:br>
            <a:r>
              <a:rPr lang="ru-RU" dirty="0"/>
              <a:t>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613304B-FCE9-7B64-0124-7A39A6324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 «Анализ данных в биологии и медицине»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BF5E7F-4251-0011-549C-40A552E3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022" y="1203016"/>
            <a:ext cx="2124545" cy="40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875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План лекции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41E80A7-9EC8-5199-B1F0-2228DBCF4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079" y="2224815"/>
            <a:ext cx="10795023" cy="3600986"/>
          </a:xfrm>
          <a:prstGeom prst="rect">
            <a:avLst/>
          </a:prstGeom>
        </p:spPr>
        <p:txBody>
          <a:bodyPr vert="horz" lIns="0" tIns="0" rIns="0" bIns="45720" numCol="3" spcCol="252000" rtlCol="0">
            <a:no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Понятие задачи регрессии: </a:t>
            </a:r>
            <a:b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</a:br>
            <a:r>
              <a:rPr lang="ru-RU" altLang="ru-RU" sz="2400" dirty="0">
                <a:solidFill>
                  <a:srgbClr val="0E2D69"/>
                </a:solidFill>
                <a:latin typeface="HSE Sans" panose="02000000000000000000" pitchFamily="2" charset="0"/>
              </a:rPr>
              <a:t>Ч</a:t>
            </a:r>
            <a:r>
              <a:rPr lang="ru-RU" sz="2400" dirty="0"/>
              <a:t>то такое регрессия в ML, отличие от задачи классификации</a:t>
            </a:r>
            <a:endParaRPr lang="ru-RU" altLang="ru-RU" sz="2400" b="1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Примеры регрессии</a:t>
            </a:r>
            <a:br>
              <a:rPr lang="en-US" altLang="ru-RU" sz="2400" dirty="0">
                <a:solidFill>
                  <a:srgbClr val="0E2D69"/>
                </a:solidFill>
                <a:latin typeface="HSE Sans" panose="02000000000000000000" pitchFamily="2" charset="0"/>
              </a:rPr>
            </a:br>
            <a:endParaRPr lang="ru-RU" altLang="ru-RU" sz="2400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ru-RU" sz="2400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>
              <a:spcBef>
                <a:spcPts val="1200"/>
              </a:spcBef>
            </a:pPr>
            <a:endParaRPr lang="ru-RU" altLang="ru-RU" sz="2400" b="1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Линейная регрессия: </a:t>
            </a:r>
            <a:r>
              <a:rPr lang="ru-RU" sz="2400" dirty="0"/>
              <a:t>модель линейной зависимости, интерпретация коэффициентов</a:t>
            </a:r>
            <a:endParaRPr lang="ru-RU" altLang="ru-RU" sz="2400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Обучение модели: </a:t>
            </a:r>
            <a:b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</a:br>
            <a:r>
              <a:rPr lang="ru-RU" altLang="ru-RU" sz="2400" dirty="0">
                <a:solidFill>
                  <a:srgbClr val="0E2D69"/>
                </a:solidFill>
                <a:latin typeface="HSE Sans" panose="02000000000000000000" pitchFamily="2" charset="0"/>
              </a:rPr>
              <a:t>МНК,</a:t>
            </a:r>
            <a:r>
              <a:rPr lang="en-US" altLang="ru-RU" sz="2400" dirty="0">
                <a:solidFill>
                  <a:srgbClr val="0E2D69"/>
                </a:solidFill>
                <a:latin typeface="HSE Sans" panose="02000000000000000000" pitchFamily="2" charset="0"/>
              </a:rPr>
              <a:t> </a:t>
            </a:r>
            <a:r>
              <a:rPr lang="ru-RU" altLang="ru-RU" sz="2400" dirty="0">
                <a:solidFill>
                  <a:srgbClr val="0E2D69"/>
                </a:solidFill>
                <a:latin typeface="HSE Sans" panose="02000000000000000000" pitchFamily="2" charset="0"/>
              </a:rPr>
              <a:t>функция потерь, градиентный спуск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ru-RU" altLang="ru-RU" sz="2400" b="1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Метрики качества регрессии:</a:t>
            </a:r>
            <a:b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</a:br>
            <a:r>
              <a:rPr lang="en-US" altLang="ru-RU" sz="2400" dirty="0">
                <a:solidFill>
                  <a:srgbClr val="0E2D69"/>
                </a:solidFill>
                <a:latin typeface="HSE Sans" panose="02000000000000000000" pitchFamily="2" charset="0"/>
              </a:rPr>
              <a:t>MSE, RMSE, MAE, R2</a:t>
            </a:r>
            <a:endParaRPr lang="ru-RU" altLang="ru-RU" sz="2400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Ограничения и улучшения: </a:t>
            </a:r>
            <a:r>
              <a:rPr lang="ru-RU" altLang="ru-RU" sz="2400" dirty="0">
                <a:solidFill>
                  <a:srgbClr val="0E2D69"/>
                </a:solidFill>
                <a:latin typeface="HSE Sans" panose="02000000000000000000" pitchFamily="2" charset="0"/>
              </a:rPr>
              <a:t>(не)</a:t>
            </a:r>
            <a:r>
              <a:rPr lang="ru-RU" sz="2400" dirty="0"/>
              <a:t>линейность, чувствительность к выбросам, полиномиальная регрессия</a:t>
            </a:r>
            <a:endParaRPr lang="ru-RU" altLang="ru-RU" sz="2400" dirty="0">
              <a:solidFill>
                <a:srgbClr val="0E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A49F-B89B-19D9-139B-79002FFA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686480E-3471-95DB-2890-DCB187AB2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13701-F1C7-6AAB-D2DD-0E78C5C96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4AF63CC-9BC3-E1FB-9970-46A48D68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Задача регрессии </a:t>
            </a:r>
            <a:r>
              <a:rPr lang="en-US" sz="3600" dirty="0"/>
              <a:t>vs. </a:t>
            </a:r>
            <a:r>
              <a:rPr lang="ru-RU" sz="3600" dirty="0"/>
              <a:t>классификации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E71811-CAB9-7E09-9D2F-3A881A1CBB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7B9CDA-6719-D7BD-6F8F-C0AD1182D6F7}"/>
                  </a:ext>
                </a:extLst>
              </p:cNvPr>
              <p:cNvSpPr txBox="1"/>
              <p:nvPr/>
            </p:nvSpPr>
            <p:spPr>
              <a:xfrm>
                <a:off x="722184" y="2162112"/>
                <a:ext cx="3968688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b="1" dirty="0"/>
                  <a:t>Регрессия</a:t>
                </a:r>
                <a:r>
                  <a:rPr lang="ru-RU" sz="2400" dirty="0"/>
                  <a:t>: </a:t>
                </a:r>
                <a:br>
                  <a:rPr lang="en-US" i="1" dirty="0">
                    <a:latin typeface="HSE Sans" panose="02000000000000000000"/>
                  </a:rPr>
                </a:b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(непрерывная величина)</a:t>
                </a:r>
                <a:br>
                  <a:rPr lang="en-US" sz="2400" dirty="0">
                    <a:latin typeface="HSE Sans" panose="02000000000000000000"/>
                  </a:rPr>
                </a:br>
                <a:endParaRPr lang="ru-RU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b="1" dirty="0"/>
                  <a:t>Классификация</a:t>
                </a:r>
                <a:r>
                  <a:rPr lang="ru-RU" sz="2400" dirty="0"/>
                  <a:t>: </a:t>
                </a:r>
                <a:br>
                  <a:rPr lang="en-US" i="1" dirty="0">
                    <a:latin typeface="HSE Sans" panose="02000000000000000000"/>
                  </a:rPr>
                </a:br>
                <a14:m>
                  <m:oMath xmlns:m="http://schemas.openxmlformats.org/officeDocument/2006/math">
                    <m:r>
                      <a:rPr lang="ru-RU" sz="240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400" smtClean="0">
                        <a:latin typeface="Cambria Math" panose="02040503050406030204" pitchFamily="18" charset="0"/>
                      </a:rPr>
                      <m:t>∈ {</m:t>
                    </m:r>
                    <m:r>
                      <a:rPr lang="ru-RU" sz="240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sz="240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} (</m:t>
                    </m:r>
                  </m:oMath>
                </a14:m>
                <a:r>
                  <a:rPr lang="ru-RU" sz="2400" dirty="0"/>
                  <a:t>метка класса)</a:t>
                </a:r>
                <a:br>
                  <a:rPr lang="en-US" sz="2400" dirty="0">
                    <a:latin typeface="HSE Sans" panose="02000000000000000000"/>
                  </a:rPr>
                </a:br>
                <a:endParaRPr lang="ru-RU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b="1" dirty="0"/>
                  <a:t>Цель</a:t>
                </a:r>
                <a:r>
                  <a:rPr lang="ru-RU" sz="2400" dirty="0"/>
                  <a:t>: </a:t>
                </a:r>
                <a:br>
                  <a:rPr lang="en-US" sz="2400" dirty="0">
                    <a:latin typeface="HSE Sans" panose="02000000000000000000"/>
                  </a:rPr>
                </a:br>
                <a:r>
                  <a:rPr lang="ru-RU" sz="2400" dirty="0"/>
                  <a:t>аппроксимировать зависимость </a:t>
                </a:r>
                <a14:m>
                  <m:oMath xmlns:m="http://schemas.openxmlformats.org/officeDocument/2006/math">
                    <m:r>
                      <a:rPr lang="ru-RU" sz="240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)↦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7B9CDA-6719-D7BD-6F8F-C0AD1182D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84" y="2162112"/>
                <a:ext cx="3968688" cy="4154984"/>
              </a:xfrm>
              <a:prstGeom prst="rect">
                <a:avLst/>
              </a:prstGeom>
              <a:blipFill>
                <a:blip r:embed="rId3"/>
                <a:stretch>
                  <a:fillRect l="-1994" t="-1175" b="-24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77F2EF2-26ED-8F3D-A438-754C27C9F1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66" b="47066"/>
          <a:stretch>
            <a:fillRect/>
          </a:stretch>
        </p:blipFill>
        <p:spPr>
          <a:xfrm>
            <a:off x="4690872" y="2451398"/>
            <a:ext cx="7261615" cy="334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03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208D6-C6CB-AA17-90C0-5EE69419C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0780D57-6885-1C68-1AD8-395B027028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74B4A4-D2B2-FCB2-38F6-87002699FA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8BAC58C-97F2-3612-6996-F5E58A0D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Линейная регрессия: </a:t>
            </a:r>
            <a:br>
              <a:rPr lang="ru-RU" sz="3600" dirty="0"/>
            </a:br>
            <a:r>
              <a:rPr lang="ru-RU" sz="3600" dirty="0"/>
              <a:t>Прогнозирование непрерывных величин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0260D81-3727-C8AB-FCFE-BD63B3EBCF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28DF4-DBD5-7E55-7212-F6F906BB65C7}"/>
              </a:ext>
            </a:extLst>
          </p:cNvPr>
          <p:cNvSpPr txBox="1"/>
          <p:nvPr/>
        </p:nvSpPr>
        <p:spPr>
          <a:xfrm>
            <a:off x="750241" y="3210799"/>
            <a:ext cx="62455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Цель:</a:t>
            </a:r>
            <a:br>
              <a:rPr lang="ru-RU" sz="2400" b="1" dirty="0"/>
            </a:br>
            <a:r>
              <a:rPr lang="ru-RU" sz="2400" dirty="0"/>
              <a:t>Прогнозирование количественного исхода</a:t>
            </a:r>
            <a:br>
              <a:rPr lang="ru-RU" sz="2400" b="1" dirty="0"/>
            </a:br>
            <a:endParaRPr lang="ru-RU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Визуальная интуиция: </a:t>
            </a:r>
            <a:br>
              <a:rPr lang="ru-RU" sz="2400" b="1" dirty="0"/>
            </a:br>
            <a:r>
              <a:rPr lang="ru-RU" sz="2400" dirty="0"/>
              <a:t>ищем «наилучшую прямую»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27278C-8483-1A06-27A8-7A99F39CF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786" y="2595663"/>
            <a:ext cx="4648066" cy="385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648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07909-5DA1-56DE-B158-8EE6A3F86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3AE640E-3151-6925-38D6-344B2A521D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69CE1C-F58E-0DD9-09DD-4AF42DE3EF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B8498D1-81DF-4EAE-D4CE-57928635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Линейная регрессия: Идея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8988DBD-55DF-44F6-AC12-BAD2A6006C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40797F-10E8-6482-A041-079675CC44AE}"/>
                  </a:ext>
                </a:extLst>
              </p:cNvPr>
              <p:cNvSpPr txBox="1"/>
              <p:nvPr/>
            </p:nvSpPr>
            <p:spPr>
              <a:xfrm>
                <a:off x="786192" y="2224815"/>
                <a:ext cx="6245544" cy="4422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Матрица признаков</a:t>
                </a:r>
                <a:r>
                  <a:rPr lang="en-US" sz="2400" b="1" dirty="0"/>
                  <a:t>:</a:t>
                </a: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b="1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Вектор ответов</a:t>
                </a:r>
                <a:r>
                  <a:rPr lang="en-US" sz="2400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dirty="0" err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b="0" i="1" dirty="0" err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</a:endParaRPr>
              </a:p>
              <a:p>
                <a:endParaRPr lang="ru-RU" sz="24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Уравнение регрессии (1 признак)</a:t>
                </a:r>
                <a:r>
                  <a:rPr lang="ru-RU" sz="2400" b="1" dirty="0"/>
                  <a:t>: </a:t>
                </a:r>
                <a:br>
                  <a:rPr lang="ru-RU" sz="2400" b="1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ru-RU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Множество признаков: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40797F-10E8-6482-A041-079675CC4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92" y="2224815"/>
                <a:ext cx="6245544" cy="4422557"/>
              </a:xfrm>
              <a:prstGeom prst="rect">
                <a:avLst/>
              </a:prstGeom>
              <a:blipFill>
                <a:blip r:embed="rId3"/>
                <a:stretch>
                  <a:fillRect l="-1366" t="-11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Плоскость обученной линейной регрессии, проходящая через обучающий набор">
            <a:extLst>
              <a:ext uri="{FF2B5EF4-FFF2-40B4-BE49-F238E27FC236}">
                <a16:creationId xmlns:a16="http://schemas.microsoft.com/office/drawing/2014/main" id="{7AB18BA4-1A6C-5AEC-E85C-588855001E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3" r="8056" b="5593"/>
          <a:stretch>
            <a:fillRect/>
          </a:stretch>
        </p:blipFill>
        <p:spPr bwMode="auto">
          <a:xfrm>
            <a:off x="6382264" y="1911015"/>
            <a:ext cx="5157464" cy="451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847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AE8AB-DA44-793F-72C4-B3425F02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23BB49F-19D4-BD75-1AC0-FF0E069A1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7F883C-2738-4DA4-6392-365F4C01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4282EA6-DF31-DF8A-19EF-7A4B177FF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Функция потерь (</a:t>
            </a:r>
            <a:r>
              <a:rPr lang="en-US" sz="3600" dirty="0"/>
              <a:t>Loss)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0A803F0-D75F-7D34-C7B1-0CAC42B845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0" name="AutoShape 4" descr="Выходное изображение">
            <a:extLst>
              <a:ext uri="{FF2B5EF4-FFF2-40B4-BE49-F238E27FC236}">
                <a16:creationId xmlns:a16="http://schemas.microsoft.com/office/drawing/2014/main" id="{9D9D3B36-0328-2ED8-2559-23C087E08E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C1B9FD3-8E3C-6EB0-9370-E5FB505E4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016" y="2224815"/>
            <a:ext cx="7004304" cy="417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06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DEE9-ED92-D21E-FDA3-C5E9A7F6E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C01BC43-35F1-ED02-A712-242CB8731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1ADD50-0E46-C423-F991-5937120CBF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0B09616-16A1-BA6E-05C1-E3839CBD9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Функция потерь (</a:t>
            </a:r>
            <a:r>
              <a:rPr lang="en-US" sz="3600" dirty="0"/>
              <a:t>Loss)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6B2FE4E-D43D-B8B5-BAFA-510810D2D9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C8EAA77-DC38-1DC2-1947-ED1628E43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408" y="2571873"/>
            <a:ext cx="5984925" cy="3563751"/>
          </a:xfrm>
          <a:prstGeom prst="rect">
            <a:avLst/>
          </a:prstGeom>
        </p:spPr>
      </p:pic>
      <p:sp>
        <p:nvSpPr>
          <p:cNvPr id="10" name="AutoShape 4" descr="Выходное изображение">
            <a:extLst>
              <a:ext uri="{FF2B5EF4-FFF2-40B4-BE49-F238E27FC236}">
                <a16:creationId xmlns:a16="http://schemas.microsoft.com/office/drawing/2014/main" id="{09E24194-D808-766A-A499-DD53F11ACA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2AC2CF-DBD0-0949-15F3-6CE843C5D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796" y="2425983"/>
            <a:ext cx="2239435" cy="1334197"/>
          </a:xfrm>
          <a:prstGeom prst="rect">
            <a:avLst/>
          </a:prstGeom>
        </p:spPr>
      </p:pic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F30A2314-5D97-D94D-F83B-92B8254AFEE6}"/>
              </a:ext>
            </a:extLst>
          </p:cNvPr>
          <p:cNvCxnSpPr>
            <a:cxnSpLocks/>
          </p:cNvCxnSpPr>
          <p:nvPr/>
        </p:nvCxnSpPr>
        <p:spPr>
          <a:xfrm>
            <a:off x="1954796" y="2224815"/>
            <a:ext cx="2176074" cy="145033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39D92F25-AD2B-6C66-21BC-405ED41FD0CF}"/>
              </a:ext>
            </a:extLst>
          </p:cNvPr>
          <p:cNvCxnSpPr>
            <a:cxnSpLocks/>
          </p:cNvCxnSpPr>
          <p:nvPr/>
        </p:nvCxnSpPr>
        <p:spPr>
          <a:xfrm flipV="1">
            <a:off x="1920435" y="2224815"/>
            <a:ext cx="2239435" cy="153536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C52170F7-9520-E819-1C90-3912721D6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624" y="3989414"/>
            <a:ext cx="2579779" cy="2442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871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60D40-1121-5D0A-7124-8D564D62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4BDE764-004B-462D-5207-D4A49E4731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372B00-DC6A-09EB-D0EB-5D1E42554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EDD00AB-8F18-5EF4-C9A5-36E74035B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Функция потерь (</a:t>
            </a:r>
            <a:r>
              <a:rPr lang="en-US" sz="3600" dirty="0"/>
              <a:t>Loss)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732BED1-34E3-E26C-DD25-462E3E9660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0" name="AutoShape 4" descr="Выходное изображение">
            <a:extLst>
              <a:ext uri="{FF2B5EF4-FFF2-40B4-BE49-F238E27FC236}">
                <a16:creationId xmlns:a16="http://schemas.microsoft.com/office/drawing/2014/main" id="{10067223-8D2D-42FF-34AE-83D14AC317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E6D276-81B1-E999-1D91-F315B85D3149}"/>
                  </a:ext>
                </a:extLst>
              </p:cNvPr>
              <p:cNvSpPr txBox="1"/>
              <p:nvPr/>
            </p:nvSpPr>
            <p:spPr>
              <a:xfrm>
                <a:off x="761587" y="2087655"/>
                <a:ext cx="5395152" cy="4177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Среднее абсолютное отклонение (</a:t>
                </a:r>
                <a:r>
                  <a:rPr lang="en-US" sz="2400" b="1" dirty="0">
                    <a:latin typeface="HSE Sans" panose="02000000000000000000"/>
                  </a:rPr>
                  <a:t>MAE):</a:t>
                </a:r>
                <a:endParaRPr lang="en-US" sz="2400" b="1" i="1" dirty="0">
                  <a:latin typeface="HSE Sans" panose="0200000000000000000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</a:endParaRPr>
              </a:p>
              <a:p>
                <a:endParaRPr lang="ru-RU" sz="2400" i="1" dirty="0">
                  <a:latin typeface="Cambria Math" panose="02040503050406030204" pitchFamily="18" charset="0"/>
                </a:endParaRPr>
              </a:p>
              <a:p>
                <a:r>
                  <a:rPr lang="ru-RU" b="1" dirty="0"/>
                  <a:t>Особенности:</a:t>
                </a:r>
                <a:endParaRPr lang="en-US" b="1" dirty="0">
                  <a:latin typeface="HSE Sans" panose="0200000000000000000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 err="1"/>
                  <a:t>Неотрицательность</a:t>
                </a:r>
                <a:endParaRPr lang="en-US" dirty="0">
                  <a:latin typeface="HSE Sans" panose="0200000000000000000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Устойчивость к выбросам</a:t>
                </a: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Линейный штраф за ошибку</a:t>
                </a: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Единицы измерения – аналогичные целевой переменной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 err="1"/>
                  <a:t>Недифференцируемость</a:t>
                </a:r>
                <a:r>
                  <a:rPr lang="ru-RU" dirty="0"/>
                  <a:t> в нуле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E6D276-81B1-E999-1D91-F315B85D3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87" y="2087655"/>
                <a:ext cx="5395152" cy="4177810"/>
              </a:xfrm>
              <a:prstGeom prst="rect">
                <a:avLst/>
              </a:prstGeom>
              <a:blipFill>
                <a:blip r:embed="rId3"/>
                <a:stretch>
                  <a:fillRect l="-1808" t="-1166" b="-13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 descr="MAE">
            <a:extLst>
              <a:ext uri="{FF2B5EF4-FFF2-40B4-BE49-F238E27FC236}">
                <a16:creationId xmlns:a16="http://schemas.microsoft.com/office/drawing/2014/main" id="{7A74A073-0A48-0A09-DB31-E343DF27F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588" y="2395267"/>
            <a:ext cx="5160264" cy="3870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90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73A7B-91A5-D90E-0677-690BECF2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3A48BB9-236D-3B15-CCAC-E932F7F338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63C1DC-37D7-35B4-308C-186E29744A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28BD28D-E951-6A7F-B3AE-1BDCE4C7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Функция потерь (</a:t>
            </a:r>
            <a:r>
              <a:rPr lang="en-US" sz="3600" dirty="0"/>
              <a:t>Loss)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24DBE1C-A4A2-46EC-A318-80A420B4AE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0" name="AutoShape 4" descr="Выходное изображение">
            <a:extLst>
              <a:ext uri="{FF2B5EF4-FFF2-40B4-BE49-F238E27FC236}">
                <a16:creationId xmlns:a16="http://schemas.microsoft.com/office/drawing/2014/main" id="{3DB5D7F2-0FA5-1304-4FCC-540DE7AC95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B7488A-2A3B-DBC7-1454-F878DA0C77DE}"/>
                  </a:ext>
                </a:extLst>
              </p:cNvPr>
              <p:cNvSpPr txBox="1"/>
              <p:nvPr/>
            </p:nvSpPr>
            <p:spPr>
              <a:xfrm>
                <a:off x="786192" y="2087655"/>
                <a:ext cx="5395152" cy="4177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Среднеквадратичное отклонение (</a:t>
                </a:r>
                <a:r>
                  <a:rPr lang="en-US" sz="2400" b="1" dirty="0">
                    <a:latin typeface="HSE Sans" panose="02000000000000000000"/>
                  </a:rPr>
                  <a:t>MSE):</a:t>
                </a:r>
                <a:endParaRPr lang="en-US" sz="2400" b="1" i="1" dirty="0">
                  <a:latin typeface="HSE Sans" panose="0200000000000000000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̂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</a:endParaRPr>
              </a:p>
              <a:p>
                <a:endParaRPr lang="ru-RU" sz="2400" b="1" i="1" dirty="0">
                  <a:latin typeface="Cambria Math" panose="02040503050406030204" pitchFamily="18" charset="0"/>
                </a:endParaRPr>
              </a:p>
              <a:p>
                <a:r>
                  <a:rPr lang="ru-RU" b="1" dirty="0"/>
                  <a:t>Особенности:</a:t>
                </a:r>
                <a:endParaRPr lang="en-US" b="1" dirty="0">
                  <a:latin typeface="HSE Sans" panose="0200000000000000000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 err="1"/>
                  <a:t>Неотрицательность</a:t>
                </a:r>
                <a:endParaRPr lang="en-US" dirty="0">
                  <a:latin typeface="HSE Sans" panose="0200000000000000000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Чувствительность к выбросам</a:t>
                </a:r>
                <a:endParaRPr lang="en-US" dirty="0">
                  <a:latin typeface="HSE Sans" panose="0200000000000000000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Выпуклость (для линейных моделей)</a:t>
                </a:r>
                <a:endParaRPr lang="en-US" dirty="0">
                  <a:latin typeface="HSE Sans" panose="0200000000000000000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Единицы измерения</a:t>
                </a:r>
                <a:r>
                  <a:rPr lang="en-US" dirty="0"/>
                  <a:t> – </a:t>
                </a:r>
                <a:r>
                  <a:rPr lang="ru-RU" dirty="0"/>
                  <a:t>квадрат исходной единицы измерений целевой переменной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Дифференцируемость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B7488A-2A3B-DBC7-1454-F878DA0C7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92" y="2087655"/>
                <a:ext cx="5395152" cy="4177810"/>
              </a:xfrm>
              <a:prstGeom prst="rect">
                <a:avLst/>
              </a:prstGeom>
              <a:blipFill>
                <a:blip r:embed="rId3"/>
                <a:stretch>
                  <a:fillRect l="-1808" t="-1166" b="-13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4" name="Picture 4" descr="MSE">
            <a:extLst>
              <a:ext uri="{FF2B5EF4-FFF2-40B4-BE49-F238E27FC236}">
                <a16:creationId xmlns:a16="http://schemas.microsoft.com/office/drawing/2014/main" id="{57DE504F-F646-7FC1-DE69-FFEA999A39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4" t="8497" r="5811" b="7880"/>
          <a:stretch>
            <a:fillRect/>
          </a:stretch>
        </p:blipFill>
        <p:spPr bwMode="auto">
          <a:xfrm>
            <a:off x="6592632" y="2292096"/>
            <a:ext cx="5051220" cy="3712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482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58747-D32B-C83C-BBFD-A522983D6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B0DDA77-C129-080C-6DB9-ED8936C59D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AE6D3A-547B-B225-3E05-8150F2DBE5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EAF0B68-EC57-F331-63DD-D175C5DBA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Функция потерь (</a:t>
            </a:r>
            <a:r>
              <a:rPr lang="en-US" sz="3600" dirty="0"/>
              <a:t>Loss)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5356519-CE8C-7116-7E96-DE84B7F0A1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0" name="AutoShape 4" descr="Выходное изображение">
            <a:extLst>
              <a:ext uri="{FF2B5EF4-FFF2-40B4-BE49-F238E27FC236}">
                <a16:creationId xmlns:a16="http://schemas.microsoft.com/office/drawing/2014/main" id="{8EF81839-F1A7-BD5D-F511-981EF8ECB7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D1A67-C667-50D3-13E2-2B6206E9518D}"/>
              </a:ext>
            </a:extLst>
          </p:cNvPr>
          <p:cNvSpPr txBox="1"/>
          <p:nvPr/>
        </p:nvSpPr>
        <p:spPr>
          <a:xfrm>
            <a:off x="842201" y="2047863"/>
            <a:ext cx="626986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SE Sans" panose="02000000000000000000"/>
              </a:rPr>
              <a:t>Huber Loss: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Гибридный подход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Для малых ошибок (≤ δ): ведет себя</a:t>
            </a:r>
            <a:r>
              <a:rPr lang="en-US" dirty="0"/>
              <a:t> </a:t>
            </a:r>
            <a:r>
              <a:rPr lang="ru-RU" dirty="0"/>
              <a:t>как MSE (квадратичная функция)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Для больших ошибок (&gt; δ): ведет себя как MAE (линейная функция)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Устойчивость к выбросам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Дифференцируемость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Выпуклость</a:t>
            </a:r>
          </a:p>
          <a:p>
            <a:br>
              <a:rPr lang="ru-RU" dirty="0"/>
            </a:br>
            <a:endParaRPr lang="ru-RU" sz="2400" i="1" dirty="0"/>
          </a:p>
        </p:txBody>
      </p:sp>
      <p:pic>
        <p:nvPicPr>
          <p:cNvPr id="1026" name="Picture 2" descr="Calculate Huber Loss using TensorFlow 2 | Lindevs">
            <a:extLst>
              <a:ext uri="{FF2B5EF4-FFF2-40B4-BE49-F238E27FC236}">
                <a16:creationId xmlns:a16="http://schemas.microsoft.com/office/drawing/2014/main" id="{93A63C1C-D0EB-FA4E-1677-1FFD28BB3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079" y="2577475"/>
            <a:ext cx="4190167" cy="1429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log: Machine Learning: Loss functions | Evergreen Innovations | Energy  Storage &amp; Renewable Energy Innovation">
            <a:extLst>
              <a:ext uri="{FF2B5EF4-FFF2-40B4-BE49-F238E27FC236}">
                <a16:creationId xmlns:a16="http://schemas.microsoft.com/office/drawing/2014/main" id="{7248E52C-9568-8140-44D0-49A3EC501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892" y="2245488"/>
            <a:ext cx="5622798" cy="4217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924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7D5CF-4395-8F5E-9F22-3A796FB7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1465709-FB39-313A-2C68-60873DF317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4A55E5-8B0A-C796-6797-2C5A6F0D78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3C4F9A7-EEF3-98D7-85B5-0E9EE337C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Функция потерь (</a:t>
            </a:r>
            <a:r>
              <a:rPr lang="en-US" sz="3600" dirty="0"/>
              <a:t>Loss)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76E797C-D3F9-09F7-1E8C-EBFBB63EDB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0BC6B45-E5A6-7500-3101-AA2E3C53F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592" y="1980500"/>
            <a:ext cx="8317501" cy="450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99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AFCCF-CACF-535A-B35C-7E44DB40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41DB4D4-B23A-E585-52EE-99353E5B0F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0006E4-CD54-D433-6FC1-64BFCB15F3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DBC4DF2-0F25-EAB0-BBC3-A2EE0BB47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Линейная регрессия: Аналитическое решение</a:t>
            </a:r>
            <a:r>
              <a:rPr lang="en-US" sz="3600" dirty="0"/>
              <a:t> (</a:t>
            </a:r>
            <a:r>
              <a:rPr lang="ru-RU" sz="3600" dirty="0"/>
              <a:t>МНК)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E496B4C-664B-EE69-FB29-807ACF8566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27109-1A80-99F9-C3C2-3190E6AFA06A}"/>
                  </a:ext>
                </a:extLst>
              </p:cNvPr>
              <p:cNvSpPr txBox="1"/>
              <p:nvPr/>
            </p:nvSpPr>
            <p:spPr>
              <a:xfrm>
                <a:off x="907050" y="2368375"/>
                <a:ext cx="6106398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ru-RU" sz="2400" dirty="0"/>
                  <a:t>Веса линейной регрессии можно найти аналитически</a:t>
                </a:r>
                <a:br>
                  <a:rPr lang="ru-RU" sz="2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ru-RU" sz="2400" dirty="0"/>
                  <a:t>Особенности: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Позволяет найти точное решение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Нет необходимости подбирать параметры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Вычислительная сложность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Требует обратимости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sz="2400" dirty="0"/>
                  <a:t> (мультиколлинеарность</a:t>
                </a:r>
                <a:r>
                  <a:rPr lang="en-US" sz="2400" dirty="0"/>
                  <a:t>, </a:t>
                </a:r>
                <a:r>
                  <a:rPr lang="ru-RU" sz="2400" dirty="0"/>
                  <a:t>небольшие датасеты, где </a:t>
                </a:r>
                <a:r>
                  <a:rPr lang="en-US" sz="2400" dirty="0"/>
                  <a:t>n&lt;&lt;p</a:t>
                </a:r>
                <a:r>
                  <a:rPr lang="ru-RU" sz="2400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27109-1A80-99F9-C3C2-3190E6AFA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50" y="2368375"/>
                <a:ext cx="6106398" cy="4154984"/>
              </a:xfrm>
              <a:prstGeom prst="rect">
                <a:avLst/>
              </a:prstGeom>
              <a:blipFill>
                <a:blip r:embed="rId3"/>
                <a:stretch>
                  <a:fillRect l="-1597" t="-1175" r="-699" b="-24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cost function surface">
            <a:extLst>
              <a:ext uri="{FF2B5EF4-FFF2-40B4-BE49-F238E27FC236}">
                <a16:creationId xmlns:a16="http://schemas.microsoft.com/office/drawing/2014/main" id="{3061633B-329D-1587-F83B-CE1675F12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278" y="2532967"/>
            <a:ext cx="4717742" cy="359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667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2AE3-9CE7-13B5-EE2D-DCDBB6B53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A309989-4E80-C166-16AE-730CDB3CAA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04A971-A411-432B-CCFF-96101E7DF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7CC0626-F2FA-B7F0-2D50-02AE2D52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D2FE7B4-0777-D4FE-EAB7-80379B5C03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CE33CFC-16B9-F214-5754-7531F4B50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273" y="2123875"/>
            <a:ext cx="4321454" cy="432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18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ED5BE-F16A-8AA0-11E1-05401193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022C909-3876-68BA-AC68-AEBE0BA9F2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65CB4C-EDFF-06AC-FAD3-5C3090C8CD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5559DE1-8D59-1FBD-65E3-47E3616C3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2566A69-8429-6831-7942-15D8B22016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8CC40-E44F-5E21-8529-4D9C5CF8EF66}"/>
              </a:ext>
            </a:extLst>
          </p:cNvPr>
          <p:cNvSpPr txBox="1"/>
          <p:nvPr/>
        </p:nvSpPr>
        <p:spPr>
          <a:xfrm>
            <a:off x="585897" y="2215750"/>
            <a:ext cx="54308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Производная</a:t>
            </a:r>
            <a:r>
              <a:rPr lang="ru-RU" sz="2400" dirty="0"/>
              <a:t> показывает, насколько быстро меняется значение функции в данной точке при изменении её аргумента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f'(x) &gt; 0 — функция растёт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f'(x) &lt; 0 — функция убывает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f'(x) = 0 — возможен экстремум (максимум или минимум)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endParaRPr lang="ru-RU" sz="2400" dirty="0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CB6FAE2-CC73-71CD-1683-F64A8DF39A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307ABA8-66C1-B684-DF1B-A9E1C2C551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37" t="7595" r="6819" b="4050"/>
          <a:stretch>
            <a:fillRect/>
          </a:stretch>
        </p:blipFill>
        <p:spPr>
          <a:xfrm>
            <a:off x="6611699" y="2139696"/>
            <a:ext cx="4958906" cy="405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8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35014-BF2E-CB41-5387-783C484DC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6E18ED9-6A9A-DE0A-0619-80650EB56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98B8F7-CFAF-C21C-28A0-78779CE210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4BE639F-2030-5321-B983-40D67909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 – </a:t>
            </a:r>
            <a:r>
              <a:rPr lang="ru-RU" sz="3600" dirty="0"/>
              <a:t>Скорость обучения (</a:t>
            </a:r>
            <a:r>
              <a:rPr lang="en-US" sz="3600" dirty="0"/>
              <a:t>LR)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F14BA7B-7E8F-7F63-135A-42EA8048A0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ED66D9A9-5F07-58E1-79A4-B787A38664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266" name="Picture 2" descr="Минимум функции - градиентный спуск">
            <a:extLst>
              <a:ext uri="{FF2B5EF4-FFF2-40B4-BE49-F238E27FC236}">
                <a16:creationId xmlns:a16="http://schemas.microsoft.com/office/drawing/2014/main" id="{6C70F0EF-1A96-5EE7-DC07-D50E4FB62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212" y="2115087"/>
            <a:ext cx="6983619" cy="3785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1864F7-C7AE-BBA0-0649-A87C23736D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78" t="8566" r="8665" b="7333"/>
          <a:stretch>
            <a:fillRect/>
          </a:stretch>
        </p:blipFill>
        <p:spPr>
          <a:xfrm>
            <a:off x="201168" y="2386583"/>
            <a:ext cx="4806043" cy="365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3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0C8E9-5D1D-7163-9349-A9306252A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ADFCD2B-E3BC-5EC5-A8EA-F5D9256733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46057D-D185-5B96-E4FE-930E6E396E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EC0B390-655A-7C81-4EBA-87562C8B0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 – </a:t>
            </a:r>
            <a:r>
              <a:rPr lang="ru-RU" sz="3600" dirty="0"/>
              <a:t>Скорость обучения (</a:t>
            </a:r>
            <a:r>
              <a:rPr lang="en-US" sz="3600" dirty="0"/>
              <a:t>LR)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B52EE17-7A4D-4F36-ABD3-2D9AE812A1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CBA36216-85DE-35CA-D200-6CBF2814DE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C9A6054-CBF6-1A70-C18F-EC122C4D7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603" y="2224815"/>
            <a:ext cx="5989320" cy="42748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4DAD6E-7967-0210-5279-18EA2ECFBFC4}"/>
              </a:ext>
            </a:extLst>
          </p:cNvPr>
          <p:cNvSpPr txBox="1"/>
          <p:nvPr/>
        </p:nvSpPr>
        <p:spPr>
          <a:xfrm>
            <a:off x="10098685" y="6361192"/>
            <a:ext cx="13973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200" dirty="0" err="1">
                <a:latin typeface="HSE Sans" panose="02000000000000000000" pitchFamily="2" charset="0"/>
              </a:rPr>
              <a:t>Яндекс.Практикум</a:t>
            </a:r>
            <a:endParaRPr lang="ru-RU" sz="12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509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CCDC-7E8C-2439-CE3D-0A529FAC4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6291596-B332-9D05-FBD3-4728840E34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E240C8-8E16-6C4D-CB51-6050AC24BD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F9E46BD-3700-C34A-0442-5976F747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 – </a:t>
            </a:r>
            <a:r>
              <a:rPr lang="ru-RU" sz="3600" dirty="0"/>
              <a:t>переходим к </a:t>
            </a:r>
            <a:r>
              <a:rPr lang="en-US" sz="3600" dirty="0"/>
              <a:t>3D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2C07475-B634-2EA5-4307-0C818E50E5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218CBE-7FF5-52F5-59D5-031290E1A175}"/>
                  </a:ext>
                </a:extLst>
              </p:cNvPr>
              <p:cNvSpPr txBox="1"/>
              <p:nvPr/>
            </p:nvSpPr>
            <p:spPr>
              <a:xfrm>
                <a:off x="617983" y="3203302"/>
                <a:ext cx="503766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Производной</a:t>
                </a:r>
                <a:r>
                  <a:rPr lang="ru-RU" sz="2400" dirty="0"/>
                  <a:t> функции от двух переменных </a:t>
                </a:r>
                <a14:m>
                  <m:oMath xmlns:m="http://schemas.openxmlformats.org/officeDocument/2006/math">
                    <m:r>
                      <a:rPr lang="en-US" sz="2400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ru-RU" sz="2400" dirty="0"/>
                  <a:t> является плоскость, образованная векторами обеих частных производных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ru-RU" sz="2400" dirty="0"/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218CBE-7FF5-52F5-59D5-031290E1A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83" y="3203302"/>
                <a:ext cx="5037663" cy="2308324"/>
              </a:xfrm>
              <a:prstGeom prst="rect">
                <a:avLst/>
              </a:prstGeom>
              <a:blipFill>
                <a:blip r:embed="rId3"/>
                <a:stretch>
                  <a:fillRect l="-1814" t="-2111" r="-7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utoShape 2">
            <a:extLst>
              <a:ext uri="{FF2B5EF4-FFF2-40B4-BE49-F238E27FC236}">
                <a16:creationId xmlns:a16="http://schemas.microsoft.com/office/drawing/2014/main" id="{7E479CD1-8497-9F37-2333-010474EA24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58FBAFA-01DB-480B-8535-57740A42D8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74"/>
          <a:stretch/>
        </p:blipFill>
        <p:spPr bwMode="auto">
          <a:xfrm>
            <a:off x="6536354" y="2046662"/>
            <a:ext cx="4594259" cy="426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35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AFA84-93E1-FCE9-8E3A-3037A132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89DCB9C-4CE2-C149-1C1E-4A9F7CF324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367E6C-FD67-40A5-4216-D0FD3BFAED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446C434-34F7-519D-3531-0FDD35727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DD9E2DB-4058-654E-37EC-44170F881F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AAC1158-23CD-5BC5-B563-6E171C3406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B7C7F845-B64D-45BF-7198-2DF23A5E8F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00"/>
          <a:stretch>
            <a:fillRect/>
          </a:stretch>
        </p:blipFill>
        <p:spPr bwMode="auto">
          <a:xfrm>
            <a:off x="1236824" y="2170176"/>
            <a:ext cx="4022330" cy="221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>
            <a:extLst>
              <a:ext uri="{FF2B5EF4-FFF2-40B4-BE49-F238E27FC236}">
                <a16:creationId xmlns:a16="http://schemas.microsoft.com/office/drawing/2014/main" id="{57176E06-1A28-0F1F-3C91-473A319D02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56"/>
          <a:stretch>
            <a:fillRect/>
          </a:stretch>
        </p:blipFill>
        <p:spPr bwMode="auto">
          <a:xfrm>
            <a:off x="6743637" y="2170176"/>
            <a:ext cx="4053096" cy="221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>
            <a:extLst>
              <a:ext uri="{FF2B5EF4-FFF2-40B4-BE49-F238E27FC236}">
                <a16:creationId xmlns:a16="http://schemas.microsoft.com/office/drawing/2014/main" id="{FEBDBF57-F452-8B4F-9DBB-54F2EA67CE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52"/>
          <a:stretch>
            <a:fillRect/>
          </a:stretch>
        </p:blipFill>
        <p:spPr bwMode="auto">
          <a:xfrm>
            <a:off x="3850481" y="4383024"/>
            <a:ext cx="4186237" cy="229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3105C8-4D50-3634-9257-33897F90801B}"/>
              </a:ext>
            </a:extLst>
          </p:cNvPr>
          <p:cNvSpPr txBox="1"/>
          <p:nvPr/>
        </p:nvSpPr>
        <p:spPr>
          <a:xfrm>
            <a:off x="309806" y="3076545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SE Sans" panose="02000000000000000000" pitchFamily="2" charset="0"/>
              </a:rPr>
              <a:t>Lr=0.1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4E638-CAAB-957A-582C-C82EE8FA029F}"/>
              </a:ext>
            </a:extLst>
          </p:cNvPr>
          <p:cNvSpPr txBox="1"/>
          <p:nvPr/>
        </p:nvSpPr>
        <p:spPr>
          <a:xfrm>
            <a:off x="5910081" y="3051339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SE Sans" panose="02000000000000000000" pitchFamily="2" charset="0"/>
              </a:rPr>
              <a:t>Lr=0.4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76929-3C7B-C99E-0EA3-4702BE5D6A1C}"/>
              </a:ext>
            </a:extLst>
          </p:cNvPr>
          <p:cNvSpPr txBox="1"/>
          <p:nvPr/>
        </p:nvSpPr>
        <p:spPr>
          <a:xfrm>
            <a:off x="2850742" y="5332825"/>
            <a:ext cx="963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SE Sans" panose="02000000000000000000" pitchFamily="2" charset="0"/>
              </a:rPr>
              <a:t>Lr=0.55</a:t>
            </a:r>
          </a:p>
        </p:txBody>
      </p:sp>
    </p:spTree>
    <p:extLst>
      <p:ext uri="{BB962C8B-B14F-4D97-AF65-F5344CB8AC3E}">
        <p14:creationId xmlns:p14="http://schemas.microsoft.com/office/powerpoint/2010/main" val="2275261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24264-6245-81EB-DE42-0409AC355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0F8924C-6ED8-FA48-2C55-5E462D9DA1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CAE069-8794-2A08-6458-3EDD81430D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99E40E4-29D0-275C-2B65-242ECBDA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977F200-D4ED-1F63-E5FE-737A182CED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8F26EEF-FC2F-D5C7-6DF9-82249365FB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r="9441"/>
          <a:stretch>
            <a:fillRect/>
          </a:stretch>
        </p:blipFill>
        <p:spPr bwMode="auto">
          <a:xfrm>
            <a:off x="6259892" y="2142519"/>
            <a:ext cx="5776868" cy="397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E9BAD5-365E-377F-8581-F984385B6E15}"/>
              </a:ext>
            </a:extLst>
          </p:cNvPr>
          <p:cNvSpPr txBox="1"/>
          <p:nvPr/>
        </p:nvSpPr>
        <p:spPr>
          <a:xfrm>
            <a:off x="585897" y="2992990"/>
            <a:ext cx="62455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Это итеративный процесс для приближения к глобальному минимуму функции.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Вычисление градиента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Шаг в сторону, противоположную направлению градиента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Повторение</a:t>
            </a:r>
            <a:endParaRPr lang="en-US" sz="2400" b="1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99139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82B1D-DF1E-B6E7-07EF-7069E28DD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7980E32-00B6-949C-8066-E91C10A606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9C0953-40B3-B3A5-F266-453F19952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16794E6-25E1-E831-FB18-BA4332684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9C3A863-A83A-4F39-F67B-2622D281AD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B724FA59-9B94-84AD-B59B-11165F2FA1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r="9441"/>
          <a:stretch>
            <a:fillRect/>
          </a:stretch>
        </p:blipFill>
        <p:spPr bwMode="auto">
          <a:xfrm>
            <a:off x="6259892" y="2142519"/>
            <a:ext cx="5776868" cy="397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AE69B2-6513-3968-63BB-2E5EAE18CC68}"/>
                  </a:ext>
                </a:extLst>
              </p:cNvPr>
              <p:cNvSpPr txBox="1"/>
              <p:nvPr/>
            </p:nvSpPr>
            <p:spPr>
              <a:xfrm>
                <a:off x="585897" y="2261470"/>
                <a:ext cx="6245544" cy="4520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Градиент: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;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; …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ru-RU" sz="2400" b="1" dirty="0"/>
              </a:p>
              <a:p>
                <a:r>
                  <a:rPr lang="ru-RU" sz="2400" b="1" dirty="0"/>
                  <a:t>Производная функции потерь </a:t>
                </a:r>
                <a:r>
                  <a:rPr lang="en-US" sz="2400" b="1" dirty="0"/>
                  <a:t>MSE: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sz="2400" b="1" dirty="0"/>
              </a:p>
              <a:p>
                <a:endParaRPr lang="ru-RU" sz="2400" b="1" dirty="0"/>
              </a:p>
              <a:p>
                <a:r>
                  <a:rPr lang="ru-RU" sz="2400" b="1" dirty="0"/>
                  <a:t>Обновление весов модели: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2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ru-RU" sz="2400" dirty="0"/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AE69B2-6513-3968-63BB-2E5EAE18C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97" y="2261470"/>
                <a:ext cx="6245544" cy="4520148"/>
              </a:xfrm>
              <a:prstGeom prst="rect">
                <a:avLst/>
              </a:prstGeom>
              <a:blipFill>
                <a:blip r:embed="rId4"/>
                <a:stretch>
                  <a:fillRect l="-1463" t="-10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7335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13CD8-3FCF-2D9A-5D0D-2DAA772B0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C6E66BE-0441-5422-94DE-0685D6D8BD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C66C80-4FA5-DAF7-65AA-36B4355124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3E4DFCD-1DD5-F3B7-4306-CA8D5A7BF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9EE13EB-BD38-D1C3-FDB9-2DC2895913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484DFC2-9D7F-71F5-3DC9-D9DD064C5B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0596FC61-C8F0-F206-BB14-34CF99A4DE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4"/>
          <a:stretch>
            <a:fillRect/>
          </a:stretch>
        </p:blipFill>
        <p:spPr bwMode="auto">
          <a:xfrm>
            <a:off x="3792682" y="2216999"/>
            <a:ext cx="8127559" cy="3995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71EA6E-18DE-C087-A330-5AE70F6B4435}"/>
              </a:ext>
            </a:extLst>
          </p:cNvPr>
          <p:cNvSpPr txBox="1"/>
          <p:nvPr/>
        </p:nvSpPr>
        <p:spPr>
          <a:xfrm>
            <a:off x="585897" y="2216999"/>
            <a:ext cx="29110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Добавление «инерции» - </a:t>
            </a:r>
            <a:r>
              <a:rPr lang="ru-RU" sz="2000" dirty="0" err="1"/>
              <a:t>моментума</a:t>
            </a:r>
            <a:endParaRPr lang="ru-R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36BAEC-E425-9844-E23D-FDAF1F31E28A}"/>
                  </a:ext>
                </a:extLst>
              </p:cNvPr>
              <p:cNvSpPr txBox="1"/>
              <p:nvPr/>
            </p:nvSpPr>
            <p:spPr>
              <a:xfrm>
                <a:off x="-1120134" y="3094169"/>
                <a:ext cx="6094476" cy="10085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2000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endParaRPr lang="ru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20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36BAEC-E425-9844-E23D-FDAF1F31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0134" y="3094169"/>
                <a:ext cx="6094476" cy="1008546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5199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3E24B-1087-CFD9-5D6D-09EA47733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4E99AAD-BB1C-6CAD-0311-03D7BCE4CF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23700E-A342-2AF0-8411-9D10659609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B1ED816-EE0E-4313-C85E-608873F12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r>
              <a:rPr lang="ru-RU" sz="3600" dirty="0"/>
              <a:t> – Альтернативные методы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D31610D-7291-0661-5418-EC9AA2C9CD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B7719F-CBCE-68D4-E1FB-8980B513FC2E}"/>
              </a:ext>
            </a:extLst>
          </p:cNvPr>
          <p:cNvSpPr txBox="1"/>
          <p:nvPr/>
        </p:nvSpPr>
        <p:spPr>
          <a:xfrm>
            <a:off x="585896" y="2261470"/>
            <a:ext cx="9701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Стохастический градиентный спуск (</a:t>
            </a:r>
            <a:r>
              <a:rPr lang="en-US" sz="2400" b="1" dirty="0"/>
              <a:t>SGD</a:t>
            </a:r>
            <a:r>
              <a:rPr lang="en-US" sz="2400" dirty="0"/>
              <a:t>):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Использование одного случайного примера из данных для вычисления градиента на каждом шаге</a:t>
            </a:r>
          </a:p>
        </p:txBody>
      </p:sp>
      <p:pic>
        <p:nvPicPr>
          <p:cNvPr id="16390" name="Picture 6" descr="Иконка плюс минус">
            <a:extLst>
              <a:ext uri="{FF2B5EF4-FFF2-40B4-BE49-F238E27FC236}">
                <a16:creationId xmlns:a16="http://schemas.microsoft.com/office/drawing/2014/main" id="{6A79C8B0-DA47-776E-F028-73FD703A11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53" r="52062"/>
          <a:stretch>
            <a:fillRect/>
          </a:stretch>
        </p:blipFill>
        <p:spPr bwMode="auto">
          <a:xfrm>
            <a:off x="9787768" y="3841873"/>
            <a:ext cx="998464" cy="101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8" descr="Иконка плюс минус">
            <a:extLst>
              <a:ext uri="{FF2B5EF4-FFF2-40B4-BE49-F238E27FC236}">
                <a16:creationId xmlns:a16="http://schemas.microsoft.com/office/drawing/2014/main" id="{92313F25-AFE1-FCAC-3921-74394E5AA2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62" t="9653"/>
          <a:stretch>
            <a:fillRect/>
          </a:stretch>
        </p:blipFill>
        <p:spPr bwMode="auto">
          <a:xfrm>
            <a:off x="9787768" y="5458931"/>
            <a:ext cx="998464" cy="101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EEB445-62EC-1A95-01CB-61027ACA6BC2}"/>
              </a:ext>
            </a:extLst>
          </p:cNvPr>
          <p:cNvSpPr txBox="1"/>
          <p:nvPr/>
        </p:nvSpPr>
        <p:spPr>
          <a:xfrm>
            <a:off x="979089" y="3498454"/>
            <a:ext cx="843922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Очень быстрый: </a:t>
            </a:r>
            <a:r>
              <a:rPr lang="ru-RU" sz="2000" dirty="0"/>
              <a:t>Одно обновление на каждом примере, а не на всём датасете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Экономит память</a:t>
            </a:r>
            <a:r>
              <a:rPr lang="ru-RU" sz="2000" dirty="0"/>
              <a:t>: Не нужно загружать все данные одновременно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Легко сходится </a:t>
            </a:r>
            <a:r>
              <a:rPr lang="ru-RU" sz="2000" dirty="0"/>
              <a:t>на очень больших датасетах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Может "выпрыгивать" из локальных минимумов </a:t>
            </a:r>
            <a:r>
              <a:rPr lang="ru-RU" sz="2000" dirty="0"/>
              <a:t>благодаря шуму</a:t>
            </a:r>
          </a:p>
          <a:p>
            <a:endParaRPr lang="ru-RU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Шумный путь к минимуму</a:t>
            </a:r>
            <a:r>
              <a:rPr lang="ru-RU" sz="2000" dirty="0"/>
              <a:t>: Обновления очень нестабильны и хаотичны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Никогда не сходится точно</a:t>
            </a:r>
            <a:r>
              <a:rPr lang="ru-RU" sz="2000" dirty="0"/>
              <a:t>: Может колебаться вокруг оптимального решения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Сложнее отладить</a:t>
            </a:r>
            <a:r>
              <a:rPr lang="ru-RU" sz="2000" dirty="0"/>
              <a:t>: Потерю сложнее отслеживать из-за шума</a:t>
            </a:r>
          </a:p>
        </p:txBody>
      </p:sp>
    </p:spTree>
    <p:extLst>
      <p:ext uri="{BB962C8B-B14F-4D97-AF65-F5344CB8AC3E}">
        <p14:creationId xmlns:p14="http://schemas.microsoft.com/office/powerpoint/2010/main" val="83920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4C7FF-D46B-9869-97D5-A8C9754A4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B7B290D-AA0B-6588-7F91-C090E7103E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D1FC36-6D0E-8AA7-2F24-DA5FE4167B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A3CC9E8-2B84-A2CB-0CC0-05DE0C1B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r>
              <a:rPr lang="ru-RU" sz="3600" dirty="0"/>
              <a:t> – Альтернативные методы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21224E0-08C1-BEEB-B144-FD4FC9F4DA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04810B-B922-6F92-2653-C0545542FCA1}"/>
              </a:ext>
            </a:extLst>
          </p:cNvPr>
          <p:cNvSpPr txBox="1"/>
          <p:nvPr/>
        </p:nvSpPr>
        <p:spPr>
          <a:xfrm>
            <a:off x="585896" y="2261470"/>
            <a:ext cx="9701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Мини-</a:t>
            </a:r>
            <a:r>
              <a:rPr lang="ru-RU" sz="2400" dirty="0" err="1"/>
              <a:t>батч</a:t>
            </a:r>
            <a:r>
              <a:rPr lang="ru-RU" sz="2400" dirty="0"/>
              <a:t> градиентный спуск (</a:t>
            </a:r>
            <a:r>
              <a:rPr lang="en-US" sz="2400" b="1" dirty="0"/>
              <a:t>mini-batch</a:t>
            </a:r>
            <a:r>
              <a:rPr lang="en-US" sz="2400" dirty="0"/>
              <a:t> </a:t>
            </a:r>
            <a:r>
              <a:rPr lang="en-US" sz="2400" b="1" dirty="0"/>
              <a:t>SGD</a:t>
            </a:r>
            <a:r>
              <a:rPr lang="en-US" sz="2400" dirty="0"/>
              <a:t>):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Компромисс между стабильностью и скоростью. Использование небольших групп (</a:t>
            </a:r>
            <a:r>
              <a:rPr lang="ru-RU" sz="2400" dirty="0" err="1"/>
              <a:t>батчей</a:t>
            </a:r>
            <a:r>
              <a:rPr lang="ru-RU" sz="2400" dirty="0"/>
              <a:t>) примеров для каждого обновления</a:t>
            </a:r>
            <a:endParaRPr lang="en-US" sz="2400" dirty="0"/>
          </a:p>
        </p:txBody>
      </p:sp>
      <p:pic>
        <p:nvPicPr>
          <p:cNvPr id="16390" name="Picture 6" descr="Иконка плюс минус">
            <a:extLst>
              <a:ext uri="{FF2B5EF4-FFF2-40B4-BE49-F238E27FC236}">
                <a16:creationId xmlns:a16="http://schemas.microsoft.com/office/drawing/2014/main" id="{4A0CE7B1-D75A-F7BB-1A9D-AB2DEE32D3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53" r="52062"/>
          <a:stretch>
            <a:fillRect/>
          </a:stretch>
        </p:blipFill>
        <p:spPr bwMode="auto">
          <a:xfrm>
            <a:off x="10190104" y="3825602"/>
            <a:ext cx="998464" cy="101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8" descr="Иконка плюс минус">
            <a:extLst>
              <a:ext uri="{FF2B5EF4-FFF2-40B4-BE49-F238E27FC236}">
                <a16:creationId xmlns:a16="http://schemas.microsoft.com/office/drawing/2014/main" id="{66AE45DE-CB39-604A-8DC2-0BFAC02284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62" t="9653"/>
          <a:stretch>
            <a:fillRect/>
          </a:stretch>
        </p:blipFill>
        <p:spPr bwMode="auto">
          <a:xfrm>
            <a:off x="10190104" y="5205567"/>
            <a:ext cx="998464" cy="101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230135-B297-E5AC-DD07-12CA9B44AB00}"/>
              </a:ext>
            </a:extLst>
          </p:cNvPr>
          <p:cNvSpPr txBox="1"/>
          <p:nvPr/>
        </p:nvSpPr>
        <p:spPr>
          <a:xfrm>
            <a:off x="896557" y="3700351"/>
            <a:ext cx="939044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Более стабильные обновления, </a:t>
            </a:r>
            <a:r>
              <a:rPr lang="ru-RU" sz="2000" dirty="0"/>
              <a:t>чем в SGD, благодаря сглаживанию шума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Значительно быстрее, </a:t>
            </a:r>
            <a:r>
              <a:rPr lang="ru-RU" sz="2000" dirty="0"/>
              <a:t>чем пакетный GD, особенно на больших данных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Идеально подходит для GPU</a:t>
            </a:r>
            <a:r>
              <a:rPr lang="ru-RU" sz="2000" dirty="0"/>
              <a:t>, которые эффективно </a:t>
            </a:r>
            <a:r>
              <a:rPr lang="ru-RU" sz="2000" dirty="0" err="1"/>
              <a:t>параллелят</a:t>
            </a:r>
            <a:r>
              <a:rPr lang="ru-RU" sz="2000" dirty="0"/>
              <a:t> вычисления над </a:t>
            </a:r>
            <a:r>
              <a:rPr lang="ru-RU" sz="2000" dirty="0" err="1"/>
              <a:t>батчами</a:t>
            </a:r>
            <a:endParaRPr lang="en-US" sz="2000" dirty="0"/>
          </a:p>
          <a:p>
            <a:endParaRPr lang="ru-RU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Новый </a:t>
            </a:r>
            <a:r>
              <a:rPr lang="ru-RU" sz="2000" b="1" dirty="0" err="1"/>
              <a:t>гиперпараметр</a:t>
            </a:r>
            <a:r>
              <a:rPr lang="ru-RU" sz="2000" b="1" dirty="0"/>
              <a:t>: </a:t>
            </a:r>
            <a:r>
              <a:rPr lang="ru-RU" sz="2000" dirty="0"/>
              <a:t>необходимо подбирать размер </a:t>
            </a:r>
            <a:r>
              <a:rPr lang="ru-RU" sz="2000" dirty="0" err="1"/>
              <a:t>батча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Всё ещё небольшой шум, </a:t>
            </a:r>
            <a:r>
              <a:rPr lang="ru-RU" sz="2000" dirty="0"/>
              <a:t>который помогает выпрыгивать из локальных минимумов, но меньше, чем в SGD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4253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D2E4E-97E5-4641-75E4-48F6025E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659C307-EB7A-DC1F-50E3-E017979330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99E321-1338-CEF1-972D-FFEC780C0F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5E6AE3E-70BF-1265-5C10-502EC461C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r>
              <a:rPr lang="ru-RU" sz="3600" dirty="0"/>
              <a:t> – Альтернативные методы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E89975E-A9FA-4D47-82F5-61E13319DA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pic>
        <p:nvPicPr>
          <p:cNvPr id="16386" name="Picture 2" descr="локальный минимум градиентный спуск">
            <a:extLst>
              <a:ext uri="{FF2B5EF4-FFF2-40B4-BE49-F238E27FC236}">
                <a16:creationId xmlns:a16="http://schemas.microsoft.com/office/drawing/2014/main" id="{F5BD529D-EC66-ECAF-3B0E-E3E7DAF63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896" y="2224815"/>
            <a:ext cx="7711440" cy="4254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497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9F493-C4EA-AC29-D84E-24F22ED7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046DE36-752D-588E-C88A-BA810164C0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988E9D-DAB6-A027-5814-5BF9C2B333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1E08BC-D82E-0994-577E-41DF835D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Метрики качества регрессии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427BAC4-82D0-2573-CF4B-CE5EF278B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2A7D2-0DD8-6F58-4F79-408B46640515}"/>
              </a:ext>
            </a:extLst>
          </p:cNvPr>
          <p:cNvSpPr txBox="1"/>
          <p:nvPr/>
        </p:nvSpPr>
        <p:spPr>
          <a:xfrm>
            <a:off x="585896" y="2261470"/>
            <a:ext cx="112190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MSE (</a:t>
            </a:r>
            <a:r>
              <a:rPr lang="ru-RU" sz="2400" b="1" dirty="0" err="1"/>
              <a:t>Mean</a:t>
            </a:r>
            <a:r>
              <a:rPr lang="ru-RU" sz="2400" b="1" dirty="0"/>
              <a:t> </a:t>
            </a:r>
            <a:r>
              <a:rPr lang="ru-RU" sz="2400" b="1" dirty="0" err="1"/>
              <a:t>Squared</a:t>
            </a:r>
            <a:r>
              <a:rPr lang="ru-RU" sz="2400" b="1" dirty="0"/>
              <a:t> </a:t>
            </a:r>
            <a:r>
              <a:rPr lang="ru-RU" sz="2400" b="1" dirty="0" err="1"/>
              <a:t>Error</a:t>
            </a:r>
            <a:r>
              <a:rPr lang="ru-RU" sz="2400" b="1" dirty="0"/>
              <a:t>)</a:t>
            </a:r>
            <a:r>
              <a:rPr lang="ru-RU" sz="2400" dirty="0"/>
              <a:t> — это среднее значение квадратов ошибок. Чем ближе к нулю, тем лучше</a:t>
            </a:r>
            <a:br>
              <a:rPr lang="en-US" sz="2400" dirty="0"/>
            </a:br>
            <a:r>
              <a:rPr lang="ru-RU" sz="2400" b="1" dirty="0"/>
              <a:t>Особенность:</a:t>
            </a:r>
            <a:r>
              <a:rPr lang="ru-RU" sz="2400" dirty="0"/>
              <a:t> Сильно штрафует за большие ошибки из-за возведения в квадрат, что делает её чувствительной к выбросам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RMSE (Root Mean Squared Error)</a:t>
            </a:r>
            <a:r>
              <a:rPr lang="en-US" sz="2400" dirty="0"/>
              <a:t> — </a:t>
            </a:r>
            <a:r>
              <a:rPr lang="ru-RU" sz="2400" dirty="0"/>
              <a:t>это квадратный корень из </a:t>
            </a:r>
            <a:r>
              <a:rPr lang="en-US" sz="2400" dirty="0"/>
              <a:t>MSE</a:t>
            </a:r>
            <a:br>
              <a:rPr lang="en-US" sz="2400" dirty="0"/>
            </a:br>
            <a:r>
              <a:rPr lang="ru-RU" sz="2400" b="1" dirty="0"/>
              <a:t>Преимущество:</a:t>
            </a:r>
            <a:r>
              <a:rPr lang="ru-RU" sz="2400" dirty="0"/>
              <a:t> Имеет ту же размерность, что и целевая переменная (например, рубли, метры), что делает её более интерпретируемой по сравнению с MSE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MAE (</a:t>
            </a:r>
            <a:r>
              <a:rPr lang="ru-RU" sz="2400" b="1" dirty="0" err="1"/>
              <a:t>Mean</a:t>
            </a:r>
            <a:r>
              <a:rPr lang="ru-RU" sz="2400" b="1" dirty="0"/>
              <a:t> </a:t>
            </a:r>
            <a:r>
              <a:rPr lang="ru-RU" sz="2400" b="1" dirty="0" err="1"/>
              <a:t>Absolute</a:t>
            </a:r>
            <a:r>
              <a:rPr lang="ru-RU" sz="2400" b="1" dirty="0"/>
              <a:t> </a:t>
            </a:r>
            <a:r>
              <a:rPr lang="ru-RU" sz="2400" b="1" dirty="0" err="1"/>
              <a:t>Error</a:t>
            </a:r>
            <a:r>
              <a:rPr lang="ru-RU" sz="2400" b="1" dirty="0"/>
              <a:t>)</a:t>
            </a:r>
            <a:r>
              <a:rPr lang="ru-RU" sz="2400" dirty="0"/>
              <a:t> — это среднее абсолютное значение ошибок</a:t>
            </a:r>
            <a:br>
              <a:rPr lang="en-US" sz="2400" dirty="0"/>
            </a:br>
            <a:r>
              <a:rPr lang="ru-RU" sz="2400" b="1" dirty="0"/>
              <a:t>Особенность:</a:t>
            </a:r>
            <a:r>
              <a:rPr lang="ru-RU" sz="2400" dirty="0"/>
              <a:t> В отличие от MSE, не возводит ошибки в квадрат, поэтому все ошибки учитываются линейно. Это делает MAE более устойчивой к выбросам.</a:t>
            </a:r>
            <a:br>
              <a:rPr lang="ru-RU" sz="2400" dirty="0"/>
            </a:br>
            <a:r>
              <a:rPr lang="ru-RU" sz="2400" dirty="0"/>
              <a:t>Также имеет размерность </a:t>
            </a:r>
            <a:r>
              <a:rPr lang="ru-RU" sz="2400"/>
              <a:t>целевой переменной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54934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FF6B0-3A72-F8EB-383C-855AA1B1D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C18D4C1-7395-5AEE-2751-90FF112BA7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5B3E43-0D5D-CE50-A504-861E93E708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4B32B11-9250-E51E-F33F-9D56F18EC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Метрики качества регрессии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85F8A04-278C-E616-4C7F-864C9D484C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D92E03-6ED0-C771-0C74-A7FDF1E235EF}"/>
                  </a:ext>
                </a:extLst>
              </p:cNvPr>
              <p:cNvSpPr txBox="1"/>
              <p:nvPr/>
            </p:nvSpPr>
            <p:spPr>
              <a:xfrm>
                <a:off x="585896" y="2261470"/>
                <a:ext cx="11219008" cy="1235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400" b="1" dirty="0"/>
                  <a:t>R² - </a:t>
                </a:r>
                <a:r>
                  <a:rPr lang="ru-RU" sz="2400" b="1" dirty="0"/>
                  <a:t>Коэффициент детерминации</a:t>
                </a:r>
                <a:br>
                  <a:rPr lang="en-US" sz="2400" b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D92E03-6ED0-C771-0C74-A7FDF1E23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96" y="2261470"/>
                <a:ext cx="11219008" cy="1235979"/>
              </a:xfrm>
              <a:prstGeom prst="rect">
                <a:avLst/>
              </a:prstGeom>
              <a:blipFill>
                <a:blip r:embed="rId3"/>
                <a:stretch>
                  <a:fillRect l="-815" t="-39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9E72022-FE07-2DEA-7261-9980F2F57C18}"/>
              </a:ext>
            </a:extLst>
          </p:cNvPr>
          <p:cNvSpPr txBox="1"/>
          <p:nvPr/>
        </p:nvSpPr>
        <p:spPr>
          <a:xfrm>
            <a:off x="585896" y="3671826"/>
            <a:ext cx="112190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R² (R-</a:t>
            </a:r>
            <a:r>
              <a:rPr lang="ru-RU" sz="2400" b="1" dirty="0" err="1"/>
              <a:t>squared</a:t>
            </a:r>
            <a:r>
              <a:rPr lang="ru-RU" sz="2400" b="1" dirty="0"/>
              <a:t>)</a:t>
            </a:r>
            <a:r>
              <a:rPr lang="ru-RU" sz="2400" dirty="0"/>
              <a:t> показывает, какую долю дисперсии зависимой переменной (y) объясняет наша модель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Интерпретация:</a:t>
            </a:r>
            <a:endParaRPr lang="ru-RU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b="1" dirty="0"/>
              <a:t>R2=1:</a:t>
            </a:r>
            <a:r>
              <a:rPr lang="ru-RU" sz="2400" dirty="0"/>
              <a:t> Модель идеально объясняет все изменения в данных.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b="1" dirty="0"/>
              <a:t>R2=0:</a:t>
            </a:r>
            <a:r>
              <a:rPr lang="ru-RU" sz="2400" dirty="0"/>
              <a:t> Модель не объясняет ничего (работает не лучше, чем простое среднее).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0419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9F493-C4EA-AC29-D84E-24F22ED7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046DE36-752D-588E-C88A-BA810164C0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988E9D-DAB6-A027-5814-5BF9C2B333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1E08BC-D82E-0994-577E-41DF835D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Бейзлайн: с чем сравнивать модель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427BAC4-82D0-2573-CF4B-CE5EF278B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2A7D2-0DD8-6F58-4F79-408B46640515}"/>
              </a:ext>
            </a:extLst>
          </p:cNvPr>
          <p:cNvSpPr txBox="1"/>
          <p:nvPr/>
        </p:nvSpPr>
        <p:spPr>
          <a:xfrm>
            <a:off x="585896" y="2261470"/>
            <a:ext cx="8923864" cy="452431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Любая метрика бессмысленна без точки отсчёта. R² = 0.4 — это хорошо или плохо?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Бейзлайн</a:t>
            </a:r>
            <a:r>
              <a:rPr lang="ru-RU" sz="2000" dirty="0"/>
              <a:t> — тривиальная модель, которая всегда предсказывает среднее обучающей выборки (в sklearn это DummyRegressor(strategy="mean"))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Знаменатель в формуле R² — это и есть ошибка бейзлайна:   R² = 1 − MSE (модели) / MSE (бейзлайна)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Поэтому R² = 0.3 читается как «ошибка на 30% меньше, чем у предсказания средним»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Правило:</a:t>
            </a:r>
            <a:r>
              <a:rPr lang="ru-RU" sz="2000" dirty="0"/>
              <a:t> первая модель в любом проекте — тривиальная. Если сложная модель её не обыгрывает, дело не в гиперпараметрах, а в данных или в постановке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1131522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344C2-B0FE-2364-237C-EB4237FF5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3A28BB8-FB82-CE38-3ADB-39922B8EE2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E320E8-B4B5-9770-33AB-D7E7C9F30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5C9CF0B-6F24-1D52-E17F-8D5CEA96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Ограничения линейной регрессии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5C203F8-7038-00B0-6766-7C7EE6D3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A0B4D-5245-9544-9DEA-6E7173314F00}"/>
              </a:ext>
            </a:extLst>
          </p:cNvPr>
          <p:cNvSpPr txBox="1"/>
          <p:nvPr/>
        </p:nvSpPr>
        <p:spPr>
          <a:xfrm>
            <a:off x="477282" y="2314297"/>
            <a:ext cx="63258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Предположение о линейности</a:t>
            </a:r>
            <a:r>
              <a:rPr lang="ru-RU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Модель предполагает, что связь между переменными — прямая линия. Реальные биологические процессы часто сложнее и нелинейны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Чувствительность к выбросам </a:t>
            </a:r>
            <a:r>
              <a:rPr lang="ru-RU" dirty="0"/>
              <a:t>(в случае </a:t>
            </a:r>
            <a:r>
              <a:rPr lang="en-US" dirty="0"/>
              <a:t>MSE)</a:t>
            </a:r>
            <a:r>
              <a:rPr lang="ru-RU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Один-единственный аномальный пациент или ошибочное измерение может сильно исказить (сместить) всю линию регрессии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Корреляция — это не причинно-следственная связь</a:t>
            </a:r>
            <a:r>
              <a:rPr lang="en-US" b="1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Высокий R2 показывает, что переменные связаны, но </a:t>
            </a:r>
            <a:r>
              <a:rPr lang="ru-RU" b="1" dirty="0"/>
              <a:t>не доказывает</a:t>
            </a:r>
            <a:r>
              <a:rPr lang="ru-RU" dirty="0"/>
              <a:t>, что одна вызывает другую. Всегда может существовать скрытый третий фактор</a:t>
            </a:r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C667ACE2-8547-E9AE-6E05-E2BC0C6A6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248" y="2715776"/>
            <a:ext cx="4937760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D2B8B7-578D-F0AC-E5ED-CA00438807EB}"/>
              </a:ext>
            </a:extLst>
          </p:cNvPr>
          <p:cNvSpPr txBox="1"/>
          <p:nvPr/>
        </p:nvSpPr>
        <p:spPr>
          <a:xfrm>
            <a:off x="8406495" y="2383020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b="1" dirty="0">
                <a:latin typeface="HSE Sans" panose="02000000000000000000" pitchFamily="2" charset="0"/>
              </a:rPr>
              <a:t>Квартет </a:t>
            </a:r>
            <a:r>
              <a:rPr lang="ru-RU" b="1" dirty="0" err="1">
                <a:latin typeface="HSE Sans" panose="02000000000000000000" pitchFamily="2" charset="0"/>
              </a:rPr>
              <a:t>Энскомба</a:t>
            </a:r>
            <a:endParaRPr lang="ru-RU" b="1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827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9F493-C4EA-AC29-D84E-24F22ED7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046DE36-752D-588E-C88A-BA810164C0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988E9D-DAB6-A027-5814-5BF9C2B333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1E08BC-D82E-0994-577E-41DF835D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Мультиколлинеарность: суть проблемы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427BAC4-82D0-2573-CF4B-CE5EF278B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2A7D2-0DD8-6F58-4F79-408B46640515}"/>
              </a:ext>
            </a:extLst>
          </p:cNvPr>
          <p:cNvSpPr txBox="1"/>
          <p:nvPr/>
        </p:nvSpPr>
        <p:spPr>
          <a:xfrm>
            <a:off x="585896" y="2261470"/>
            <a:ext cx="10723788" cy="452431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dirty="0"/>
              <a:t>Мультиколлинеарность — сильная линейная зависимость между признаками. В биологии это правило, а не исключение: коэкспрессированные гены одного пути, рост и вес, систолическое и диастолическое давление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b="1" dirty="0"/>
              <a:t>Предельный случай:</a:t>
            </a:r>
            <a:r>
              <a:rPr lang="ru-RU" dirty="0"/>
              <a:t> x₂ = 2·x₁ (пример: объём опухоли в мм³ и в см³). Тогда w₁x₁ + w₂x₂ = (w₁ + 2w₂)·x₁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dirty="0"/>
              <a:t>Модель определяет только комбинацию (w₁ + 2w₂), но не каждый вес по отдельности: (5, 0), (1, 2) и (101, −48) дают одинаковые предсказания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b="1" dirty="0"/>
              <a:t>Формально:</a:t>
            </a:r>
            <a:r>
              <a:rPr lang="ru-RU" dirty="0"/>
              <a:t> столбцы X линейно зависимы → XᵀX вырождена → обратной матрицы не существует → нормальное уравнение со слайда 12 неприменимо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1800" b="1" dirty="0"/>
              <a:t>Геометрия:</a:t>
            </a:r>
            <a:r>
              <a:rPr lang="ru-RU" sz="1800" dirty="0"/>
              <a:t> круглая чаша функции потерь превращается в длинный плоский овраг. Вдоль дна оврага положение минимума определяется шумом выборки, а не сигналом</a:t>
            </a:r>
            <a:endParaRPr lang="ru-RU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b="1" dirty="0"/>
              <a:t>На практике</a:t>
            </a:r>
            <a:r>
              <a:rPr lang="ru-RU" dirty="0"/>
              <a:t> корреляция не 1.0, а 0.98: матрица не вырождена, а почти вырождена. Решение существует, но становится крайне неустойчивым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b="1" dirty="0"/>
              <a:t>Что делать:</a:t>
            </a:r>
            <a:r>
              <a:rPr lang="ru-RU" sz="1800" dirty="0"/>
              <a:t> проверять корреляции до интерпретации весов; интерпретировать группу признаков, а не отдельный ген; </a:t>
            </a:r>
            <a:r>
              <a:rPr lang="ru-RU" sz="1800" dirty="0" err="1"/>
              <a:t>Ridge</a:t>
            </a:r>
            <a:r>
              <a:rPr lang="ru-RU" sz="1800" dirty="0"/>
              <a:t>-регуляризация (лекция 5) добавляет λ к диагонали XᵀX и возвращает устойчивость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70532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9F493-C4EA-AC29-D84E-24F22ED7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046DE36-752D-588E-C88A-BA810164C0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988E9D-DAB6-A027-5814-5BF9C2B333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1E08BC-D82E-0994-577E-41DF835D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p ≫ n: признаков больше, чем пациентов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427BAC4-82D0-2573-CF4B-CE5EF278B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2A7D2-0DD8-6F58-4F79-408B46640515}"/>
              </a:ext>
            </a:extLst>
          </p:cNvPr>
          <p:cNvSpPr txBox="1"/>
          <p:nvPr/>
        </p:nvSpPr>
        <p:spPr>
          <a:xfrm>
            <a:off x="585896" y="2261470"/>
            <a:ext cx="11219008" cy="452431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Типичная омиксная задача: 20 000 генов на 50 пациентов. Метиляционный чип — 850 000 зондов. GWAS — миллионы SNP. Классическая статистика построена на обратном предположении n ≫ 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Столбцы X — это векторы в n-мерном пространстве. Если столбцов больше, чем n, они обязательно линейно зависимы — просто по размерности, независимо от биологии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Значит при p &gt; n мультиколлинеарность не «может случиться», а гарантирована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Счёт:</a:t>
            </a:r>
            <a:r>
              <a:rPr lang="ru-RU" sz="2000" dirty="0"/>
              <a:t> p + 1 параметр против n уравнений. При p ≥ n гиперплоскость проходит точно через все точки — ошибка на обучении равна нулю, даже если сигнала в данных нет вообще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Вывод:</a:t>
            </a:r>
            <a:r>
              <a:rPr lang="ru-RU" sz="2000" dirty="0"/>
              <a:t> в режиме p ≫ n ошибка на обучающей выборке не несёт информации. Как измерять качество честно и чем доопределить задачу — лекция 5</a:t>
            </a:r>
          </a:p>
        </p:txBody>
      </p:sp>
    </p:spTree>
    <p:extLst>
      <p:ext uri="{BB962C8B-B14F-4D97-AF65-F5344CB8AC3E}">
        <p14:creationId xmlns:p14="http://schemas.microsoft.com/office/powerpoint/2010/main" val="550412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344C2-B0FE-2364-237C-EB4237FF5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3A28BB8-FB82-CE38-3ADB-39922B8EE2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E320E8-B4B5-9770-33AB-D7E7C9F30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5C9CF0B-6F24-1D52-E17F-8D5CEA96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Нелинейность: как заставить кривую изгибаться?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5C203F8-7038-00B0-6766-7C7EE6D3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6A0B4D-5245-9544-9DEA-6E7173314F00}"/>
                  </a:ext>
                </a:extLst>
              </p:cNvPr>
              <p:cNvSpPr txBox="1"/>
              <p:nvPr/>
            </p:nvSpPr>
            <p:spPr>
              <a:xfrm>
                <a:off x="477282" y="1934227"/>
                <a:ext cx="11416691" cy="1785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/>
                  <a:t>Полиномиальные признаки - Идея: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Добавить новые признаки и протестировать модель на них: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ru-RU" b="1" dirty="0"/>
                  <a:t>Пример</a:t>
                </a:r>
                <a:r>
                  <a:rPr lang="ru-RU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ru-RU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6A0B4D-5245-9544-9DEA-6E7173314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82" y="1934227"/>
                <a:ext cx="11416691" cy="1785361"/>
              </a:xfrm>
              <a:prstGeom prst="rect">
                <a:avLst/>
              </a:prstGeom>
              <a:blipFill>
                <a:blip r:embed="rId3"/>
                <a:stretch>
                  <a:fillRect l="-427" t="-17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9A306FC-F181-49C1-8107-3506BDB4C7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7534" r="55615"/>
          <a:stretch/>
        </p:blipFill>
        <p:spPr>
          <a:xfrm>
            <a:off x="477282" y="3361267"/>
            <a:ext cx="4018103" cy="313302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46FE0A1-B629-4EC2-BBAB-D72AFB9026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646" t="17534"/>
          <a:stretch/>
        </p:blipFill>
        <p:spPr>
          <a:xfrm>
            <a:off x="7969202" y="3429000"/>
            <a:ext cx="3924771" cy="313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6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C997-41C8-8114-9096-7FAA49FB8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082E9E-1D24-147E-8106-FC9563BB02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2B6410-0D67-67AD-B607-6253891774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Машинное обучение в биоинформатике.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838B775-8285-E147-5E80-FC5BDA806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2D54B19-D20C-EB2A-0AB2-7A24D9761D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FDD086-9D21-DC8A-102A-FB806288257B}"/>
              </a:ext>
            </a:extLst>
          </p:cNvPr>
          <p:cNvSpPr txBox="1"/>
          <p:nvPr/>
        </p:nvSpPr>
        <p:spPr>
          <a:xfrm>
            <a:off x="1143689" y="2450743"/>
            <a:ext cx="928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Вопрос 1:</a:t>
            </a:r>
            <a:r>
              <a:rPr lang="ru-RU" sz="2000" dirty="0"/>
              <a:t> В чем особенности функции потерь MSE (сумма квадратов ошибок)?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3BC385B4-8C53-B382-EA63-4C673D025F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1F6761-6B5B-5398-5647-CBF01B104D35}"/>
              </a:ext>
            </a:extLst>
          </p:cNvPr>
          <p:cNvSpPr txBox="1"/>
          <p:nvPr/>
        </p:nvSpPr>
        <p:spPr>
          <a:xfrm>
            <a:off x="1143689" y="3399211"/>
            <a:ext cx="100133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Сильный "штраф" за большие ошибки. Точка, которая находится далеко от линии, внесет в общую сумму ошибки гораздо больший вклад, чем несколько точек, находящихся близко. Это заставляет модель стараться избегать грубых промахов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err="1"/>
              <a:t>Неотрицательность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Дифференцируемость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Выпуклость (только один глобальный оптимум)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Единицы измерения не соответствуют целевой переменной (квадрат)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Аналог минимизации </a:t>
            </a:r>
            <a:r>
              <a:rPr lang="en-US" sz="2000" dirty="0"/>
              <a:t>L2-</a:t>
            </a:r>
            <a:r>
              <a:rPr lang="ru-RU" sz="2000" dirty="0"/>
              <a:t>нормы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A2452036-6C38-FB5C-980A-E6F48C69C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35" y="2296855"/>
            <a:ext cx="70788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8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67D85-0E86-1067-57D6-CB39A9CC6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ED34B56-EFC7-A532-843C-C263C31C8B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7F4C60-9AA5-0BEC-99FF-E37BA4933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Машинное обучение в биоинформатике.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1D68AF6-41D7-A789-2557-5D11C1D4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F55BFE9-9996-086F-1749-18E03F2BA6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549DA2-86EF-E29F-928D-EEC8204C550C}"/>
              </a:ext>
            </a:extLst>
          </p:cNvPr>
          <p:cNvSpPr txBox="1"/>
          <p:nvPr/>
        </p:nvSpPr>
        <p:spPr>
          <a:xfrm>
            <a:off x="1143688" y="2296855"/>
            <a:ext cx="94724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Вопрос 2:</a:t>
            </a:r>
            <a:r>
              <a:rPr lang="ru-RU" sz="2000" dirty="0"/>
              <a:t> В нашей модели для прогнозирования уровня глюкозы коэффициент (вес признака) ИМТ равен +1.2. </a:t>
            </a:r>
            <a:br>
              <a:rPr lang="ru-RU" sz="2000" dirty="0"/>
            </a:br>
            <a:r>
              <a:rPr lang="ru-RU" sz="2000" dirty="0"/>
              <a:t>Как бы вы объяснили это значение коллеге-врачу простыми словами?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33AE3A86-7F3B-590E-8278-28930D5171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20263-E16E-17C4-8C79-8186C527840E}"/>
              </a:ext>
            </a:extLst>
          </p:cNvPr>
          <p:cNvSpPr txBox="1"/>
          <p:nvPr/>
        </p:nvSpPr>
        <p:spPr>
          <a:xfrm>
            <a:off x="1034921" y="3581400"/>
            <a:ext cx="100133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Это означает, что при увеличении ИМТ на одну единицу (например, с 25 до 26 кг/м²), мы ожидаем, что уровень глюкозы в среднем повысится на 1.2 мг/</a:t>
            </a:r>
            <a:r>
              <a:rPr lang="ru-RU" sz="2000" dirty="0" err="1"/>
              <a:t>дл</a:t>
            </a:r>
            <a:r>
              <a:rPr lang="ru-RU" sz="2000" dirty="0"/>
              <a:t>, при условии, что все остальные факторы (возраст, пол и т.д.), учтенные в модели, остаются неизменными</a:t>
            </a:r>
            <a:endParaRPr lang="ru-RU" sz="2000" dirty="0">
              <a:latin typeface="HSE Sans" panose="02000000000000000000" pitchFamily="2" charset="0"/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5333441E-B4A2-7897-802E-529CAEC07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35" y="2450743"/>
            <a:ext cx="70788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7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252CC-ED21-E440-05EA-9E308AC77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68E35FB-67FF-935E-5382-3EAA512494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A72808-8552-5E65-3C25-58048DF035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Машинное обучение в биоинформатике.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9CB8339-D5E0-69B9-D24B-C0798819E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22ADC1B-646F-ADBB-AD3A-6A0BE6902A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9A3000-084C-C0E0-E38A-E796D6A1A479}"/>
                  </a:ext>
                </a:extLst>
              </p:cNvPr>
              <p:cNvSpPr txBox="1"/>
              <p:nvPr/>
            </p:nvSpPr>
            <p:spPr>
              <a:xfrm>
                <a:off x="1143689" y="2296855"/>
                <a:ext cx="928601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b="1" dirty="0"/>
                  <a:t>Вопрос 3:</a:t>
                </a:r>
                <a:r>
                  <a:rPr lang="ru-RU" sz="2000" dirty="0"/>
                  <a:t> Ученые построили модель регрессии для предсказания уровня холестерина (y) на основе возраста (x1​) и ИМТ (x2​). Уравнение получилось таким: </a:t>
                </a:r>
                <a:r>
                  <a:rPr lang="ru-RU" sz="2000" b="1" dirty="0"/>
                  <a:t>Холестерин = 150 + 0.5 * Возраст + 1.2 * ИМТ</a:t>
                </a:r>
                <a:r>
                  <a:rPr lang="ru-RU" sz="2000" dirty="0"/>
                  <a:t>. </a:t>
                </a:r>
                <a:br>
                  <a:rPr lang="ru-RU" sz="2000" dirty="0"/>
                </a:br>
                <a:r>
                  <a:rPr lang="ru-RU" sz="2000" dirty="0"/>
                  <a:t>Как можно интерпретировать свободный член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000" dirty="0"/>
                  <a:t>​), который равен 150?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9A3000-084C-C0E0-E38A-E796D6A1A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689" y="2296855"/>
                <a:ext cx="9286010" cy="1323439"/>
              </a:xfrm>
              <a:prstGeom prst="rect">
                <a:avLst/>
              </a:prstGeom>
              <a:blipFill>
                <a:blip r:embed="rId2"/>
                <a:stretch>
                  <a:fillRect l="-722" t="-2765" b="-73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utoShape 2">
            <a:extLst>
              <a:ext uri="{FF2B5EF4-FFF2-40B4-BE49-F238E27FC236}">
                <a16:creationId xmlns:a16="http://schemas.microsoft.com/office/drawing/2014/main" id="{2247B1BA-11C4-B0AB-6A86-47FCC6769F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AD5650-346F-9126-48B2-4A1B537E4F39}"/>
                  </a:ext>
                </a:extLst>
              </p:cNvPr>
              <p:cNvSpPr txBox="1"/>
              <p:nvPr/>
            </p:nvSpPr>
            <p:spPr>
              <a:xfrm>
                <a:off x="1108178" y="3874699"/>
                <a:ext cx="1053567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​ — это предсказанное значение y, когда все предикторы равны нулю (возраст=0, ИМТ=0)</a:t>
                </a:r>
              </a:p>
              <a:p>
                <a:endParaRPr lang="ru-RU" sz="2000" dirty="0"/>
              </a:p>
              <a:p>
                <a:r>
                  <a:rPr lang="ru-RU" sz="2000" b="1" dirty="0" err="1"/>
                  <a:t>Доп.вопрос</a:t>
                </a:r>
                <a:r>
                  <a:rPr lang="ru-RU" sz="2000" dirty="0"/>
                  <a:t>: почему такая интерпретация зачастую бессмысленна и абсурдна?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AD5650-346F-9126-48B2-4A1B537E4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178" y="3874699"/>
                <a:ext cx="10535674" cy="1015663"/>
              </a:xfrm>
              <a:prstGeom prst="rect">
                <a:avLst/>
              </a:prstGeom>
              <a:blipFill>
                <a:blip r:embed="rId3"/>
                <a:stretch>
                  <a:fillRect l="-637" t="-3614" b="-10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60ABF079-9842-FC81-DF0A-FD99B7A3E7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035" y="2434359"/>
            <a:ext cx="707886" cy="7078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F1B6FF-60EE-8164-84F3-D4011C05B610}"/>
              </a:ext>
            </a:extLst>
          </p:cNvPr>
          <p:cNvSpPr txBox="1"/>
          <p:nvPr/>
        </p:nvSpPr>
        <p:spPr>
          <a:xfrm>
            <a:off x="1108178" y="4890362"/>
            <a:ext cx="105356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Экстраполяция за пределы обучающих данных:</a:t>
            </a:r>
            <a:r>
              <a:rPr lang="ru-RU" sz="2000" dirty="0"/>
              <a:t> Модель строилась на данных взрослых людей, у которых возраст и ИМТ никогда не бывают равны нулю. Прогнозирование для точки (Возраст=0, ИМТ=0) является </a:t>
            </a:r>
            <a:r>
              <a:rPr lang="ru-RU" sz="2000" b="1" dirty="0"/>
              <a:t>экстраполяцией</a:t>
            </a:r>
            <a:r>
              <a:rPr lang="ru-RU" sz="2000" dirty="0"/>
              <a:t> — предсказанием далеко за пределами диапазона данных, на которых модель обучалась. Линейная зависимость, наблюдаемая для взрослых, совершенно не обязана сохраняться для новорожденных</a:t>
            </a:r>
          </a:p>
        </p:txBody>
      </p:sp>
    </p:spTree>
    <p:extLst>
      <p:ext uri="{BB962C8B-B14F-4D97-AF65-F5344CB8AC3E}">
        <p14:creationId xmlns:p14="http://schemas.microsoft.com/office/powerpoint/2010/main" val="282722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1235D-3AA6-D538-08E9-82BE7A8D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48BBAE2-416D-A7DE-D5A1-455E40BD40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42E3D8-D79C-13E2-E597-9A1ABC6859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Машинное обучение в биоинформатике.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16BBAD-5C73-8418-AA55-C4EE5FF5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419FD0B-04F6-2CD5-83AD-A78E886C7C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95168D-F55C-A076-5B5A-A80B65F7615A}"/>
                  </a:ext>
                </a:extLst>
              </p:cNvPr>
              <p:cNvSpPr txBox="1"/>
              <p:nvPr/>
            </p:nvSpPr>
            <p:spPr>
              <a:xfrm>
                <a:off x="1143689" y="2322558"/>
                <a:ext cx="92860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b="1" dirty="0"/>
                  <a:t>Вопрос 4:</a:t>
                </a:r>
                <a:r>
                  <a:rPr lang="ru-RU" sz="2000" dirty="0"/>
                  <a:t> Можно ли иметь высокий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 b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2000" dirty="0"/>
                  <a:t> </a:t>
                </a:r>
                <a:r>
                  <a:rPr lang="ru-RU" sz="2000" dirty="0"/>
                  <a:t>но плохую клиническую полезность?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95168D-F55C-A076-5B5A-A80B65F76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689" y="2322558"/>
                <a:ext cx="9286010" cy="400110"/>
              </a:xfrm>
              <a:prstGeom prst="rect">
                <a:avLst/>
              </a:prstGeom>
              <a:blipFill>
                <a:blip r:embed="rId2"/>
                <a:stretch>
                  <a:fillRect l="-722" t="-10606" b="-25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utoShape 2">
            <a:extLst>
              <a:ext uri="{FF2B5EF4-FFF2-40B4-BE49-F238E27FC236}">
                <a16:creationId xmlns:a16="http://schemas.microsoft.com/office/drawing/2014/main" id="{970E21BC-CD6B-540A-26D6-05895CFAF8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A27F90-C6C3-2AF2-C2FC-E6B1C129220C}"/>
                  </a:ext>
                </a:extLst>
              </p:cNvPr>
              <p:cNvSpPr txBox="1"/>
              <p:nvPr/>
            </p:nvSpPr>
            <p:spPr>
              <a:xfrm>
                <a:off x="1193578" y="3199307"/>
                <a:ext cx="1001339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Да. Высокий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/>
                  <a:t>может сосуществовать с неприемлемыми индивидуальными ошибками (</a:t>
                </a:r>
                <a:r>
                  <a:rPr lang="en-US" sz="2000" dirty="0"/>
                  <a:t>RMSE </a:t>
                </a:r>
                <a:r>
                  <a:rPr lang="ru-RU" sz="2000" dirty="0"/>
                  <a:t>велик относительно клинического порога), например, в случае большого разброса в данных (когда </a:t>
                </a:r>
                <a:r>
                  <a:rPr lang="en-US" sz="2000" dirty="0"/>
                  <a:t>MSE </a:t>
                </a:r>
                <a:r>
                  <a:rPr lang="ru-RU" sz="2000" dirty="0"/>
                  <a:t>среднего будет слишком большим). </a:t>
                </a:r>
                <a:br>
                  <a:rPr lang="ru-RU" sz="2000" dirty="0"/>
                </a:br>
                <a:r>
                  <a:rPr lang="ru-RU" sz="2000" dirty="0"/>
                  <a:t>Важны обе перспективы</a:t>
                </a:r>
                <a:endParaRPr lang="ru-RU" sz="2000" dirty="0">
                  <a:latin typeface="HSE Sans" panose="02000000000000000000" pitchFamily="2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A27F90-C6C3-2AF2-C2FC-E6B1C1292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578" y="3199307"/>
                <a:ext cx="10013390" cy="1323439"/>
              </a:xfrm>
              <a:prstGeom prst="rect">
                <a:avLst/>
              </a:prstGeom>
              <a:blipFill>
                <a:blip r:embed="rId3"/>
                <a:stretch>
                  <a:fillRect l="-548" t="-2765" b="-73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3381451F-A5B3-FE15-6A2D-0FCBC4CBCE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035" y="2450743"/>
            <a:ext cx="70788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8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1235D-3AA6-D538-08E9-82BE7A8D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48BBAE2-416D-A7DE-D5A1-455E40BD40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42E3D8-D79C-13E2-E597-9A1ABC6859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Машинное обучение в биоинформатике.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16BBAD-5C73-8418-AA55-C4EE5FF5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419FD0B-04F6-2CD5-83AD-A78E886C7C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95168D-F55C-A076-5B5A-A80B65F7615A}"/>
                  </a:ext>
                </a:extLst>
              </p:cNvPr>
              <p:cNvSpPr txBox="1"/>
              <p:nvPr/>
            </p:nvSpPr>
            <p:spPr>
              <a:xfrm>
                <a:off x="1143689" y="2322558"/>
                <a:ext cx="9286010" cy="103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b="1" dirty="0"/>
                  <a:t>Вопрос 5:</a:t>
                </a:r>
                <a:r>
                  <a:rPr lang="ru-RU" sz="2000" dirty="0"/>
                  <a:t> Может ли значение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 b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2000" dirty="0"/>
                  <a:t> </a:t>
                </a:r>
                <a:r>
                  <a:rPr lang="ru-RU" sz="2000" dirty="0"/>
                  <a:t>быть отрицательным?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95168D-F55C-A076-5B5A-A80B65F76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689" y="2322558"/>
                <a:ext cx="9286010" cy="1038105"/>
              </a:xfrm>
              <a:prstGeom prst="rect">
                <a:avLst/>
              </a:prstGeom>
              <a:blipFill>
                <a:blip r:embed="rId2"/>
                <a:stretch>
                  <a:fillRect l="-722" t="-41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utoShape 2">
            <a:extLst>
              <a:ext uri="{FF2B5EF4-FFF2-40B4-BE49-F238E27FC236}">
                <a16:creationId xmlns:a16="http://schemas.microsoft.com/office/drawing/2014/main" id="{970E21BC-CD6B-540A-26D6-05895CFAF8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A27F90-C6C3-2AF2-C2FC-E6B1C129220C}"/>
              </a:ext>
            </a:extLst>
          </p:cNvPr>
          <p:cNvSpPr txBox="1"/>
          <p:nvPr/>
        </p:nvSpPr>
        <p:spPr>
          <a:xfrm>
            <a:off x="1241705" y="3725779"/>
            <a:ext cx="100133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Да. </a:t>
            </a:r>
            <a:br>
              <a:rPr lang="ru-RU" sz="2000" dirty="0"/>
            </a:br>
            <a:r>
              <a:rPr lang="ru-RU" sz="2000" dirty="0"/>
              <a:t>Если наша модель делает предсказания хуже чем простое среднее, то функция потерь в числителе будет больше знаменателя, а значит значение </a:t>
            </a:r>
            <a:r>
              <a:rPr lang="en-US" sz="2000" dirty="0"/>
              <a:t>R2 </a:t>
            </a:r>
            <a:r>
              <a:rPr lang="ru-RU" sz="2000" dirty="0"/>
              <a:t>будет меньше 0</a:t>
            </a:r>
            <a:endParaRPr lang="ru-RU" sz="2000" dirty="0">
              <a:latin typeface="HSE Sans" panose="02000000000000000000" pitchFamily="2" charset="0"/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3381451F-A5B3-FE15-6A2D-0FCBC4CBC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035" y="2450743"/>
            <a:ext cx="70788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5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1235D-3AA6-D538-08E9-82BE7A8D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48BBAE2-416D-A7DE-D5A1-455E40BD40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42E3D8-D79C-13E2-E597-9A1ABC6859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Машинное обучение в биоинформатике.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16BBAD-5C73-8418-AA55-C4EE5FF5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419FD0B-04F6-2CD5-83AD-A78E886C7C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95168D-F55C-A076-5B5A-A80B65F7615A}"/>
              </a:ext>
            </a:extLst>
          </p:cNvPr>
          <p:cNvSpPr txBox="1"/>
          <p:nvPr/>
        </p:nvSpPr>
        <p:spPr>
          <a:xfrm>
            <a:off x="1143689" y="2104072"/>
            <a:ext cx="105001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Вопрос </a:t>
            </a:r>
            <a:r>
              <a:rPr lang="en-US" b="1" dirty="0"/>
              <a:t>6</a:t>
            </a:r>
            <a:r>
              <a:rPr lang="ru-RU" b="1" dirty="0"/>
              <a:t>:</a:t>
            </a:r>
            <a:r>
              <a:rPr lang="ru-RU" dirty="0"/>
              <a:t> Вы обучаете линейную регрессию. Два гена в </a:t>
            </a:r>
            <a:r>
              <a:rPr lang="ru-RU" dirty="0" err="1"/>
              <a:t>датасете</a:t>
            </a:r>
            <a:r>
              <a:rPr lang="ru-RU" dirty="0"/>
              <a:t> принадлежат одному сигнальному пути и </a:t>
            </a:r>
            <a:r>
              <a:rPr lang="ru-RU" dirty="0" err="1"/>
              <a:t>коэкспрессированы</a:t>
            </a:r>
            <a:r>
              <a:rPr lang="ru-RU" dirty="0"/>
              <a:t> с корреляцией 0.98. Модель обучается нормально и предсказывает хорошо. Вы обучаете её заново на второй когорте — качество предсказаний такое же, но коэффициенты этих двух генов поменяли знак на противоположный. Как это возможно и что это значит для ваших биологических выводов?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70E21BC-CD6B-540A-26D6-05895CFAF8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A27F90-C6C3-2AF2-C2FC-E6B1C129220C}"/>
              </a:ext>
            </a:extLst>
          </p:cNvPr>
          <p:cNvSpPr txBox="1"/>
          <p:nvPr/>
        </p:nvSpPr>
        <p:spPr>
          <a:xfrm>
            <a:off x="1143689" y="3559975"/>
            <a:ext cx="108682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Ответ. </a:t>
            </a:r>
            <a:r>
              <a:rPr lang="ru-RU" dirty="0"/>
              <a:t>В случае </a:t>
            </a:r>
            <a:r>
              <a:rPr lang="ru-RU" dirty="0" err="1"/>
              <a:t>мультиколлинеарности</a:t>
            </a:r>
            <a:r>
              <a:rPr lang="ru-RU" dirty="0"/>
              <a:t>, модель фактически определяет не два коэффициента, а их комбинацию. Если x₂ ≈ x₁, то вклад </a:t>
            </a:r>
            <a:r>
              <a:rPr lang="ru-RU" dirty="0" err="1"/>
              <a:t>w₁x</a:t>
            </a:r>
            <a:r>
              <a:rPr lang="ru-RU" dirty="0"/>
              <a:t>₁ + </a:t>
            </a:r>
            <a:r>
              <a:rPr lang="ru-RU" dirty="0" err="1"/>
              <a:t>w₂x</a:t>
            </a:r>
            <a:r>
              <a:rPr lang="ru-RU" dirty="0"/>
              <a:t>₂ ≈ (w₁ + w₂)·x₁ — зафиксирована сумма весов, а по отдельности они могут быть любыми: (5, 0), (1000, −995). </a:t>
            </a:r>
            <a:br>
              <a:rPr lang="ru-RU" dirty="0"/>
            </a:br>
            <a:r>
              <a:rPr lang="ru-RU" dirty="0"/>
              <a:t>Геометрически функция потерь имеет вдоль этого направления почти плоское дно (плоский длинный овраг), и положение минимума на дне определяется случайностью исходной инициализации весов или шумом конкретной выборки. Поэтому смена когорты или добавление пациентов двигает коэффициенты на огромное расстояние. </a:t>
            </a:r>
            <a:br>
              <a:rPr lang="ru-RU" dirty="0"/>
            </a:br>
            <a:r>
              <a:rPr lang="ru-RU" b="1" dirty="0"/>
              <a:t>Вывод</a:t>
            </a:r>
            <a:r>
              <a:rPr lang="ru-RU" dirty="0"/>
              <a:t>: предсказания модели стали нестабильными. Утверждение «ген A повышает маркёр, а ген B понижает» здесь не биологический результат, а артефакт случайно выпавшей комбинации весов. Прежде чем интерпретировать вес признака, всегда нужно проверить, не коррелирует ли он сильно с другими — для генов одного пути это правило, а не исключение.</a:t>
            </a:r>
            <a:endParaRPr lang="ru-RU" dirty="0">
              <a:latin typeface="HSE Sans" panose="02000000000000000000" pitchFamily="2" charset="0"/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3381451F-A5B3-FE15-6A2D-0FCBC4CBC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036" y="2232257"/>
            <a:ext cx="70788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501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4A022-1FE1-ACA3-7F8E-05BBAC96D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1ED199E-2A35-44CB-B297-87A2DD87AB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EBC24B-8D95-C1D8-4DF7-4B21C73646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Машинное обучение в биоинформатике.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5E49FA6-1477-3908-18E5-E0F77F6A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Заключение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0859C3A-CE7A-2679-9899-2DD3748C17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519B4773-5194-F9B3-E3A7-9116D9AFC4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5C6087-1FED-9715-77D2-851DA364099C}"/>
                  </a:ext>
                </a:extLst>
              </p:cNvPr>
              <p:cNvSpPr txBox="1"/>
              <p:nvPr/>
            </p:nvSpPr>
            <p:spPr>
              <a:xfrm>
                <a:off x="585897" y="2363222"/>
                <a:ext cx="6619575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b="1" dirty="0"/>
                  <a:t>Линейная регрессия</a:t>
                </a:r>
                <a:r>
                  <a:rPr lang="ru-RU" sz="2400" dirty="0"/>
                  <a:t>: простая, интерпретируемая база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b="1" dirty="0"/>
                  <a:t>Обучение</a:t>
                </a:r>
                <a:r>
                  <a:rPr lang="ru-RU" sz="2400" dirty="0"/>
                  <a:t>: МНК (нормальное уравнение) и градиентный спуск</a:t>
                </a:r>
                <a:r>
                  <a:rPr lang="en-US" sz="2400" dirty="0"/>
                  <a:t> (Batch, mini-batch, SGD)</a:t>
                </a:r>
                <a:endParaRPr lang="ru-RU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b="1" dirty="0"/>
                  <a:t>Метрики</a:t>
                </a:r>
                <a:r>
                  <a:rPr lang="ru-RU" sz="2400" dirty="0"/>
                  <a:t>: </a:t>
                </a:r>
                <a:r>
                  <a:rPr lang="en-US" sz="2400" dirty="0"/>
                  <a:t>MSE/RMSE/MAE/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ru-RU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b="1" dirty="0">
                    <a:latin typeface="HSE Sans" panose="02000000000000000000" pitchFamily="2" charset="0"/>
                  </a:rPr>
                  <a:t>Ограничения линейной регрессии: </a:t>
                </a:r>
                <a:r>
                  <a:rPr lang="ru-RU" sz="2400" dirty="0">
                    <a:latin typeface="HSE Sans" panose="02000000000000000000" pitchFamily="2" charset="0"/>
                  </a:rPr>
                  <a:t>линейность, чувствительность к выбросам, корреляция != причина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5C6087-1FED-9715-77D2-851DA3640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97" y="2363222"/>
                <a:ext cx="6619575" cy="3046988"/>
              </a:xfrm>
              <a:prstGeom prst="rect">
                <a:avLst/>
              </a:prstGeom>
              <a:blipFill>
                <a:blip r:embed="rId2"/>
                <a:stretch>
                  <a:fillRect l="-1197" t="-1600" b="-36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60505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5D50C9-9995-4F81-99C1-2709443C08DD}">
  <we:reference id="wa104381909" version="3.19.0.0" store="ru-RU" storeType="OMEX"/>
  <we:alternateReferences>
    <we:reference id="WA104381909" version="3.19.0.0" store="WA10438190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3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3679</TotalTime>
  <Words>2915</Words>
  <Application>Microsoft Office PowerPoint</Application>
  <PresentationFormat>Широкоэкранный</PresentationFormat>
  <Paragraphs>347</Paragraphs>
  <Slides>39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Cambria Math</vt:lpstr>
      <vt:lpstr>HSE Sans</vt:lpstr>
      <vt:lpstr>Wingdings</vt:lpstr>
      <vt:lpstr>Office Theme</vt:lpstr>
      <vt:lpstr>Лекция 3: Регрессия: прогнозирование непрерывных величин</vt:lpstr>
      <vt:lpstr>План лекции</vt:lpstr>
      <vt:lpstr>Задача регрессии vs. классификации</vt:lpstr>
      <vt:lpstr>Линейная регрессия:  Прогнозирование непрерывных величин</vt:lpstr>
      <vt:lpstr>Линейная регрессия: Идея</vt:lpstr>
      <vt:lpstr>Функция потерь (Loss)</vt:lpstr>
      <vt:lpstr>Функция потерь (Loss)</vt:lpstr>
      <vt:lpstr>Функция потерь (Loss)</vt:lpstr>
      <vt:lpstr>Функция потерь (Loss)</vt:lpstr>
      <vt:lpstr>Функция потерь (Loss)</vt:lpstr>
      <vt:lpstr>Функция потерь (Loss)</vt:lpstr>
      <vt:lpstr>Линейная регрессия: Аналитическое решение (МНК)</vt:lpstr>
      <vt:lpstr>Градиентный спуск (GD)</vt:lpstr>
      <vt:lpstr>Градиентный спуск (GD)</vt:lpstr>
      <vt:lpstr>Градиентный спуск (GD) – Скорость обучения (LR)</vt:lpstr>
      <vt:lpstr>Градиентный спуск (GD) – Скорость обучения (LR)</vt:lpstr>
      <vt:lpstr>Градиентный спуск (GD) – переходим к 3D</vt:lpstr>
      <vt:lpstr>Градиентный спуск (GD)</vt:lpstr>
      <vt:lpstr>Градиентный спуск (GD)</vt:lpstr>
      <vt:lpstr>Градиентный спуск (GD)</vt:lpstr>
      <vt:lpstr>Градиентный спуск (GD)</vt:lpstr>
      <vt:lpstr>Градиентный спуск (GD) – Альтернативные методы</vt:lpstr>
      <vt:lpstr>Градиентный спуск (GD) – Альтернативные методы</vt:lpstr>
      <vt:lpstr>Градиентный спуск (GD) – Альтернативные методы</vt:lpstr>
      <vt:lpstr>Метрики качества регрессии</vt:lpstr>
      <vt:lpstr>Метрики качества регрессии</vt:lpstr>
      <vt:lpstr>Бейзлайн: с чем сравнивать модель</vt:lpstr>
      <vt:lpstr>Ограничения линейной регрессии</vt:lpstr>
      <vt:lpstr>Мультиколлинеарность: суть проблемы</vt:lpstr>
      <vt:lpstr>p ≫ n: признаков больше, чем пациентов</vt:lpstr>
      <vt:lpstr>Нелинейность: как заставить кривую изгибаться?</vt:lpstr>
      <vt:lpstr>Вопросы</vt:lpstr>
      <vt:lpstr>Вопросы</vt:lpstr>
      <vt:lpstr>Вопросы</vt:lpstr>
      <vt:lpstr>Вопросы</vt:lpstr>
      <vt:lpstr>Вопросы</vt:lpstr>
      <vt:lpstr>Вопросы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Artem Bashkatov</cp:lastModifiedBy>
  <cp:revision>232</cp:revision>
  <cp:lastPrinted>2021-11-11T13:08:42Z</cp:lastPrinted>
  <dcterms:created xsi:type="dcterms:W3CDTF">2021-11-11T08:52:47Z</dcterms:created>
  <dcterms:modified xsi:type="dcterms:W3CDTF">2026-10-06T10:37:16Z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