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2"/>
  </p:notesMasterIdLst>
  <p:sldIdLst>
    <p:sldId id="291" r:id="rId5"/>
    <p:sldId id="273" r:id="rId6"/>
    <p:sldId id="293" r:id="rId7"/>
    <p:sldId id="387" r:id="rId8"/>
    <p:sldId id="391" r:id="rId9"/>
    <p:sldId id="392" r:id="rId10"/>
    <p:sldId id="393" r:id="rId11"/>
    <p:sldId id="396" r:id="rId12"/>
    <p:sldId id="398" r:id="rId13"/>
    <p:sldId id="397" r:id="rId14"/>
    <p:sldId id="399" r:id="rId15"/>
    <p:sldId id="401" r:id="rId16"/>
    <p:sldId id="402" r:id="rId17"/>
    <p:sldId id="416" r:id="rId18"/>
    <p:sldId id="417" r:id="rId19"/>
    <p:sldId id="418" r:id="rId20"/>
    <p:sldId id="388" r:id="rId21"/>
    <p:sldId id="386" r:id="rId22"/>
    <p:sldId id="394" r:id="rId23"/>
    <p:sldId id="389" r:id="rId24"/>
    <p:sldId id="395" r:id="rId25"/>
    <p:sldId id="404" r:id="rId26"/>
    <p:sldId id="421" r:id="rId27"/>
    <p:sldId id="424" r:id="rId28"/>
    <p:sldId id="408" r:id="rId29"/>
    <p:sldId id="410" r:id="rId30"/>
    <p:sldId id="406" r:id="rId31"/>
    <p:sldId id="322" r:id="rId32"/>
    <p:sldId id="411" r:id="rId33"/>
    <p:sldId id="412" r:id="rId34"/>
    <p:sldId id="413" r:id="rId35"/>
    <p:sldId id="414" r:id="rId36"/>
    <p:sldId id="415" r:id="rId37"/>
    <p:sldId id="409" r:id="rId38"/>
    <p:sldId id="334" r:id="rId39"/>
    <p:sldId id="307" r:id="rId40"/>
    <p:sldId id="285" r:id="rId41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5" userDrawn="1">
          <p15:clr>
            <a:srgbClr val="A4A3A4"/>
          </p15:clr>
        </p15:guide>
        <p15:guide id="4" pos="1209" userDrawn="1">
          <p15:clr>
            <a:srgbClr val="A4A3A4"/>
          </p15:clr>
        </p15:guide>
        <p15:guide id="5" pos="2955" userDrawn="1">
          <p15:clr>
            <a:srgbClr val="A4A3A4"/>
          </p15:clr>
        </p15:guide>
        <p15:guide id="6" pos="2071" userDrawn="1">
          <p15:clr>
            <a:srgbClr val="A4A3A4"/>
          </p15:clr>
        </p15:guide>
        <p15:guide id="9" pos="3840" userDrawn="1">
          <p15:clr>
            <a:srgbClr val="A4A3A4"/>
          </p15:clr>
        </p15:guide>
        <p15:guide id="10" pos="4702" userDrawn="1">
          <p15:clr>
            <a:srgbClr val="A4A3A4"/>
          </p15:clr>
        </p15:guide>
        <p15:guide id="11" pos="5586" userDrawn="1">
          <p15:clr>
            <a:srgbClr val="A4A3A4"/>
          </p15:clr>
        </p15:guide>
        <p15:guide id="12" pos="7333" userDrawn="1">
          <p15:clr>
            <a:srgbClr val="A4A3A4"/>
          </p15:clr>
        </p15:guide>
        <p15:guide id="13" orient="horz" pos="3952" userDrawn="1">
          <p15:clr>
            <a:srgbClr val="A4A3A4"/>
          </p15:clr>
        </p15:guide>
        <p15:guide id="15" pos="6471" userDrawn="1">
          <p15:clr>
            <a:srgbClr val="A4A3A4"/>
          </p15:clr>
        </p15:guide>
        <p15:guide id="16" orient="horz" pos="91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утьков Юрий Юрьевич" initials="КЮЮ" lastIdx="4" clrIdx="0">
    <p:extLst>
      <p:ext uri="{19B8F6BF-5375-455C-9EA6-DF929625EA0E}">
        <p15:presenceInfo xmlns:p15="http://schemas.microsoft.com/office/powerpoint/2012/main" userId="S::ykutkov@hse.ru::45dbd1ed-eea1-4925-9fa4-5001421b49d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06AA7"/>
    <a:srgbClr val="029C63"/>
    <a:srgbClr val="96628C"/>
    <a:srgbClr val="11A0D7"/>
    <a:srgbClr val="E61F3D"/>
    <a:srgbClr val="CD5A5A"/>
    <a:srgbClr val="FFD746"/>
    <a:srgbClr val="0E2D69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C21501-8AC7-D24B-9BD4-4AB280FA19DE}" v="6" dt="2021-11-26T18:08:21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1535" autoAdjust="0"/>
  </p:normalViewPr>
  <p:slideViewPr>
    <p:cSldViewPr snapToGrid="0" snapToObjects="1">
      <p:cViewPr varScale="1">
        <p:scale>
          <a:sx n="129" d="100"/>
          <a:sy n="129" d="100"/>
        </p:scale>
        <p:origin x="1542" y="132"/>
      </p:cViewPr>
      <p:guideLst>
        <p:guide pos="325"/>
        <p:guide pos="1209"/>
        <p:guide pos="2955"/>
        <p:guide pos="2071"/>
        <p:guide pos="3840"/>
        <p:guide pos="4702"/>
        <p:guide pos="5586"/>
        <p:guide pos="7333"/>
        <p:guide orient="horz" pos="3952"/>
        <p:guide pos="6471"/>
        <p:guide orient="horz" pos="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34" d="100"/>
          <a:sy n="134" d="100"/>
        </p:scale>
        <p:origin x="3648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commentAuthors" Target="commentAuthors.xml"/><Relationship Id="rId48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261BF4-8B2C-784B-9959-B59A059012C3}" type="datetimeFigureOut">
              <a:rPr lang="en-RU" smtClean="0"/>
              <a:t>10/20/2026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48903-8EB5-294E-A216-6B54B0368783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73168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13151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38245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27894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807198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54DB8-865A-6104-4D30-93D163958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A47E1C9-6FCE-ECDA-F703-1F71962A9D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ED24BC1-7382-F8F8-9049-0FAD1832BF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7D984D7-D2BF-41AC-1FED-07E0D55E2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27647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AA563-BF8C-F959-2C5B-D852DA425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918F862-E781-78ED-B662-A065987C5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5499D17-8A06-4CC0-EBD4-C25EE1F2A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F34F1A-867C-9423-8180-7B2B9947A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458648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606A9-C6B4-F9D6-A973-845C815B3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BBAA77C-222D-E97B-C600-8497D4AE8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2F41FD-578A-2261-DD46-B21119DAA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74C185-E8DB-C0F0-0A4B-AAE54D4A5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083887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46AD7-19DD-C583-050B-1C1DA136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FF53C2-8B3A-55C4-EED6-89B656F73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DF1969E-6160-7792-DC2D-233252592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92C591-E0DC-A68D-96CA-A45BCBA30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969616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46AD7-19DD-C583-050B-1C1DA136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FF53C2-8B3A-55C4-EED6-89B656F73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DF1969E-6160-7792-DC2D-233252592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92C591-E0DC-A68D-96CA-A45BCBA30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310524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46AD7-19DD-C583-050B-1C1DA136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FF53C2-8B3A-55C4-EED6-89B656F73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DF1969E-6160-7792-DC2D-233252592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92C591-E0DC-A68D-96CA-A45BCBA30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41734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46AD7-19DD-C583-050B-1C1DA136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EFF53C2-8B3A-55C4-EED6-89B656F73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DF1969E-6160-7792-DC2D-233252592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92C591-E0DC-A68D-96CA-A45BCBA30D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13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808240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055C3-513E-C4EF-0AF7-39706F9B6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19E8625-0A9D-1972-1177-73DE51181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C539DE0-EDCB-DF49-702A-E29C8878A2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8F1105-238C-BE51-CEFB-7F54F8562D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14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6063338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780C0-E9FA-6D17-E25E-1C55039F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EFEBBF1-2F01-A6E6-3FB7-56C68E047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916BD97-0C3C-B797-3919-A4C467C69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54D722-C894-2EB2-08E7-0E017C2B92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100936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7A015-FF07-22C6-1414-CEA80D79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82278D9-685F-546C-7813-37530530DF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8CBF1D9-A814-87D0-5918-8500E94AA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74180F-A69A-25CC-230F-65D2FBE22F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593079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449089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18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7742677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0528E-3E6F-CE57-4D10-CAA2096F9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8329370-DB65-803F-1C08-77F484CE8D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DE31162-53F1-211C-6F01-9BE96852C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882CE57-76E0-A5E9-E11E-49A63236C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19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4073645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9874970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1720F-9D57-82BF-3760-03B61C13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6830E12-738F-3B81-D5EF-D9944BC3A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B994F9E-6807-1A15-D739-8148361FEB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AFEE3C-E617-AF93-2621-B83BA2FECC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262035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07CA8-9681-8D4F-9061-6C5EDFA6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DA1279E-609B-4652-3D7D-79FEFE749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082EA4C-5E61-5306-0CF0-A6DA33169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7D8581-E22E-6784-5199-971C505D0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894245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07CA8-9681-8D4F-9061-6C5EDFA6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DA1279E-609B-4652-3D7D-79FEFE749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082EA4C-5E61-5306-0CF0-A6DA33169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7D8581-E22E-6784-5199-971C505D0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25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9478436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26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079522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07CA8-9681-8D4F-9061-6C5EDFA6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DA1279E-609B-4652-3D7D-79FEFE749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082EA4C-5E61-5306-0CF0-A6DA33169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7D8581-E22E-6784-5199-971C505D06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5414168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07A2D-1830-BFF1-46F1-84AF5C5C4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C39F69-9BD5-3066-D55A-18B79F30E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39146EE-6F34-59A1-5841-7C1EF3BABB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99FA30-0F1B-489A-E70C-76BE5E605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29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1035038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C9F63-B276-D915-1D4D-E6BC520A4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59DF29B-C635-1BA1-CC54-8BD3A39AB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31F9463-729C-4080-DD0F-0A448AF00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239E96-3DCC-EDCE-2CF9-034B2DF98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30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099074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BCABE-B555-76FE-5353-B89B0F329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7D03F08-6F49-C938-0C34-7FC837CA9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9A39A33-0DD5-D019-5CAA-8CB61CD59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85C74F-A655-9F43-F7AB-07F0450834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31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8211214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8CD3C-F82E-229F-3C9B-28908932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82F66BC-6BBD-26C7-4825-176843531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AE28411-1AC8-2F04-2878-5F5CC50A5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401359B-3B0A-141A-3A86-2BCC221F4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48903-8EB5-294E-A216-6B54B0368783}" type="slidenum">
              <a:rPr lang="en-RU" smtClean="0"/>
              <a:t>32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1604274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8" descr="A blue circle with white text&#10;&#10;Description automatically generated with low confidence">
            <a:extLst>
              <a:ext uri="{FF2B5EF4-FFF2-40B4-BE49-F238E27FC236}">
                <a16:creationId xmlns:a16="http://schemas.microsoft.com/office/drawing/2014/main" id="{BA292C80-0DA8-194A-9A66-279048FA2A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3859" y="962173"/>
            <a:ext cx="886499" cy="886499"/>
          </a:xfrm>
          <a:prstGeom prst="rect">
            <a:avLst/>
          </a:prstGeom>
        </p:spPr>
      </p:pic>
      <p:cxnSp>
        <p:nvCxnSpPr>
          <p:cNvPr id="11" name="Straight Connector 48">
            <a:extLst>
              <a:ext uri="{FF2B5EF4-FFF2-40B4-BE49-F238E27FC236}">
                <a16:creationId xmlns:a16="http://schemas.microsoft.com/office/drawing/2014/main" id="{313EF906-5BAC-0141-A198-076E155DF9E2}"/>
              </a:ext>
            </a:extLst>
          </p:cNvPr>
          <p:cNvCxnSpPr>
            <a:cxnSpLocks/>
          </p:cNvCxnSpPr>
          <p:nvPr userDrawn="1"/>
        </p:nvCxnSpPr>
        <p:spPr>
          <a:xfrm>
            <a:off x="6090212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50">
            <a:extLst>
              <a:ext uri="{FF2B5EF4-FFF2-40B4-BE49-F238E27FC236}">
                <a16:creationId xmlns:a16="http://schemas.microsoft.com/office/drawing/2014/main" id="{61206A97-26F2-E646-8775-9928FEF465B5}"/>
              </a:ext>
            </a:extLst>
          </p:cNvPr>
          <p:cNvCxnSpPr>
            <a:cxnSpLocks/>
          </p:cNvCxnSpPr>
          <p:nvPr userDrawn="1"/>
        </p:nvCxnSpPr>
        <p:spPr>
          <a:xfrm>
            <a:off x="8642581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51">
            <a:extLst>
              <a:ext uri="{FF2B5EF4-FFF2-40B4-BE49-F238E27FC236}">
                <a16:creationId xmlns:a16="http://schemas.microsoft.com/office/drawing/2014/main" id="{28E0E5F6-C1CA-9B41-B1DB-6E4FB509084D}"/>
              </a:ext>
            </a:extLst>
          </p:cNvPr>
          <p:cNvCxnSpPr>
            <a:cxnSpLocks/>
          </p:cNvCxnSpPr>
          <p:nvPr userDrawn="1"/>
        </p:nvCxnSpPr>
        <p:spPr>
          <a:xfrm>
            <a:off x="11179047" y="985336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7967" y="2404670"/>
            <a:ext cx="7634059" cy="1978323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300" b="0" i="0" baseline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презентации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может быть набрано в две </a:t>
            </a:r>
            <a:b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4400" dirty="0">
                <a:solidFill>
                  <a:srgbClr val="102D69"/>
                </a:solidFill>
                <a:latin typeface="HSE Sans" panose="02000000000000000000" pitchFamily="2" charset="0"/>
              </a:rPr>
              <a:t>или три строки (43 </a:t>
            </a:r>
            <a:r>
              <a:rPr lang="en-GB" sz="4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4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4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947" y="1187841"/>
            <a:ext cx="3848717" cy="43516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 panose="02000000000000000000" pitchFamily="2" charset="0"/>
              </a:defRPr>
            </a:lvl1pPr>
            <a:lvl2pPr marL="457200" indent="0" algn="l">
              <a:buNone/>
              <a:defRPr sz="1600" b="0" i="0">
                <a:latin typeface="HSE Sans" panose="02000000000000000000" pitchFamily="2" charset="0"/>
              </a:defRPr>
            </a:lvl2pPr>
            <a:lvl3pPr marL="914400" indent="0" algn="l">
              <a:buNone/>
              <a:defRPr sz="1600" b="0" i="0">
                <a:latin typeface="HSE Sans" panose="02000000000000000000" pitchFamily="2" charset="0"/>
              </a:defRPr>
            </a:lvl3pPr>
            <a:lvl4pPr marL="1371600" indent="0" algn="l">
              <a:buNone/>
              <a:defRPr sz="1600" b="0" i="0">
                <a:latin typeface="HSE Sans" panose="02000000000000000000" pitchFamily="2" charset="0"/>
              </a:defRPr>
            </a:lvl4pPr>
            <a:lvl5pPr marL="1828800" indent="0" algn="l">
              <a:buNone/>
              <a:defRPr sz="1600" b="0" i="0">
                <a:latin typeface="HSE Sans" panose="02000000000000000000" pitchFamily="2" charset="0"/>
              </a:defRPr>
            </a:lvl5pPr>
          </a:lstStyle>
          <a:p>
            <a:r>
              <a:rPr lang="ru-RU" dirty="0">
                <a:latin typeface="HSE Sans" panose="02000000000000000000" pitchFamily="2" charset="0"/>
              </a:rPr>
              <a:t>Название факультета</a:t>
            </a:r>
            <a:br>
              <a:rPr lang="ru-RU" dirty="0">
                <a:latin typeface="HSE Sans" panose="02000000000000000000" pitchFamily="2" charset="0"/>
              </a:rPr>
            </a:br>
            <a:r>
              <a:rPr lang="ru-RU" dirty="0">
                <a:latin typeface="HSE Sans" panose="02000000000000000000" pitchFamily="2" charset="0"/>
              </a:rPr>
              <a:t>в две строки</a:t>
            </a:r>
            <a:r>
              <a:rPr lang="en-GB" dirty="0">
                <a:latin typeface="HSE Sans" panose="02000000000000000000" pitchFamily="2" charset="0"/>
              </a:rPr>
              <a:t> (16 </a:t>
            </a:r>
            <a:r>
              <a:rPr lang="en-GB" dirty="0" err="1">
                <a:latin typeface="HSE Sans" panose="02000000000000000000" pitchFamily="2" charset="0"/>
              </a:rPr>
              <a:t>pt</a:t>
            </a:r>
            <a:r>
              <a:rPr lang="en-GB" dirty="0">
                <a:latin typeface="HSE Sans" panose="02000000000000000000" pitchFamily="2" charset="0"/>
              </a:rPr>
              <a:t>)</a:t>
            </a:r>
            <a:endParaRPr lang="ru-RU" dirty="0">
              <a:latin typeface="HSE Sans" panose="02000000000000000000" pitchFamily="2" charset="0"/>
            </a:endParaRP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59420" y="1173829"/>
            <a:ext cx="2278063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8786720" y="1173829"/>
            <a:ext cx="2217738" cy="463186"/>
          </a:xfr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HSE Sans" panose="02000000000000000000" pitchFamily="2" charset="0"/>
              </a:rPr>
              <a:t>Москва</a:t>
            </a:r>
            <a:br>
              <a:rPr lang="ru-RU" sz="1200" dirty="0">
                <a:latin typeface="HSE Sans" panose="02000000000000000000" pitchFamily="2" charset="0"/>
              </a:rPr>
            </a:br>
            <a:r>
              <a:rPr lang="ru-RU" sz="1200" dirty="0">
                <a:latin typeface="HSE Sans" panose="02000000000000000000" pitchFamily="2" charset="0"/>
              </a:rPr>
              <a:t>2022</a:t>
            </a:r>
            <a:r>
              <a:rPr lang="en-GB" sz="1200" dirty="0">
                <a:latin typeface="HSE Sans" panose="02000000000000000000" pitchFamily="2" charset="0"/>
              </a:rPr>
              <a:t> (12pt)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9" name="Текст 28">
            <a:extLst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967" y="4824914"/>
            <a:ext cx="7625267" cy="652860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latin typeface="HSE Sans" panose="02000000000000000000" pitchFamily="2" charset="0"/>
              </a:rPr>
              <a:t>Если нужно больше места, то используйте подзаголовок</a:t>
            </a:r>
            <a:r>
              <a:rPr lang="en-GB" sz="1600" dirty="0">
                <a:latin typeface="HSE Sans" panose="02000000000000000000" pitchFamily="2" charset="0"/>
              </a:rPr>
              <a:t> (16 </a:t>
            </a:r>
            <a:r>
              <a:rPr lang="en-GB" sz="1600" dirty="0" err="1">
                <a:latin typeface="HSE Sans" panose="02000000000000000000" pitchFamily="2" charset="0"/>
              </a:rPr>
              <a:t>pt</a:t>
            </a:r>
            <a:r>
              <a:rPr lang="en-GB" sz="1600" dirty="0">
                <a:latin typeface="HSE Sans" panose="02000000000000000000" pitchFamily="2" charset="0"/>
              </a:rPr>
              <a:t>)</a:t>
            </a:r>
            <a:endParaRPr lang="ru-RU" sz="16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895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4" descr="Icon&#10;&#10;Description automatically generated">
            <a:extLst>
              <a:ext uri="{FF2B5EF4-FFF2-40B4-BE49-F238E27FC236}">
                <a16:creationId xmlns:a16="http://schemas.microsoft.com/office/drawing/2014/main" id="{4A1436AC-5F96-2A4F-BFC7-B3442083EB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11" name="Straight Connector 19">
            <a:extLst>
              <a:ext uri="{FF2B5EF4-FFF2-40B4-BE49-F238E27FC236}">
                <a16:creationId xmlns:a16="http://schemas.microsoft.com/office/drawing/2014/main" id="{067DD2ED-246D-7D41-B51F-FED98BF873F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21">
            <a:extLst>
              <a:ext uri="{FF2B5EF4-FFF2-40B4-BE49-F238E27FC236}">
                <a16:creationId xmlns:a16="http://schemas.microsoft.com/office/drawing/2014/main" id="{68E8C250-D449-A743-8975-B5BFB04D9744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25">
            <a:extLst>
              <a:ext uri="{FF2B5EF4-FFF2-40B4-BE49-F238E27FC236}">
                <a16:creationId xmlns:a16="http://schemas.microsoft.com/office/drawing/2014/main" id="{DD1C71CA-B883-AF42-959D-BCA5690AAA4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9" name="Straight Connector 59">
            <a:extLst>
              <a:ext uri="{FF2B5EF4-FFF2-40B4-BE49-F238E27FC236}">
                <a16:creationId xmlns:a16="http://schemas.microsoft.com/office/drawing/2014/main" id="{3447008E-4F3B-FC4E-B96D-3927FAE1ED1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Рисунок 23">
            <a:extLst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684653" y="1447790"/>
            <a:ext cx="4325167" cy="432510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32" name="Заголовок 31">
            <a:extLst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8" y="1447790"/>
            <a:ext cx="524556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6" name="Текст 35">
            <a:extLst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5245561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Текст 39">
            <a:extLst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Текст 39">
            <a:extLst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287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FDC66DB8-29BC-5940-A721-40F10021456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DE27C859-478F-3648-8A9D-2C85DBDCAC0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58EA1144-CFD8-1D47-B430-7014F576043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96EDC73C-5A3C-014E-8E52-04CAFCA9B20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EDA7D8BF-DF37-704F-B77F-7E40752ACE25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Заголовок 31">
            <a:extLst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66FAD63B-F743-0F47-BBE3-D7731766705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7" y="2379663"/>
            <a:ext cx="11057971" cy="3745092"/>
          </a:xfrm>
        </p:spPr>
        <p:txBody>
          <a:bodyPr lIns="0" tIns="0" rIns="0" numCol="3" spcCol="252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3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</p:txBody>
      </p:sp>
      <p:sp>
        <p:nvSpPr>
          <p:cNvPr id="18" name="Текст 39">
            <a:extLst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8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_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0E78CA68-7A0C-CF41-9AC6-A547FB9EC3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45DC512A-A23B-B24D-A1F6-6793976867CF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21F91649-DF0F-5F45-A43B-2CED9ACDD04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3137B760-1A50-1845-B7F2-1EF31C71C72B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FB81B23D-CDD8-E64C-9887-3540F7EE1C4B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(13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59892" y="2379663"/>
            <a:ext cx="5383968" cy="345179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2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3200" dirty="0">
                <a:solidFill>
                  <a:srgbClr val="102D69"/>
                </a:solidFill>
                <a:latin typeface="HSE Sans" panose="02000000000000000000" pitchFamily="2" charset="0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>
            <a:pPr lvl="0"/>
            <a:endParaRPr lang="ru-RU" dirty="0"/>
          </a:p>
        </p:txBody>
      </p:sp>
      <p:sp>
        <p:nvSpPr>
          <p:cNvPr id="24" name="Текст 39">
            <a:extLst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5" name="Заголовок 31">
            <a:extLst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795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E89D752-CAC6-0943-9A3D-4C52DBF50CE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64D89E64-93BB-044D-B3D4-8F2679C5CA4C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D0C3B169-866D-C645-AF76-00F8C2A97E9B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FDDF48AB-D8AE-0E42-A544-8EA5B8744778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019D6862-BD52-734D-9E19-38C147CA2D2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113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рафик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11D7C3EB-CCEB-E142-9753-8B2D75A0A8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527C9F89-51CC-D243-9351-73AB081DB944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F09EE119-6C80-E846-95F9-BB3907664128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C0A681B-44BF-6A46-98D8-483EF13B9114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D4C3D74D-BE91-9547-ADCA-ACCE93C18789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897" y="5183249"/>
            <a:ext cx="3934345" cy="553998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lang="en-GB" sz="1000" dirty="0" err="1">
                <a:latin typeface="HSE Sans" panose="02000000000000000000" pitchFamily="2" charset="0"/>
              </a:rPr>
              <a:t>pt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21" name="Диаграмма 7">
            <a:extLst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7" y="1447790"/>
            <a:ext cx="6371768" cy="4289457"/>
          </a:xfrm>
        </p:spPr>
        <p:txBody>
          <a:bodyPr/>
          <a:lstStyle/>
          <a:p>
            <a:endParaRPr lang="ru-RU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8" y="1447064"/>
            <a:ext cx="4322762" cy="703205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 (16pt)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8" name="Текст 35">
            <a:extLst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фры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Icon&#10;&#10;Description automatically generated">
            <a:extLst>
              <a:ext uri="{FF2B5EF4-FFF2-40B4-BE49-F238E27FC236}">
                <a16:creationId xmlns:a16="http://schemas.microsoft.com/office/drawing/2014/main" id="{E9A64721-E55E-8749-B29E-51DD895593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7" name="Straight Connector 19">
            <a:extLst>
              <a:ext uri="{FF2B5EF4-FFF2-40B4-BE49-F238E27FC236}">
                <a16:creationId xmlns:a16="http://schemas.microsoft.com/office/drawing/2014/main" id="{B0C162B7-B84F-874A-960E-31F512518C6E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1">
            <a:extLst>
              <a:ext uri="{FF2B5EF4-FFF2-40B4-BE49-F238E27FC236}">
                <a16:creationId xmlns:a16="http://schemas.microsoft.com/office/drawing/2014/main" id="{1CB321BB-9FE3-294F-85D8-AA7DC75CA4AF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5">
            <a:extLst>
              <a:ext uri="{FF2B5EF4-FFF2-40B4-BE49-F238E27FC236}">
                <a16:creationId xmlns:a16="http://schemas.microsoft.com/office/drawing/2014/main" id="{0A610A45-8712-8A45-AFB3-931CF468EC3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41AE56A2-5FAA-FD44-AE1A-338E1E304184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37">
            <a:extLst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3" name="Текст 39">
            <a:extLst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Заголовок 31">
            <a:extLst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7" y="1447790"/>
            <a:ext cx="11057955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4" name="Текст 35">
            <a:extLst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5076" y="4103994"/>
            <a:ext cx="2758143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47007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18938" y="4103994"/>
            <a:ext cx="2757612" cy="156966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5076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152</a:t>
            </a:r>
            <a:endParaRPr lang="ru-RU" dirty="0"/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047007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95</a:t>
            </a:r>
            <a:endParaRPr lang="ru-RU" dirty="0"/>
          </a:p>
        </p:txBody>
      </p:sp>
      <p:sp>
        <p:nvSpPr>
          <p:cNvPr id="30" name="Текст 27">
            <a:extLst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18938" y="2710235"/>
            <a:ext cx="2758143" cy="1164116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9600">
                <a:latin typeface="HSE Sans" panose="02000000000000000000" pitchFamily="2" charset="0"/>
              </a:defRPr>
            </a:lvl1pPr>
            <a:lvl2pPr>
              <a:defRPr sz="9600">
                <a:latin typeface="HSE Sans" panose="02000000000000000000" pitchFamily="2" charset="0"/>
              </a:defRPr>
            </a:lvl2pPr>
            <a:lvl3pPr>
              <a:defRPr sz="9600">
                <a:latin typeface="HSE Sans" panose="02000000000000000000" pitchFamily="2" charset="0"/>
              </a:defRPr>
            </a:lvl3pPr>
            <a:lvl4pPr>
              <a:defRPr sz="9600">
                <a:latin typeface="HSE Sans" panose="02000000000000000000" pitchFamily="2" charset="0"/>
              </a:defRPr>
            </a:lvl4pPr>
            <a:lvl5pPr>
              <a:defRPr sz="9600">
                <a:latin typeface="HSE Sans" panose="02000000000000000000" pitchFamily="2" charset="0"/>
              </a:defRPr>
            </a:lvl5pPr>
          </a:lstStyle>
          <a:p>
            <a:pPr lvl="0"/>
            <a:r>
              <a:rPr lang="ru-RU" sz="9600" dirty="0">
                <a:solidFill>
                  <a:srgbClr val="102D69"/>
                </a:solidFill>
                <a:latin typeface="HSE Sans" panose="02000000000000000000" pitchFamily="2" charset="0"/>
              </a:rPr>
              <a:t>284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7052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C5425806-16DD-844E-927C-26E7143A9E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9746FF-3282-DF46-9D7C-D80431604A55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21">
            <a:extLst>
              <a:ext uri="{FF2B5EF4-FFF2-40B4-BE49-F238E27FC236}">
                <a16:creationId xmlns:a16="http://schemas.microsoft.com/office/drawing/2014/main" id="{51B44297-B0E7-D74D-B291-D39A0D468B42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25">
            <a:extLst>
              <a:ext uri="{FF2B5EF4-FFF2-40B4-BE49-F238E27FC236}">
                <a16:creationId xmlns:a16="http://schemas.microsoft.com/office/drawing/2014/main" id="{0EA4A057-F0CB-E04F-B472-4A1ABFB64C66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0" name="Straight Connector 59">
            <a:extLst>
              <a:ext uri="{FF2B5EF4-FFF2-40B4-BE49-F238E27FC236}">
                <a16:creationId xmlns:a16="http://schemas.microsoft.com/office/drawing/2014/main" id="{A80E0956-5C10-CC40-A426-CBD2E0C4158E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7">
            <a:extLst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2" name="Текст 39">
            <a:extLst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22">
            <a:extLst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5"/>
            <a:ext cx="11058065" cy="307778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19" name="Таблица 18">
            <a:extLst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1984076"/>
            <a:ext cx="11058527" cy="3519576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016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259ABC72-D738-1143-BF2A-D85AE9A4F73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237A1E42-2FC3-8841-8C41-992C5BC2368D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47503EA0-3883-E24D-9EB8-7B6175182929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E0144DF2-9891-324D-B34E-AFA025FBCBF9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5F1F09D4-22FA-7B4B-9488-F8FDDCC2D447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8" name="Текст 22">
            <a:extLst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5787" y="1447064"/>
            <a:ext cx="7617877" cy="5370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6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600" dirty="0">
                <a:solidFill>
                  <a:srgbClr val="102D69"/>
                </a:solidFill>
                <a:latin typeface="HSE Sans" panose="02000000000000000000" pitchFamily="2" charset="0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lang="en-GB" sz="16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16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9" name="Текст 16">
            <a:extLst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788" y="5739189"/>
            <a:ext cx="6824303" cy="703205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300" b="0" dirty="0">
                <a:ln>
                  <a:noFill/>
                </a:ln>
                <a:latin typeface="HSE Sans" panose="02000000000000000000" pitchFamily="2" charset="0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lang="ru-RU" sz="1300" dirty="0">
                <a:latin typeface="HSE Sans" panose="02000000000000000000" pitchFamily="2" charset="0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lang="en-RU" sz="1300" b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20" name="Таблица 18">
            <a:extLst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/>
          <a:p>
            <a:endParaRPr lang="ru-RU"/>
          </a:p>
        </p:txBody>
      </p:sp>
      <p:sp>
        <p:nvSpPr>
          <p:cNvPr id="21" name="Текст 35">
            <a:extLst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686807" y="2208363"/>
            <a:ext cx="2930666" cy="2570672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en-GB" sz="1300" dirty="0">
                <a:latin typeface="HSE Sans" panose="02000000000000000000" pitchFamily="2" charset="0"/>
              </a:rPr>
              <a:t>Lorem ipsum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sit </a:t>
            </a:r>
            <a:r>
              <a:rPr lang="en-GB" sz="1300" dirty="0" err="1">
                <a:latin typeface="HSE Sans" panose="02000000000000000000" pitchFamily="2" charset="0"/>
              </a:rPr>
              <a:t>amet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consectetur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adipiscing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elit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sed</a:t>
            </a:r>
            <a:r>
              <a:rPr lang="en-GB" sz="1300" dirty="0">
                <a:latin typeface="HSE Sans" panose="02000000000000000000" pitchFamily="2" charset="0"/>
              </a:rPr>
              <a:t> do </a:t>
            </a:r>
            <a:r>
              <a:rPr lang="en-GB" sz="1300" dirty="0" err="1">
                <a:latin typeface="HSE Sans" panose="02000000000000000000" pitchFamily="2" charset="0"/>
              </a:rPr>
              <a:t>eiusmod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tempor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incididunt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labore</a:t>
            </a:r>
            <a:r>
              <a:rPr lang="en-GB" sz="1300" dirty="0">
                <a:latin typeface="HSE Sans" panose="02000000000000000000" pitchFamily="2" charset="0"/>
              </a:rPr>
              <a:t> et dolore magna </a:t>
            </a:r>
            <a:r>
              <a:rPr lang="en-GB" sz="1300" dirty="0" err="1">
                <a:latin typeface="HSE Sans" panose="02000000000000000000" pitchFamily="2" charset="0"/>
              </a:rPr>
              <a:t>aliqua</a:t>
            </a:r>
            <a:r>
              <a:rPr lang="en-GB" sz="1300" dirty="0">
                <a:latin typeface="HSE Sans" panose="02000000000000000000" pitchFamily="2" charset="0"/>
              </a:rPr>
              <a:t>. Ut </a:t>
            </a:r>
            <a:r>
              <a:rPr lang="en-GB" sz="1300" dirty="0" err="1">
                <a:latin typeface="HSE Sans" panose="02000000000000000000" pitchFamily="2" charset="0"/>
              </a:rPr>
              <a:t>enim</a:t>
            </a:r>
            <a:r>
              <a:rPr lang="en-GB" sz="1300" dirty="0">
                <a:latin typeface="HSE Sans" panose="02000000000000000000" pitchFamily="2" charset="0"/>
              </a:rPr>
              <a:t> ad minim </a:t>
            </a:r>
            <a:r>
              <a:rPr lang="en-GB" sz="1300" dirty="0" err="1">
                <a:latin typeface="HSE Sans" panose="02000000000000000000" pitchFamily="2" charset="0"/>
              </a:rPr>
              <a:t>veniam</a:t>
            </a:r>
            <a:r>
              <a:rPr lang="en-GB" sz="1300" dirty="0">
                <a:latin typeface="HSE Sans" panose="02000000000000000000" pitchFamily="2" charset="0"/>
              </a:rPr>
              <a:t>, </a:t>
            </a:r>
            <a:r>
              <a:rPr lang="en-GB" sz="1300" dirty="0" err="1">
                <a:latin typeface="HSE Sans" panose="02000000000000000000" pitchFamily="2" charset="0"/>
              </a:rPr>
              <a:t>quis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nostrud</a:t>
            </a:r>
            <a:r>
              <a:rPr lang="en-GB" sz="1300" dirty="0">
                <a:latin typeface="HSE Sans" panose="02000000000000000000" pitchFamily="2" charset="0"/>
              </a:rPr>
              <a:t> exercitation </a:t>
            </a:r>
            <a:r>
              <a:rPr lang="en-GB" sz="1300" dirty="0" err="1">
                <a:latin typeface="HSE Sans" panose="02000000000000000000" pitchFamily="2" charset="0"/>
              </a:rPr>
              <a:t>ullamco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laboris</a:t>
            </a:r>
            <a:r>
              <a:rPr lang="en-GB" sz="1300" dirty="0">
                <a:latin typeface="HSE Sans" panose="02000000000000000000" pitchFamily="2" charset="0"/>
              </a:rPr>
              <a:t> nisi </a:t>
            </a:r>
            <a:r>
              <a:rPr lang="en-GB" sz="1300" dirty="0" err="1">
                <a:latin typeface="HSE Sans" panose="02000000000000000000" pitchFamily="2" charset="0"/>
              </a:rPr>
              <a:t>ut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aliquip</a:t>
            </a:r>
            <a:r>
              <a:rPr lang="en-GB" sz="1300" dirty="0">
                <a:latin typeface="HSE Sans" panose="02000000000000000000" pitchFamily="2" charset="0"/>
              </a:rPr>
              <a:t> ex </a:t>
            </a:r>
            <a:r>
              <a:rPr lang="en-GB" sz="1300" dirty="0" err="1">
                <a:latin typeface="HSE Sans" panose="02000000000000000000" pitchFamily="2" charset="0"/>
              </a:rPr>
              <a:t>ea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commodo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consequat</a:t>
            </a:r>
            <a:r>
              <a:rPr lang="en-GB" sz="1300" dirty="0">
                <a:latin typeface="HSE Sans" panose="02000000000000000000" pitchFamily="2" charset="0"/>
              </a:rPr>
              <a:t>. Duis </a:t>
            </a:r>
            <a:r>
              <a:rPr lang="en-GB" sz="1300" dirty="0" err="1">
                <a:latin typeface="HSE Sans" panose="02000000000000000000" pitchFamily="2" charset="0"/>
              </a:rPr>
              <a:t>aute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irure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dolor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reprehenderit</a:t>
            </a:r>
            <a:r>
              <a:rPr lang="en-GB" sz="1300" dirty="0">
                <a:latin typeface="HSE Sans" panose="02000000000000000000" pitchFamily="2" charset="0"/>
              </a:rPr>
              <a:t> in </a:t>
            </a:r>
            <a:r>
              <a:rPr lang="en-GB" sz="1300" dirty="0" err="1">
                <a:latin typeface="HSE Sans" panose="02000000000000000000" pitchFamily="2" charset="0"/>
              </a:rPr>
              <a:t>voluptate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velit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esse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cillum</a:t>
            </a:r>
            <a:r>
              <a:rPr lang="en-GB" sz="1300" dirty="0">
                <a:latin typeface="HSE Sans" panose="02000000000000000000" pitchFamily="2" charset="0"/>
              </a:rPr>
              <a:t> dolore </a:t>
            </a:r>
            <a:r>
              <a:rPr lang="en-GB" sz="1300" dirty="0" err="1">
                <a:latin typeface="HSE Sans" panose="02000000000000000000" pitchFamily="2" charset="0"/>
              </a:rPr>
              <a:t>eu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fugiat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nulla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pariatur</a:t>
            </a:r>
            <a:r>
              <a:rPr lang="en-GB" sz="1300" dirty="0">
                <a:latin typeface="HSE Sans" panose="02000000000000000000" pitchFamily="2" charset="0"/>
              </a:rPr>
              <a:t>. </a:t>
            </a:r>
            <a:r>
              <a:rPr lang="en-GB" sz="1300" dirty="0" err="1">
                <a:latin typeface="HSE Sans" panose="02000000000000000000" pitchFamily="2" charset="0"/>
              </a:rPr>
              <a:t>Excepteur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sint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occaecat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cupidatat</a:t>
            </a:r>
            <a:r>
              <a:rPr lang="en-GB" sz="1300" dirty="0">
                <a:latin typeface="HSE Sans" panose="02000000000000000000" pitchFamily="2" charset="0"/>
              </a:rPr>
              <a:t> non </a:t>
            </a:r>
            <a:r>
              <a:rPr lang="en-GB" sz="1300" dirty="0" err="1">
                <a:latin typeface="HSE Sans" panose="02000000000000000000" pitchFamily="2" charset="0"/>
              </a:rPr>
              <a:t>proident</a:t>
            </a:r>
            <a:r>
              <a:rPr lang="en-GB" sz="1300" dirty="0">
                <a:latin typeface="HSE Sans" panose="02000000000000000000" pitchFamily="2" charset="0"/>
              </a:rPr>
              <a:t>, sunt in culpa qui </a:t>
            </a:r>
            <a:r>
              <a:rPr lang="en-GB" sz="1300" dirty="0" err="1">
                <a:latin typeface="HSE Sans" panose="02000000000000000000" pitchFamily="2" charset="0"/>
              </a:rPr>
              <a:t>officia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deserunt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mollit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anim</a:t>
            </a:r>
            <a:r>
              <a:rPr lang="en-GB" sz="1300" dirty="0">
                <a:latin typeface="HSE Sans" panose="02000000000000000000" pitchFamily="2" charset="0"/>
              </a:rPr>
              <a:t> id </a:t>
            </a:r>
            <a:r>
              <a:rPr lang="en-GB" sz="1300" dirty="0" err="1">
                <a:latin typeface="HSE Sans" panose="02000000000000000000" pitchFamily="2" charset="0"/>
              </a:rPr>
              <a:t>est</a:t>
            </a:r>
            <a:r>
              <a:rPr lang="en-GB" sz="1300" dirty="0">
                <a:latin typeface="HSE Sans" panose="02000000000000000000" pitchFamily="2" charset="0"/>
              </a:rPr>
              <a:t> </a:t>
            </a:r>
            <a:r>
              <a:rPr lang="en-GB" sz="1300" dirty="0" err="1">
                <a:latin typeface="HSE Sans" panose="02000000000000000000" pitchFamily="2" charset="0"/>
              </a:rPr>
              <a:t>laborum</a:t>
            </a:r>
            <a:r>
              <a:rPr lang="en-GB" sz="1300" dirty="0">
                <a:latin typeface="HSE Sans" panose="02000000000000000000" pitchFamily="2" charset="0"/>
              </a:rPr>
              <a:t>.</a:t>
            </a:r>
            <a:endParaRPr lang="ru-RU" sz="13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677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в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Icon&#10;&#10;Description automatically generated">
            <a:extLst>
              <a:ext uri="{FF2B5EF4-FFF2-40B4-BE49-F238E27FC236}">
                <a16:creationId xmlns:a16="http://schemas.microsoft.com/office/drawing/2014/main" id="{9328428E-0D3D-6E4B-BAC0-3F63BAF7DB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8" name="Straight Connector 19">
            <a:extLst>
              <a:ext uri="{FF2B5EF4-FFF2-40B4-BE49-F238E27FC236}">
                <a16:creationId xmlns:a16="http://schemas.microsoft.com/office/drawing/2014/main" id="{86CF47C6-D972-9E44-A717-6848F3489399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21">
            <a:extLst>
              <a:ext uri="{FF2B5EF4-FFF2-40B4-BE49-F238E27FC236}">
                <a16:creationId xmlns:a16="http://schemas.microsoft.com/office/drawing/2014/main" id="{412FEF63-77C0-7C4A-B9BE-4BC0EEEEB78C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5">
            <a:extLst>
              <a:ext uri="{FF2B5EF4-FFF2-40B4-BE49-F238E27FC236}">
                <a16:creationId xmlns:a16="http://schemas.microsoft.com/office/drawing/2014/main" id="{C4F550E9-E979-284D-B65F-44E092DD9D02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2" name="Straight Connector 59">
            <a:extLst>
              <a:ext uri="{FF2B5EF4-FFF2-40B4-BE49-F238E27FC236}">
                <a16:creationId xmlns:a16="http://schemas.microsoft.com/office/drawing/2014/main" id="{396B1F99-9711-C64F-A7C9-4F1D89E7F11D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Текст 37">
            <a:extLst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4" name="Текст 39">
            <a:extLst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6" name="Текст 39">
            <a:extLst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9" name="Заголовок 31">
            <a:extLst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899" y="1447790"/>
            <a:ext cx="4322530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HSE Sans" panose="02000000000000000000" pitchFamily="2" charset="0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Дополнительная </a:t>
            </a:r>
            <a:b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цветовая гамма</a:t>
            </a:r>
          </a:p>
        </p:txBody>
      </p:sp>
      <p:sp>
        <p:nvSpPr>
          <p:cNvPr id="20" name="Текст 35">
            <a:extLst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898" y="2379663"/>
            <a:ext cx="4322531" cy="2399371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300" dirty="0">
                <a:latin typeface="HSE Sans" panose="02000000000000000000" pitchFamily="2" charset="0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/>
          <p:nvPr userDrawn="1"/>
        </p:nvSpPr>
        <p:spPr>
          <a:xfrm>
            <a:off x="5392982" y="1447790"/>
            <a:ext cx="830997" cy="830997"/>
          </a:xfrm>
          <a:prstGeom prst="ellipse">
            <a:avLst/>
          </a:prstGeom>
          <a:solidFill>
            <a:srgbClr val="0E2D69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2" name="Oval 20">
            <a:extLst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/>
          <p:nvPr userDrawn="1"/>
        </p:nvSpPr>
        <p:spPr>
          <a:xfrm>
            <a:off x="6742925" y="1447790"/>
            <a:ext cx="830997" cy="830997"/>
          </a:xfrm>
          <a:prstGeom prst="ellipse">
            <a:avLst/>
          </a:prstGeom>
          <a:solidFill>
            <a:srgbClr val="234A9B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/>
          <p:nvPr userDrawn="1"/>
        </p:nvSpPr>
        <p:spPr>
          <a:xfrm>
            <a:off x="8092868" y="1447790"/>
            <a:ext cx="830997" cy="830997"/>
          </a:xfrm>
          <a:prstGeom prst="ellipse">
            <a:avLst/>
          </a:prstGeom>
          <a:solidFill>
            <a:srgbClr val="11A0D7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/>
          <p:nvPr userDrawn="1"/>
        </p:nvSpPr>
        <p:spPr>
          <a:xfrm>
            <a:off x="9442811" y="1447790"/>
            <a:ext cx="830997" cy="830997"/>
          </a:xfrm>
          <a:prstGeom prst="ellipse">
            <a:avLst/>
          </a:prstGeom>
          <a:solidFill>
            <a:srgbClr val="029C6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/>
          <p:nvPr userDrawn="1"/>
        </p:nvSpPr>
        <p:spPr>
          <a:xfrm>
            <a:off x="10792754" y="1447790"/>
            <a:ext cx="830997" cy="830997"/>
          </a:xfrm>
          <a:prstGeom prst="ellipse">
            <a:avLst/>
          </a:prstGeom>
          <a:solidFill>
            <a:srgbClr val="EB681F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6" name="Oval 29">
            <a:extLst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/>
          <p:nvPr userDrawn="1"/>
        </p:nvSpPr>
        <p:spPr>
          <a:xfrm>
            <a:off x="5392982" y="2708699"/>
            <a:ext cx="830997" cy="830997"/>
          </a:xfrm>
          <a:prstGeom prst="ellipse">
            <a:avLst/>
          </a:prstGeom>
          <a:solidFill>
            <a:srgbClr val="7D4EB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7" name="Oval 33">
            <a:extLst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/>
          <p:nvPr userDrawn="1"/>
        </p:nvSpPr>
        <p:spPr>
          <a:xfrm>
            <a:off x="6742925" y="2708699"/>
            <a:ext cx="830997" cy="830997"/>
          </a:xfrm>
          <a:prstGeom prst="ellipse">
            <a:avLst/>
          </a:prstGeom>
          <a:solidFill>
            <a:srgbClr val="E61F3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8" name="Oval 34">
            <a:extLst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/>
          <p:nvPr userDrawn="1"/>
        </p:nvSpPr>
        <p:spPr>
          <a:xfrm>
            <a:off x="8092868" y="2708699"/>
            <a:ext cx="830997" cy="830997"/>
          </a:xfrm>
          <a:prstGeom prst="ellipse">
            <a:avLst/>
          </a:prstGeom>
          <a:solidFill>
            <a:srgbClr val="FBBA0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29" name="Oval 35">
            <a:extLst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/>
          <p:nvPr userDrawn="1"/>
        </p:nvSpPr>
        <p:spPr>
          <a:xfrm>
            <a:off x="9442811" y="2708699"/>
            <a:ext cx="830997" cy="830997"/>
          </a:xfrm>
          <a:prstGeom prst="ellipse">
            <a:avLst/>
          </a:prstGeom>
          <a:solidFill>
            <a:srgbClr val="7DA0D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0" name="Oval 36">
            <a:extLst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/>
          <p:nvPr userDrawn="1"/>
        </p:nvSpPr>
        <p:spPr>
          <a:xfrm>
            <a:off x="10792754" y="2708699"/>
            <a:ext cx="830997" cy="830997"/>
          </a:xfrm>
          <a:prstGeom prst="ellipse">
            <a:avLst/>
          </a:prstGeom>
          <a:solidFill>
            <a:srgbClr val="47A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1" name="Oval 37">
            <a:extLst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/>
          <p:nvPr userDrawn="1"/>
        </p:nvSpPr>
        <p:spPr>
          <a:xfrm>
            <a:off x="5392982" y="3969609"/>
            <a:ext cx="830997" cy="830997"/>
          </a:xfrm>
          <a:prstGeom prst="ellipse">
            <a:avLst/>
          </a:prstGeom>
          <a:solidFill>
            <a:srgbClr val="EB8C3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2" name="Oval 38">
            <a:extLst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/>
          <p:nvPr userDrawn="1"/>
        </p:nvSpPr>
        <p:spPr>
          <a:xfrm>
            <a:off x="6742925" y="3969609"/>
            <a:ext cx="830997" cy="830997"/>
          </a:xfrm>
          <a:prstGeom prst="ellipse">
            <a:avLst/>
          </a:prstGeom>
          <a:solidFill>
            <a:srgbClr val="96628C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3" name="Oval 39">
            <a:extLst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/>
          <p:nvPr userDrawn="1"/>
        </p:nvSpPr>
        <p:spPr>
          <a:xfrm>
            <a:off x="8092868" y="3969609"/>
            <a:ext cx="830997" cy="830997"/>
          </a:xfrm>
          <a:prstGeom prst="ellipse">
            <a:avLst/>
          </a:prstGeom>
          <a:solidFill>
            <a:srgbClr val="CD5A5A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4" name="Oval 40">
            <a:extLst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/>
          <p:nvPr userDrawn="1"/>
        </p:nvSpPr>
        <p:spPr>
          <a:xfrm>
            <a:off x="9442811" y="3969609"/>
            <a:ext cx="830997" cy="830997"/>
          </a:xfrm>
          <a:prstGeom prst="ellipse">
            <a:avLst/>
          </a:prstGeom>
          <a:solidFill>
            <a:srgbClr val="FFD746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5" name="Oval 41">
            <a:extLst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/>
          <p:nvPr userDrawn="1"/>
        </p:nvSpPr>
        <p:spPr>
          <a:xfrm>
            <a:off x="10792754" y="3969609"/>
            <a:ext cx="830997" cy="830997"/>
          </a:xfrm>
          <a:prstGeom prst="ellipse">
            <a:avLst/>
          </a:prstGeom>
          <a:solidFill>
            <a:srgbClr val="CDDD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6" name="Oval 42">
            <a:extLst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/>
          <p:nvPr userDrawn="1"/>
        </p:nvSpPr>
        <p:spPr>
          <a:xfrm>
            <a:off x="5392982" y="5249769"/>
            <a:ext cx="830997" cy="830997"/>
          </a:xfrm>
          <a:prstGeom prst="ellipse">
            <a:avLst/>
          </a:prstGeom>
          <a:solidFill>
            <a:srgbClr val="D7EBB4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7" name="Oval 43">
            <a:extLst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/>
          <p:nvPr userDrawn="1"/>
        </p:nvSpPr>
        <p:spPr>
          <a:xfrm>
            <a:off x="6742925" y="5249769"/>
            <a:ext cx="830997" cy="830997"/>
          </a:xfrm>
          <a:prstGeom prst="ellipse">
            <a:avLst/>
          </a:prstGeom>
          <a:solidFill>
            <a:srgbClr val="FFDC9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8" name="Oval 44">
            <a:extLst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/>
          <p:nvPr userDrawn="1"/>
        </p:nvSpPr>
        <p:spPr>
          <a:xfrm>
            <a:off x="8092868" y="5249769"/>
            <a:ext cx="830997" cy="830997"/>
          </a:xfrm>
          <a:prstGeom prst="ellipse">
            <a:avLst/>
          </a:prstGeom>
          <a:solidFill>
            <a:srgbClr val="D7C3F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39" name="Oval 45">
            <a:extLst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/>
          <p:nvPr userDrawn="1"/>
        </p:nvSpPr>
        <p:spPr>
          <a:xfrm>
            <a:off x="9442811" y="5249769"/>
            <a:ext cx="830997" cy="830997"/>
          </a:xfrm>
          <a:prstGeom prst="ellipse">
            <a:avLst/>
          </a:prstGeom>
          <a:solidFill>
            <a:srgbClr val="F6C3C3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sp>
        <p:nvSpPr>
          <p:cNvPr id="40" name="Oval 46">
            <a:extLst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/>
          <p:nvPr userDrawn="1"/>
        </p:nvSpPr>
        <p:spPr>
          <a:xfrm>
            <a:off x="10792754" y="5249769"/>
            <a:ext cx="830997" cy="830997"/>
          </a:xfrm>
          <a:prstGeom prst="ellipse">
            <a:avLst/>
          </a:prstGeom>
          <a:solidFill>
            <a:srgbClr val="FFF07D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86705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_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Icon&#10;&#10;Description automatically generated">
            <a:extLst>
              <a:ext uri="{FF2B5EF4-FFF2-40B4-BE49-F238E27FC236}">
                <a16:creationId xmlns:a16="http://schemas.microsoft.com/office/drawing/2014/main" id="{A7FA04E4-3213-8F41-B068-4DC28144142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199" y="464363"/>
            <a:ext cx="448276" cy="448276"/>
          </a:xfrm>
          <a:prstGeom prst="rect">
            <a:avLst/>
          </a:prstGeom>
        </p:spPr>
      </p:pic>
      <p:cxnSp>
        <p:nvCxnSpPr>
          <p:cNvPr id="9" name="Straight Connector 19">
            <a:extLst>
              <a:ext uri="{FF2B5EF4-FFF2-40B4-BE49-F238E27FC236}">
                <a16:creationId xmlns:a16="http://schemas.microsoft.com/office/drawing/2014/main" id="{938052A0-3DF0-DC47-B7E0-C20EF981C230}"/>
              </a:ext>
            </a:extLst>
          </p:cNvPr>
          <p:cNvCxnSpPr>
            <a:cxnSpLocks/>
          </p:cNvCxnSpPr>
          <p:nvPr userDrawn="1"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21">
            <a:extLst>
              <a:ext uri="{FF2B5EF4-FFF2-40B4-BE49-F238E27FC236}">
                <a16:creationId xmlns:a16="http://schemas.microsoft.com/office/drawing/2014/main" id="{8C6147F0-3CA1-264C-B2B2-F88597196943}"/>
              </a:ext>
            </a:extLst>
          </p:cNvPr>
          <p:cNvCxnSpPr>
            <a:cxnSpLocks/>
          </p:cNvCxnSpPr>
          <p:nvPr userDrawn="1"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25">
            <a:extLst>
              <a:ext uri="{FF2B5EF4-FFF2-40B4-BE49-F238E27FC236}">
                <a16:creationId xmlns:a16="http://schemas.microsoft.com/office/drawing/2014/main" id="{62CDF50E-4D58-AF4A-ABFD-140AF88B3681}"/>
              </a:ext>
            </a:extLst>
          </p:cNvPr>
          <p:cNvCxnSpPr>
            <a:cxnSpLocks/>
          </p:cNvCxnSpPr>
          <p:nvPr userDrawn="1"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 txBox="1"/>
          <p:nvPr userDrawn="1"/>
        </p:nvSpPr>
        <p:spPr>
          <a:xfrm>
            <a:off x="10410201" y="532278"/>
            <a:ext cx="67197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‹#›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13" name="Straight Connector 59">
            <a:extLst>
              <a:ext uri="{FF2B5EF4-FFF2-40B4-BE49-F238E27FC236}">
                <a16:creationId xmlns:a16="http://schemas.microsoft.com/office/drawing/2014/main" id="{3C71A0C3-CD3E-0748-98E5-6B2507CAB296}"/>
              </a:ext>
            </a:extLst>
          </p:cNvPr>
          <p:cNvCxnSpPr>
            <a:cxnSpLocks/>
          </p:cNvCxnSpPr>
          <p:nvPr userDrawn="1"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Текст 37">
            <a:extLst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3689" y="540904"/>
            <a:ext cx="1901825" cy="415925"/>
          </a:xfr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 b="0" i="0">
                <a:latin typeface="HSE Sans" panose="02000000000000000000" pitchFamily="2" charset="0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 panose="02000000000000000000" pitchFamily="2" charset="0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000" dirty="0">
                <a:latin typeface="HSE Sans" panose="02000000000000000000" pitchFamily="2" charset="0"/>
              </a:rPr>
              <a:t>Название подразделения</a:t>
            </a:r>
            <a:br>
              <a:rPr lang="ru-RU" sz="1000" dirty="0">
                <a:latin typeface="HSE Sans" panose="02000000000000000000" pitchFamily="2" charset="0"/>
              </a:rPr>
            </a:br>
            <a:r>
              <a:rPr lang="ru-RU" sz="1000" dirty="0">
                <a:latin typeface="HSE Sans" panose="02000000000000000000" pitchFamily="2" charset="0"/>
              </a:rPr>
              <a:t>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5" name="Текст 39">
            <a:extLst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9163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презентации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17" name="Текст 39">
            <a:extLst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59892" y="548720"/>
            <a:ext cx="2070100" cy="408109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r>
              <a:rPr lang="ru-RU" sz="1000" dirty="0">
                <a:latin typeface="HSE Sans" panose="02000000000000000000" pitchFamily="2" charset="0"/>
              </a:rPr>
              <a:t>Название раздела может быть набрано в две или три строки</a:t>
            </a:r>
            <a:r>
              <a:rPr lang="en-GB" sz="1000" dirty="0">
                <a:latin typeface="HSE Sans" panose="02000000000000000000" pitchFamily="2" charset="0"/>
              </a:rPr>
              <a:t> (10pt)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20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исты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2F59B5-E815-AE43-BAE2-FA594BB42C0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5310809" y="2643809"/>
            <a:ext cx="1570383" cy="157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64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63DFB-8595-A44B-9F09-A50FA310E559}" type="datetimeFigureOut">
              <a:rPr lang="en-RU" smtClean="0"/>
              <a:t>10/20/2026</a:t>
            </a:fld>
            <a:endParaRPr lang="en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0F133-126C-5944-A0E4-6A9616EDC0DA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578506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56" r:id="rId9"/>
    <p:sldLayoutId id="2147483658" r:id="rId10"/>
    <p:sldLayoutId id="2147483657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neerc.ifmo.ru/wiki/index.php?title=%D0%9F%D0%B5%D1%80%D0%B5%D0%BE%D0%B1%D1%83%D1%87%D0%B5%D0%BD%D0%B8%D0%B5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neerc.ifmo.ru/wiki/index.php?title=%D0%9F%D0%B5%D1%80%D0%B5%D0%BE%D0%B1%D1%83%D1%87%D0%B5%D0%BD%D0%B8%D0%B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hyperlink" Target="https://habr.com/ru/companies/otus/articles/773102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neerc.ifmo.ru/wiki/index.php?title=%D0%9F%D0%B5%D1%80%D0%B5%D0%BE%D0%B1%D1%83%D1%87%D0%B5%D0%BD%D0%B8%D0%B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xplained.ai/regularization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people.eecs.berkeley.edu/~jrs/189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explained.ai/regularization/" TargetMode="Externa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havalpatel2101992.wordpress.com/2021/05/21/kaggle-titanic-dataset-cleaning-split-data-into-train-validation-and-test-set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dhavalpatel2101992.wordpress.com/2021/05/21/kaggle-titanic-dataset-cleaning-split-data-into-train-validation-and-test-set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cikit-learn.ru/stable/modules/cross_validation.html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evidentlyai.com/classification-metrics/confusion-matrix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loginom.ru/blog/logistic-regression-roc-auc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oginom.ru/blog/logistic-regression-roc-auc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habr.com/ru/articles/349078/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28F73-DFEE-9AAF-C63D-E7FE356AE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4F9BA-F2D8-F1D6-8708-ADFAB0910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67" y="2404670"/>
            <a:ext cx="9087583" cy="1978323"/>
          </a:xfrm>
        </p:spPr>
        <p:txBody>
          <a:bodyPr anchor="ctr">
            <a:noAutofit/>
          </a:bodyPr>
          <a:lstStyle/>
          <a:p>
            <a:r>
              <a:rPr lang="ru-RU" dirty="0"/>
              <a:t>Лекция 5:</a:t>
            </a:r>
            <a:br>
              <a:rPr lang="ru-RU" dirty="0"/>
            </a:br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C2ED9E-A9AD-4811-EA42-3977771838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ctr"/>
          <a:lstStyle/>
          <a:p>
            <a:r>
              <a:rPr lang="ru-RU" dirty="0"/>
              <a:t>Факультет</a:t>
            </a:r>
            <a:br>
              <a:rPr lang="ru-RU" dirty="0"/>
            </a:br>
            <a:r>
              <a:rPr lang="ru-RU" dirty="0"/>
              <a:t>Компьютерных</a:t>
            </a:r>
            <a:br>
              <a:rPr lang="ru-RU" dirty="0"/>
            </a:br>
            <a:r>
              <a:rPr lang="ru-RU" dirty="0"/>
              <a:t>Наук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40699B9-7DB8-01F9-B616-F3BDB0C8D4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DD2B9B7-151A-A8CC-749D-65AE2F09A883}"/>
              </a:ext>
            </a:extLst>
          </p:cNvPr>
          <p:cNvSpPr>
            <a:spLocks noGrp="1"/>
          </p:cNvSpPr>
          <p:nvPr>
            <p:ph type="body" idx="12"/>
          </p:nvPr>
        </p:nvSpPr>
        <p:spPr/>
        <p:txBody>
          <a:bodyPr anchor="ctr"/>
          <a:lstStyle/>
          <a:p>
            <a:r>
              <a:rPr lang="ru-RU" dirty="0"/>
              <a:t>Москва</a:t>
            </a:r>
            <a:br>
              <a:rPr lang="ru-RU" dirty="0"/>
            </a:br>
            <a:r>
              <a:rPr lang="ru-RU" dirty="0"/>
              <a:t>2026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613304B-FCE9-7B64-0124-7A39A6324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ru-RU" dirty="0"/>
              <a:t>Магистратура «Анализ данных в биологии и медицине»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2BF5E7F-4251-0011-549C-40A552E38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4022" y="1203016"/>
            <a:ext cx="2124545" cy="404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875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План лекции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41E80A7-9EC8-5199-B1F0-2228DBCF4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897" y="2218494"/>
            <a:ext cx="11057955" cy="3600986"/>
          </a:xfrm>
          <a:prstGeom prst="rect">
            <a:avLst/>
          </a:prstGeom>
        </p:spPr>
        <p:txBody>
          <a:bodyPr vert="horz" lIns="0" tIns="0" rIns="0" bIns="45720" numCol="3" spcCol="252000" rtlCol="0">
            <a:no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400" b="1" dirty="0"/>
              <a:t>Главная цель</a:t>
            </a:r>
            <a:r>
              <a:rPr lang="ru-RU" sz="2400" dirty="0"/>
              <a:t>: Обобщающая способность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400" b="1" dirty="0"/>
              <a:t>Две крайности</a:t>
            </a:r>
            <a:r>
              <a:rPr lang="ru-RU" sz="2400" dirty="0"/>
              <a:t>: Недообучение и Переобучение</a:t>
            </a:r>
            <a:br>
              <a:rPr lang="ru-RU" sz="2400" dirty="0"/>
            </a:br>
            <a:br>
              <a:rPr lang="ru-RU" altLang="ru-RU" sz="2400" dirty="0">
                <a:solidFill>
                  <a:srgbClr val="0E2D69"/>
                </a:solidFill>
                <a:latin typeface="HSE Sans" panose="02000000000000000000" pitchFamily="2" charset="0"/>
              </a:rPr>
            </a:br>
            <a:endParaRPr lang="ru-RU" altLang="ru-RU" sz="2400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400" b="1" dirty="0"/>
              <a:t>Теория</a:t>
            </a:r>
            <a:r>
              <a:rPr lang="ru-RU" sz="2400" dirty="0"/>
              <a:t>: Дилемма смещения-дисперсии</a:t>
            </a:r>
            <a:endParaRPr lang="ru-RU" altLang="ru-RU" sz="2400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400" b="1" dirty="0"/>
              <a:t>Практика</a:t>
            </a:r>
            <a:r>
              <a:rPr lang="ru-RU" sz="2400" dirty="0"/>
              <a:t>: Разделение данных и кросс-валидация</a:t>
            </a:r>
            <a:br>
              <a:rPr lang="ru-RU" sz="2400" dirty="0"/>
            </a:br>
            <a:endParaRPr lang="ru-RU" sz="2400" dirty="0"/>
          </a:p>
          <a:p>
            <a:pPr>
              <a:spcBef>
                <a:spcPts val="1200"/>
              </a:spcBef>
            </a:pPr>
            <a:br>
              <a:rPr lang="ru-RU" sz="2400" dirty="0"/>
            </a:br>
            <a:endParaRPr lang="ru-RU" altLang="ru-RU" sz="2400" b="1" dirty="0">
              <a:solidFill>
                <a:srgbClr val="0E2D69"/>
              </a:solidFill>
              <a:latin typeface="HSE Sans" panose="02000000000000000000" pitchFamily="2" charset="0"/>
            </a:endParaRP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400" b="1" dirty="0"/>
              <a:t>Инструменты</a:t>
            </a:r>
            <a:r>
              <a:rPr lang="ru-RU" sz="2400" dirty="0"/>
              <a:t>: Метрики для классификации и регрессии, </a:t>
            </a:r>
            <a:r>
              <a:rPr lang="en-US" sz="2400" dirty="0"/>
              <a:t>ROC/PR </a:t>
            </a:r>
            <a:r>
              <a:rPr lang="ru-RU" sz="2400" dirty="0"/>
              <a:t>кривые, выбор порога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2400" b="1" dirty="0"/>
              <a:t>Оружие</a:t>
            </a:r>
            <a:r>
              <a:rPr lang="ru-RU" sz="2400" dirty="0"/>
              <a:t>: Регуляризация для борьбы с переобучением, дисбаланс классов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10688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A49F-B89B-19D9-139B-79002FFA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686480E-3471-95DB-2890-DCB187AB2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13701-F1C7-6AAB-D2DD-0E78C5C96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AF63CC-9BC3-E1FB-9970-46A48D6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Что означает «хорошая» модель?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E71811-CAB9-7E09-9D2F-3A881A1CBB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B9CDA-6719-D7BD-6F8F-C0AD1182D6F7}"/>
              </a:ext>
            </a:extLst>
          </p:cNvPr>
          <p:cNvSpPr txBox="1"/>
          <p:nvPr/>
        </p:nvSpPr>
        <p:spPr>
          <a:xfrm>
            <a:off x="587850" y="2162112"/>
            <a:ext cx="881447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Обобщающая способность</a:t>
            </a:r>
            <a:r>
              <a:rPr lang="ru-RU" sz="2000" dirty="0"/>
              <a:t>: Хорошо работает на данных, которые модель раньше не видела. Не запомнила шум и частности обучающих данных.</a:t>
            </a:r>
            <a:br>
              <a:rPr lang="ru-RU" sz="2000" dirty="0"/>
            </a:br>
            <a:r>
              <a:rPr lang="ru-RU" sz="2000" dirty="0"/>
              <a:t>При этом она достаточно сложна, чтобы уловить основные закономерности в данных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Метрика</a:t>
            </a:r>
            <a:r>
              <a:rPr lang="ru-RU" sz="2000" dirty="0"/>
              <a:t> зависит от задачи и цены ошибок (например, для скрининга редких заболеваний: важны </a:t>
            </a:r>
            <a:r>
              <a:rPr lang="ru-RU" sz="2000" dirty="0" err="1"/>
              <a:t>Recall</a:t>
            </a:r>
            <a:r>
              <a:rPr lang="ru-RU" sz="2000" dirty="0"/>
              <a:t>, а не </a:t>
            </a:r>
            <a:r>
              <a:rPr lang="ru-RU" sz="2000" dirty="0" err="1"/>
              <a:t>Accuracy</a:t>
            </a:r>
            <a:r>
              <a:rPr lang="en-US" sz="2000" dirty="0"/>
              <a:t>/Precision</a:t>
            </a:r>
            <a:r>
              <a:rPr lang="ru-RU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Интерпретируемость и простота</a:t>
            </a:r>
            <a:r>
              <a:rPr lang="ru-RU" sz="2000" dirty="0"/>
              <a:t>: </a:t>
            </a:r>
            <a:br>
              <a:rPr lang="ru-RU" sz="2000" dirty="0"/>
            </a:br>
            <a:r>
              <a:rPr lang="ru-RU" sz="2000" dirty="0"/>
              <a:t>Проще – лучше, если производительность сопоставима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Устойчивость</a:t>
            </a:r>
            <a:r>
              <a:rPr lang="ru-RU" sz="2000" dirty="0"/>
              <a:t> (</a:t>
            </a:r>
            <a:r>
              <a:rPr lang="en-US" sz="2000" dirty="0"/>
              <a:t>robustness)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783203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A49F-B89B-19D9-139B-79002FFA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686480E-3471-95DB-2890-DCB187AB2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13701-F1C7-6AAB-D2DD-0E78C5C96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AF63CC-9BC3-E1FB-9970-46A48D6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Недообучение </a:t>
            </a:r>
            <a:r>
              <a:rPr lang="en-US" sz="3600" dirty="0"/>
              <a:t>vs</a:t>
            </a:r>
            <a:r>
              <a:rPr lang="ru-RU" sz="3600" dirty="0"/>
              <a:t> Переобучение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E71811-CAB9-7E09-9D2F-3A881A1CBB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2ED6517-EEBC-4BC5-AE3A-659CAC952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35" y="2640585"/>
            <a:ext cx="3767749" cy="3278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C26E80E6-1C41-4473-A18A-680C7EAE5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149" y="2626216"/>
            <a:ext cx="3769213" cy="327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159C0577-60C7-4BBD-A872-BA73BF5D5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126" y="2651070"/>
            <a:ext cx="3767749" cy="3267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F48C47-A970-4FA8-94C3-1D0C1E7B5267}"/>
              </a:ext>
            </a:extLst>
          </p:cNvPr>
          <p:cNvSpPr txBox="1"/>
          <p:nvPr/>
        </p:nvSpPr>
        <p:spPr>
          <a:xfrm>
            <a:off x="9932938" y="6165913"/>
            <a:ext cx="4138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dirty="0">
                <a:latin typeface="HSE Sans" panose="02000000000000000000" pitchFamily="2" charset="0"/>
                <a:hlinkClick r:id="rId6"/>
              </a:rPr>
              <a:t>Wiki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735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A49F-B89B-19D9-139B-79002FFA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686480E-3471-95DB-2890-DCB187AB2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13701-F1C7-6AAB-D2DD-0E78C5C96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AF63CC-9BC3-E1FB-9970-46A48D6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Недообучение </a:t>
            </a:r>
            <a:r>
              <a:rPr lang="en-US" sz="3600" dirty="0"/>
              <a:t>vs</a:t>
            </a:r>
            <a:r>
              <a:rPr lang="ru-RU" sz="3600" dirty="0"/>
              <a:t> Переобучение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E71811-CAB9-7E09-9D2F-3A881A1CBB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B9CDA-6719-D7BD-6F8F-C0AD1182D6F7}"/>
              </a:ext>
            </a:extLst>
          </p:cNvPr>
          <p:cNvSpPr txBox="1"/>
          <p:nvPr/>
        </p:nvSpPr>
        <p:spPr>
          <a:xfrm>
            <a:off x="587850" y="2162112"/>
            <a:ext cx="698157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Недообучение: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Модель слишком простая -</a:t>
            </a:r>
            <a:r>
              <a:rPr lang="en-US" sz="2000" dirty="0"/>
              <a:t>&gt; </a:t>
            </a:r>
            <a:r>
              <a:rPr lang="ru-RU" sz="2000" dirty="0"/>
              <a:t>высокая ошибка и на </a:t>
            </a:r>
            <a:r>
              <a:rPr lang="ru-RU" sz="2000" dirty="0" err="1"/>
              <a:t>train</a:t>
            </a:r>
            <a:r>
              <a:rPr lang="ru-RU" sz="2000" dirty="0"/>
              <a:t>, и на </a:t>
            </a:r>
            <a:r>
              <a:rPr lang="ru-RU" sz="2000" dirty="0" err="1"/>
              <a:t>test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r>
              <a:rPr lang="ru-RU" sz="2000" b="1" dirty="0"/>
              <a:t>Переобучение</a:t>
            </a:r>
            <a:r>
              <a:rPr lang="ru-RU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Модель подстраивается под шум </a:t>
            </a:r>
            <a:r>
              <a:rPr lang="ru-RU" sz="2000" dirty="0" err="1"/>
              <a:t>train</a:t>
            </a:r>
            <a:r>
              <a:rPr lang="ru-RU" sz="2000" dirty="0"/>
              <a:t> -</a:t>
            </a:r>
            <a:r>
              <a:rPr lang="en-US" sz="2000" dirty="0"/>
              <a:t>&gt;</a:t>
            </a:r>
            <a:r>
              <a:rPr lang="ru-RU" sz="2000" dirty="0"/>
              <a:t> низкая </a:t>
            </a:r>
            <a:r>
              <a:rPr lang="ru-RU" sz="2000" dirty="0" err="1"/>
              <a:t>train</a:t>
            </a:r>
            <a:r>
              <a:rPr lang="ru-RU" sz="2000" dirty="0"/>
              <a:t>-ошибка, высокая </a:t>
            </a:r>
            <a:r>
              <a:rPr lang="ru-RU" sz="2000" dirty="0" err="1"/>
              <a:t>test</a:t>
            </a:r>
            <a:r>
              <a:rPr lang="ru-RU" sz="2000" dirty="0"/>
              <a:t>-ошибка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r>
              <a:rPr lang="ru-RU" sz="2000" b="1" dirty="0"/>
              <a:t>Хорошая модель</a:t>
            </a:r>
            <a:r>
              <a:rPr lang="ru-RU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Баланс между </a:t>
            </a:r>
            <a:r>
              <a:rPr lang="en-US" sz="2000" dirty="0"/>
              <a:t>train </a:t>
            </a:r>
            <a:r>
              <a:rPr lang="ru-RU" sz="2000" dirty="0"/>
              <a:t>и </a:t>
            </a:r>
            <a:r>
              <a:rPr lang="en-US" sz="2000" dirty="0"/>
              <a:t>test </a:t>
            </a:r>
            <a:r>
              <a:rPr lang="ru-RU" sz="2000" dirty="0"/>
              <a:t>ошибками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F48C47-A970-4FA8-94C3-1D0C1E7B5267}"/>
              </a:ext>
            </a:extLst>
          </p:cNvPr>
          <p:cNvSpPr txBox="1"/>
          <p:nvPr/>
        </p:nvSpPr>
        <p:spPr>
          <a:xfrm>
            <a:off x="9455884" y="6042802"/>
            <a:ext cx="4138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dirty="0">
                <a:latin typeface="HSE Sans" panose="02000000000000000000" pitchFamily="2" charset="0"/>
                <a:hlinkClick r:id="rId3"/>
              </a:rPr>
              <a:t>Wiki</a:t>
            </a:r>
            <a:endParaRPr lang="ru-RU" sz="1000" dirty="0">
              <a:latin typeface="HSE Sans" panose="02000000000000000000" pitchFamily="2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2AA50EA-B5E2-3413-F2F5-0433216105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0" t="5902" r="9760" b="6772"/>
          <a:stretch/>
        </p:blipFill>
        <p:spPr bwMode="auto">
          <a:xfrm>
            <a:off x="7518297" y="2162112"/>
            <a:ext cx="4289070" cy="348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405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A49F-B89B-19D9-139B-79002FFA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686480E-3471-95DB-2890-DCB187AB2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13701-F1C7-6AAB-D2DD-0E78C5C96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AF63CC-9BC3-E1FB-9970-46A48D6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Дилемма смещения-дисперсии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E71811-CAB9-7E09-9D2F-3A881A1CBB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7B9CDA-6719-D7BD-6F8F-C0AD1182D6F7}"/>
                  </a:ext>
                </a:extLst>
              </p:cNvPr>
              <p:cNvSpPr txBox="1"/>
              <p:nvPr/>
            </p:nvSpPr>
            <p:spPr>
              <a:xfrm>
                <a:off x="587850" y="2162112"/>
                <a:ext cx="7188852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b="1" dirty="0"/>
                  <a:t>Ошибка предсказания любого алгоритма может быть разделена на три части:</a:t>
                </a:r>
              </a:p>
              <a:p>
                <a:endParaRPr lang="ru-RU" sz="2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000" i="1" dirty="0" smtClean="0">
                          <a:latin typeface="Cambria Math" panose="02040503050406030204" pitchFamily="18" charset="0"/>
                        </a:rPr>
                        <m:t>Ошибка 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>
                              <a:latin typeface="Cambria Math" panose="02040503050406030204" pitchFamily="18" charset="0"/>
                            </a:rPr>
                            <m:t>𝑀𝑆𝐸</m:t>
                          </m:r>
                        </m:e>
                      </m:d>
                      <m:r>
                        <a:rPr lang="ru-RU" sz="20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ru-RU" sz="2000" b="0" i="1" dirty="0" smtClean="0">
                          <a:latin typeface="Cambria Math" panose="02040503050406030204" pitchFamily="18" charset="0"/>
                        </a:rPr>
                        <m:t>С</m:t>
                      </m:r>
                      <m:r>
                        <a:rPr lang="ru-RU" sz="2000" i="1" dirty="0" err="1" smtClean="0">
                          <a:latin typeface="Cambria Math" panose="02040503050406030204" pitchFamily="18" charset="0"/>
                        </a:rPr>
                        <m:t>мещени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000" b="0" i="1" dirty="0" smtClean="0">
                              <a:latin typeface="Cambria Math" panose="02040503050406030204" pitchFamily="18" charset="0"/>
                            </a:rPr>
                            <m:t>е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20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sz="2000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ru-RU" sz="2000" b="0" i="1" dirty="0" smtClean="0">
                          <a:latin typeface="Cambria Math" panose="02040503050406030204" pitchFamily="18" charset="0"/>
                        </a:rPr>
                        <m:t>Д</m:t>
                      </m:r>
                      <m:r>
                        <a:rPr lang="ru-RU" sz="2000" i="1" dirty="0">
                          <a:latin typeface="Cambria Math" panose="02040503050406030204" pitchFamily="18" charset="0"/>
                        </a:rPr>
                        <m:t>исперси</m:t>
                      </m:r>
                      <m:r>
                        <a:rPr lang="ru-RU" sz="2000" b="0" i="1" dirty="0" smtClean="0">
                          <a:latin typeface="Cambria Math" panose="02040503050406030204" pitchFamily="18" charset="0"/>
                        </a:rPr>
                        <m:t>я</m:t>
                      </m:r>
                      <m:r>
                        <a:rPr lang="ru-RU" sz="2000" i="1" dirty="0">
                          <a:latin typeface="Cambria Math" panose="02040503050406030204" pitchFamily="18" charset="0"/>
                        </a:rPr>
                        <m:t> + Шу</m:t>
                      </m:r>
                      <m:sSup>
                        <m:sSupPr>
                          <m:ctrlP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000" i="1" dirty="0">
                              <a:latin typeface="Cambria Math" panose="02040503050406030204" pitchFamily="18" charset="0"/>
                            </a:rPr>
                            <m:t>м</m:t>
                          </m:r>
                        </m:e>
                        <m:sup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2000" i="1" dirty="0"/>
              </a:p>
              <a:p>
                <a:endParaRPr lang="ru-RU" sz="20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b="1" dirty="0"/>
                  <a:t>Ошибка смещения (</a:t>
                </a:r>
                <a:r>
                  <a:rPr lang="en-US" sz="2000" b="1" dirty="0"/>
                  <a:t>bias)</a:t>
                </a:r>
                <a:r>
                  <a:rPr lang="ru-RU" sz="2000" b="1" dirty="0"/>
                  <a:t>:</a:t>
                </a:r>
                <a:r>
                  <a:rPr lang="ru-RU" sz="2000" dirty="0"/>
                  <a:t> насколько среднее предсказание модели (усреднённое по разным обучающим выборкам) отличается от истинного значения.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b="1" dirty="0"/>
                  <a:t>Ошибка дисперсии (</a:t>
                </a:r>
                <a:r>
                  <a:rPr lang="en-US" sz="2000" b="1" dirty="0"/>
                  <a:t>variance</a:t>
                </a:r>
                <a:r>
                  <a:rPr lang="ru-RU" sz="2000" b="1" dirty="0"/>
                  <a:t>):</a:t>
                </a:r>
                <a:r>
                  <a:rPr lang="ru-RU" sz="2000" dirty="0"/>
                  <a:t> насколько разбросаны предсказания при обучении на разных выборках из той же популяции.</a:t>
                </a:r>
                <a:endParaRPr lang="ru-RU" sz="20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b="1" dirty="0"/>
                  <a:t>Шум</a:t>
                </a:r>
                <a:r>
                  <a:rPr lang="ru-RU" sz="2000" dirty="0"/>
                  <a:t> – дисперсия шума в самих данных, неустранимая часть ошибки.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27B9CDA-6719-D7BD-6F8F-C0AD1182D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50" y="2162112"/>
                <a:ext cx="7188852" cy="4093428"/>
              </a:xfrm>
              <a:prstGeom prst="rect">
                <a:avLst/>
              </a:prstGeom>
              <a:blipFill>
                <a:blip r:embed="rId3"/>
                <a:stretch>
                  <a:fillRect l="-847" t="-894" r="-593" b="-17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6F48C47-A970-4FA8-94C3-1D0C1E7B5267}"/>
              </a:ext>
            </a:extLst>
          </p:cNvPr>
          <p:cNvSpPr txBox="1"/>
          <p:nvPr/>
        </p:nvSpPr>
        <p:spPr>
          <a:xfrm>
            <a:off x="9662832" y="6165913"/>
            <a:ext cx="4379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dirty="0">
                <a:latin typeface="HSE Sans" panose="02000000000000000000" pitchFamily="2" charset="0"/>
                <a:hlinkClick r:id="rId4"/>
              </a:rPr>
              <a:t>Habr</a:t>
            </a:r>
            <a:endParaRPr lang="ru-RU" sz="1000" dirty="0">
              <a:latin typeface="HSE Sans" panose="02000000000000000000" pitchFamily="2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814C509-3E5F-091B-C0EA-5D9724B38F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702" y="1836302"/>
            <a:ext cx="4073922" cy="4214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31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C1B3-25BE-754A-A14D-A93045D8B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D30CE7A-14C3-C4ED-1CBC-69FCF1A4EA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32A376-4573-CECF-2362-07463B46FA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97781-B3E8-75AE-3272-047EB5EDA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Дилемма смещения-дисперсии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2A237CE-D18A-9BD0-B87D-7DF9F0E996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A90FF-41D5-3770-190C-D2BBFF9980D3}"/>
              </a:ext>
            </a:extLst>
          </p:cNvPr>
          <p:cNvSpPr txBox="1"/>
          <p:nvPr/>
        </p:nvSpPr>
        <p:spPr>
          <a:xfrm>
            <a:off x="587850" y="2162112"/>
            <a:ext cx="725770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Недообучение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/>
              <a:t>Высокая ошибка смещения</a:t>
            </a:r>
            <a:r>
              <a:rPr lang="ru-RU" sz="2000" b="1" dirty="0"/>
              <a:t>:</a:t>
            </a:r>
            <a:r>
              <a:rPr lang="ru-RU" sz="2000" dirty="0"/>
              <a:t> Модель недостаточно сложна, чтобы выявить закономерности в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/>
              <a:t>Низкая ошибка дисперсии</a:t>
            </a:r>
            <a:r>
              <a:rPr lang="ru-RU" sz="2000" dirty="0"/>
              <a:t>: Разброс в предсказаниях небольшой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/>
              <a:t>Решение</a:t>
            </a:r>
            <a:r>
              <a:rPr lang="ru-RU" sz="2000" dirty="0"/>
              <a:t>: усложнение модели, модифицирование признаков (</a:t>
            </a:r>
            <a:r>
              <a:rPr lang="en-US" sz="2000" dirty="0"/>
              <a:t>feature engineering</a:t>
            </a:r>
            <a:r>
              <a:rPr lang="ru-RU" sz="2000" dirty="0"/>
              <a:t>, </a:t>
            </a:r>
            <a:r>
              <a:rPr lang="ru-RU" sz="2000" dirty="0" err="1"/>
              <a:t>полиномизация</a:t>
            </a:r>
            <a:r>
              <a:rPr lang="en-US" sz="2000" dirty="0"/>
              <a:t>)</a:t>
            </a:r>
            <a:endParaRPr lang="ru-RU" sz="2000" dirty="0"/>
          </a:p>
          <a:p>
            <a:endParaRPr lang="ru-RU" sz="2000" dirty="0"/>
          </a:p>
          <a:p>
            <a:r>
              <a:rPr lang="ru-RU" sz="2000" b="1" dirty="0"/>
              <a:t>Переобучение:</a:t>
            </a:r>
            <a:r>
              <a:rPr lang="ru-RU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/>
              <a:t>Низкое смещение: </a:t>
            </a:r>
            <a:r>
              <a:rPr lang="ru-RU" sz="2000" dirty="0"/>
              <a:t>Слишком сильное подстраивание под </a:t>
            </a:r>
            <a:r>
              <a:rPr lang="en-US" sz="2000" dirty="0"/>
              <a:t>train</a:t>
            </a: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/>
              <a:t>Высокая ошибка дисперсии: </a:t>
            </a:r>
            <a:r>
              <a:rPr lang="ru-RU" sz="2000" dirty="0"/>
              <a:t>Модель сильно выучила обучающие данные, обобщающая способность ухудшилась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i="1" dirty="0"/>
              <a:t>Решение</a:t>
            </a:r>
            <a:r>
              <a:rPr lang="ru-RU" sz="2000" dirty="0"/>
              <a:t>: увеличение обучающей выборки, отбор признаков, упрощение модели, регуляризация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A33944-2517-1A7B-5BFD-D7C75B2FD39A}"/>
              </a:ext>
            </a:extLst>
          </p:cNvPr>
          <p:cNvSpPr txBox="1"/>
          <p:nvPr/>
        </p:nvSpPr>
        <p:spPr>
          <a:xfrm>
            <a:off x="9662832" y="6189644"/>
            <a:ext cx="4138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dirty="0">
                <a:latin typeface="HSE Sans" panose="02000000000000000000" pitchFamily="2" charset="0"/>
                <a:hlinkClick r:id="rId3"/>
              </a:rPr>
              <a:t>Wiki</a:t>
            </a:r>
            <a:endParaRPr lang="ru-RU" sz="1000" dirty="0">
              <a:latin typeface="HSE Sans" panose="02000000000000000000" pitchFamily="2" charset="0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6458153-F25C-2EBD-B223-56008910C3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0" t="5902" r="9760" b="6772"/>
          <a:stretch/>
        </p:blipFill>
        <p:spPr bwMode="auto">
          <a:xfrm>
            <a:off x="7725245" y="2333155"/>
            <a:ext cx="4289070" cy="348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7845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41020-CB90-F88D-F69B-C502F12B6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78420CD-2ED3-BB7C-6A5D-AE5E9B4975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38A8F5-6A46-CBCC-9061-3CC56AB311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CB06C30-F74E-4FDE-7017-F5D07AD7B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Регуляризация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A1DD852-5D46-AAA4-2B06-11BD45E2B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F36DE-F867-5E99-FDE1-0EAD46E362A9}"/>
              </a:ext>
            </a:extLst>
          </p:cNvPr>
          <p:cNvSpPr txBox="1"/>
          <p:nvPr/>
        </p:nvSpPr>
        <p:spPr>
          <a:xfrm>
            <a:off x="587850" y="2162112"/>
            <a:ext cx="725770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Как не дать модели "выучить" лишнее?</a:t>
            </a:r>
            <a:endParaRPr lang="ru-RU" sz="2000" b="1" dirty="0"/>
          </a:p>
          <a:p>
            <a:br>
              <a:rPr lang="ru-RU" sz="2000" b="1" dirty="0"/>
            </a:br>
            <a:r>
              <a:rPr lang="ru-RU" sz="2000" b="1" dirty="0"/>
              <a:t>Регуляризация</a:t>
            </a:r>
            <a:r>
              <a:rPr lang="ru-RU" sz="2000" dirty="0"/>
              <a:t> — это метод борьбы с переобучением путём </a:t>
            </a:r>
            <a:r>
              <a:rPr lang="ru-RU" sz="2000" b="1" dirty="0"/>
              <a:t>упрощения модели</a:t>
            </a:r>
          </a:p>
          <a:p>
            <a:endParaRPr lang="ru-RU" sz="2000" dirty="0"/>
          </a:p>
          <a:p>
            <a:r>
              <a:rPr lang="ru-RU" sz="2000" b="1" dirty="0"/>
              <a:t>Как это работает?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Мы добавляем штраф к функции потерь модели за слишком большие значения её весов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Большие веса часто означают, что модель придаёт слишком большое значение отдельным, возможно, зашумленным признакам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Штрафуя модель, мы заставляем её использовать меньшие веса, что делает её более "гладкой", простой и устойчивой к шуму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3A3A3242-7ED4-3CA2-9781-A22BCBC356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0" t="5902" r="9760" b="6772"/>
          <a:stretch/>
        </p:blipFill>
        <p:spPr bwMode="auto">
          <a:xfrm>
            <a:off x="7725245" y="1920728"/>
            <a:ext cx="4289070" cy="348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Стрелка: вниз 9">
            <a:extLst>
              <a:ext uri="{FF2B5EF4-FFF2-40B4-BE49-F238E27FC236}">
                <a16:creationId xmlns:a16="http://schemas.microsoft.com/office/drawing/2014/main" id="{FC522CEB-58AD-64E6-050A-B88463069ABE}"/>
              </a:ext>
            </a:extLst>
          </p:cNvPr>
          <p:cNvSpPr/>
          <p:nvPr/>
        </p:nvSpPr>
        <p:spPr>
          <a:xfrm rot="5400000">
            <a:off x="9702376" y="4156400"/>
            <a:ext cx="334808" cy="31186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4664CA-85DB-08DD-6C6B-7A7EBD0D8C65}"/>
              </a:ext>
            </a:extLst>
          </p:cNvPr>
          <p:cNvSpPr txBox="1"/>
          <p:nvPr/>
        </p:nvSpPr>
        <p:spPr>
          <a:xfrm>
            <a:off x="9038507" y="5820187"/>
            <a:ext cx="16625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Регуляризация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3792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8E3D4-AED9-DB88-0F98-4ED3E3D0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0E515D03-3F66-B186-1A7D-01204EAFD1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ED9321-F5C3-E364-33EC-014A827263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7170886-9114-ACA8-803E-A0ADD48F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L2</a:t>
            </a:r>
            <a:r>
              <a:rPr lang="ru-RU" sz="3600" dirty="0"/>
              <a:t> – Регуляризация (Тихонова, </a:t>
            </a:r>
            <a:r>
              <a:rPr lang="en-US" sz="3600" dirty="0"/>
              <a:t>Ridge)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343361A-E965-6027-D963-6184DB1B77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04EF45-4E0C-9410-18B1-26C7E1254FC0}"/>
                  </a:ext>
                </a:extLst>
              </p:cNvPr>
              <p:cNvSpPr txBox="1"/>
              <p:nvPr/>
            </p:nvSpPr>
            <p:spPr>
              <a:xfrm>
                <a:off x="587850" y="2162112"/>
                <a:ext cx="5968593" cy="3424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b="1" dirty="0"/>
                  <a:t>Ridge</a:t>
                </a:r>
                <a:r>
                  <a:rPr lang="ru-RU" sz="2000" dirty="0"/>
                  <a:t> добавляет к функции потерь сумму </a:t>
                </a:r>
                <a:r>
                  <a:rPr lang="ru-RU" sz="2000" b="1" dirty="0"/>
                  <a:t>квадратов</a:t>
                </a:r>
                <a:r>
                  <a:rPr lang="ru-RU" sz="2000" dirty="0"/>
                  <a:t> весов. Это заставляет модель предпочитать множество небольших весов вместо нескольких очень больших</a:t>
                </a:r>
              </a:p>
              <a:p>
                <a:endParaRPr lang="en-US" sz="20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𝐋𝐨𝐬𝐬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𝐌𝐒𝐄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𝛌</m:t>
                      </m:r>
                      <m:nary>
                        <m:naryPr>
                          <m:chr m:val="∑"/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𝐍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ru-RU" sz="2000" b="0" i="0" smtClean="0">
                          <a:latin typeface="Cambria Math" panose="02040503050406030204" pitchFamily="18" charset="0"/>
                        </a:rPr>
                        <m:t>коэффициент силы регуляризации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04EF45-4E0C-9410-18B1-26C7E1254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50" y="2162112"/>
                <a:ext cx="5968593" cy="3424592"/>
              </a:xfrm>
              <a:prstGeom prst="rect">
                <a:avLst/>
              </a:prstGeom>
              <a:blipFill>
                <a:blip r:embed="rId3"/>
                <a:stretch>
                  <a:fillRect l="-1020" t="-1070" b="-8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764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A9DD0-97D2-921B-4314-1D53804B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E6420C4-C07C-72B8-8682-CBE9069C90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1DA8F1-D32C-0DA1-9369-424DFB4FCF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BF509B-E4FD-4FB4-2C21-8003ECCA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L1</a:t>
            </a:r>
            <a:r>
              <a:rPr lang="ru-RU" sz="3600" dirty="0"/>
              <a:t> – Регуляризация (</a:t>
            </a:r>
            <a:r>
              <a:rPr lang="en-US" sz="3600" dirty="0"/>
              <a:t>Lasso)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8113757-3C59-E934-522A-A6B1F154B6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2BF7E1-4126-9934-8C78-D9CF057D44BF}"/>
                  </a:ext>
                </a:extLst>
              </p:cNvPr>
              <p:cNvSpPr txBox="1"/>
              <p:nvPr/>
            </p:nvSpPr>
            <p:spPr>
              <a:xfrm>
                <a:off x="587850" y="2162112"/>
                <a:ext cx="6513342" cy="3424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b="1" dirty="0"/>
                  <a:t>Lasso</a:t>
                </a:r>
                <a:r>
                  <a:rPr lang="ru-RU" sz="2000" dirty="0"/>
                  <a:t> (</a:t>
                </a:r>
                <a:r>
                  <a:rPr lang="ru-RU" sz="2000" dirty="0" err="1"/>
                  <a:t>Least</a:t>
                </a:r>
                <a:r>
                  <a:rPr lang="ru-RU" sz="2000" dirty="0"/>
                  <a:t> </a:t>
                </a:r>
                <a:r>
                  <a:rPr lang="ru-RU" sz="2000" dirty="0" err="1"/>
                  <a:t>Absolute</a:t>
                </a:r>
                <a:r>
                  <a:rPr lang="ru-RU" sz="2000" dirty="0"/>
                  <a:t> </a:t>
                </a:r>
                <a:r>
                  <a:rPr lang="ru-RU" sz="2000" dirty="0" err="1"/>
                  <a:t>Shrinkage</a:t>
                </a:r>
                <a:r>
                  <a:rPr lang="ru-RU" sz="2000" dirty="0"/>
                  <a:t> </a:t>
                </a:r>
                <a:r>
                  <a:rPr lang="ru-RU" sz="2000" dirty="0" err="1"/>
                  <a:t>and</a:t>
                </a:r>
                <a:r>
                  <a:rPr lang="ru-RU" sz="2000" dirty="0"/>
                  <a:t> </a:t>
                </a:r>
                <a:r>
                  <a:rPr lang="ru-RU" sz="2000" dirty="0" err="1"/>
                  <a:t>Selection</a:t>
                </a:r>
                <a:r>
                  <a:rPr lang="ru-RU" sz="2000" dirty="0"/>
                  <a:t> </a:t>
                </a:r>
                <a:r>
                  <a:rPr lang="ru-RU" sz="2000" dirty="0" err="1"/>
                  <a:t>Operator</a:t>
                </a:r>
                <a:r>
                  <a:rPr lang="ru-RU" sz="2000" dirty="0"/>
                  <a:t>) добавляет к функции потерь сумму </a:t>
                </a:r>
                <a:r>
                  <a:rPr lang="ru-RU" sz="2000" b="1" dirty="0"/>
                  <a:t>модулей</a:t>
                </a:r>
                <a:r>
                  <a:rPr lang="ru-RU" sz="2000" dirty="0"/>
                  <a:t> весов. Эта форма штрафа позволяет обнулять веса наименее важных признаков</a:t>
                </a:r>
              </a:p>
              <a:p>
                <a:endParaRPr lang="en-US" sz="2000" b="1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𝐋𝐨𝐬𝐬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𝐌𝐒𝐄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𝛌</m:t>
                      </m:r>
                      <m:nary>
                        <m:naryPr>
                          <m:chr m:val="∑"/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𝐍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ru-RU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ru-RU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ru-RU" sz="2000">
                          <a:latin typeface="Cambria Math" panose="02040503050406030204" pitchFamily="18" charset="0"/>
                        </a:rPr>
                        <m:t>коэффициент силы регуляризации</m:t>
                      </m:r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2BF7E1-4126-9934-8C78-D9CF057D4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50" y="2162112"/>
                <a:ext cx="6513342" cy="3424592"/>
              </a:xfrm>
              <a:prstGeom prst="rect">
                <a:avLst/>
              </a:prstGeom>
              <a:blipFill>
                <a:blip r:embed="rId3"/>
                <a:stretch>
                  <a:fillRect l="-935" t="-1070" b="-89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894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A9DD0-97D2-921B-4314-1D53804B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E6420C4-C07C-72B8-8682-CBE9069C90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1DA8F1-D32C-0DA1-9369-424DFB4FCF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BF509B-E4FD-4FB4-2C21-8003ECCA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Почему регуляризация работает?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8113757-3C59-E934-522A-A6B1F154B6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78189" y="6394421"/>
            <a:ext cx="2673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  <a:hlinkClick r:id="rId3"/>
              </a:rPr>
              <a:t>https://explained.ai/regularization/</a:t>
            </a:r>
            <a:endParaRPr lang="ru-RU" sz="1000" dirty="0">
              <a:latin typeface="HSE Sans" panose="02000000000000000000" pitchFamily="2" charset="0"/>
            </a:endParaRPr>
          </a:p>
        </p:txBody>
      </p:sp>
      <p:pic>
        <p:nvPicPr>
          <p:cNvPr id="4098" name="Picture 2" descr="https://explained.ai/regularization/images/ESL_reg.pn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20"/>
          <a:stretch/>
        </p:blipFill>
        <p:spPr bwMode="auto">
          <a:xfrm>
            <a:off x="906910" y="2225453"/>
            <a:ext cx="4465738" cy="3891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4" descr="https://explained.ai/regularization/images/constraint3D.sv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1" name="AutoShape 6" descr="https://explained.ai/regularization/images/constraint3D.sv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892" y="2195590"/>
            <a:ext cx="4926641" cy="36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71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A9DD0-97D2-921B-4314-1D53804B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E6420C4-C07C-72B8-8682-CBE9069C90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1DA8F1-D32C-0DA1-9369-424DFB4FCF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BF509B-E4FD-4FB4-2C21-8003ECCA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Почему регуляризация </a:t>
            </a:r>
            <a:r>
              <a:rPr lang="ru-RU" sz="3600" dirty="0" err="1"/>
              <a:t>зануляет</a:t>
            </a:r>
            <a:r>
              <a:rPr lang="ru-RU" sz="3600" dirty="0"/>
              <a:t> признаки?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8113757-3C59-E934-522A-A6B1F154B6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03" y="2049293"/>
            <a:ext cx="9206541" cy="46032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48655" y="6406343"/>
            <a:ext cx="2673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  <a:hlinkClick r:id="rId4"/>
              </a:rPr>
              <a:t>http://people.eecs.berkeley.edu/~jrs/189/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40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A9DD0-97D2-921B-4314-1D53804B7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E6420C4-C07C-72B8-8682-CBE9069C90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B1DA8F1-D32C-0DA1-9369-424DFB4FCF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BF509B-E4FD-4FB4-2C21-8003ECCA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Почему регуляризация </a:t>
            </a:r>
            <a:r>
              <a:rPr lang="ru-RU" sz="3600" dirty="0" err="1"/>
              <a:t>зануляет</a:t>
            </a:r>
            <a:r>
              <a:rPr lang="ru-RU" sz="3600" dirty="0"/>
              <a:t> признаки?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8113757-3C59-E934-522A-A6B1F154B6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pic>
        <p:nvPicPr>
          <p:cNvPr id="5122" name="Picture 2" descr="https://explained.ai/regularization/images/l2-clou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9892" y="1982217"/>
            <a:ext cx="4562340" cy="4562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https://explained.ai/regularization/images/l1-clou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205" y="1982217"/>
            <a:ext cx="4586058" cy="4586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4923207" y="6426953"/>
            <a:ext cx="26733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  <a:hlinkClick r:id="rId5"/>
              </a:rPr>
              <a:t>https://explained.ai/regularization/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63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BE4A3-F212-BEA9-7273-0E0E651D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6D202A4-640B-7574-83A0-90E1A2DE47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95DB974-FAD8-C069-36DB-119C7484D2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B38BA5E-9F24-45B2-9389-924DCF851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L2</a:t>
            </a:r>
            <a:r>
              <a:rPr lang="ru-RU" sz="3600" dirty="0"/>
              <a:t> – Регуляризация (Тихонова, </a:t>
            </a:r>
            <a:r>
              <a:rPr lang="en-US" sz="3600" dirty="0"/>
              <a:t>Ridge)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8A8F88C-5B65-E624-D709-B97913701C5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BF80E4-EE9B-F113-F374-3D505BD81D9C}"/>
                  </a:ext>
                </a:extLst>
              </p:cNvPr>
              <p:cNvSpPr txBox="1"/>
              <p:nvPr/>
            </p:nvSpPr>
            <p:spPr>
              <a:xfrm>
                <a:off x="587850" y="2162112"/>
                <a:ext cx="10540594" cy="1270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𝐋𝐨𝐬𝐬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𝐌𝐒𝐄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𝛌</m:t>
                      </m:r>
                      <m:nary>
                        <m:naryPr>
                          <m:chr m:val="∑"/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𝐍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𝐰</m:t>
                                  </m:r>
                                </m:e>
                                <m:sub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𝐢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sz="20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BF80E4-EE9B-F113-F374-3D505BD81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50" y="2162112"/>
                <a:ext cx="10540594" cy="12701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EC02B67-5ECF-499B-A555-294248D6EED2}"/>
              </a:ext>
            </a:extLst>
          </p:cNvPr>
          <p:cNvSpPr txBox="1"/>
          <p:nvPr/>
        </p:nvSpPr>
        <p:spPr>
          <a:xfrm>
            <a:off x="962837" y="3330982"/>
            <a:ext cx="10594109" cy="163121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u-RU" sz="2000" b="1" dirty="0"/>
              <a:t>Преимущества: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Работает очень стабильно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Эффективно борется с переобучением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Хорошо работает при наличии коррелирующих (связанных) признаков</a:t>
            </a:r>
          </a:p>
          <a:p>
            <a:pPr algn="l"/>
            <a:r>
              <a:rPr lang="ru-RU" sz="2000" b="1" dirty="0">
                <a:latin typeface="HSE Sans" panose="02000000000000000000" pitchFamily="2" charset="0"/>
              </a:rPr>
              <a:t>Недостатки: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latin typeface="HSE Sans" panose="02000000000000000000" pitchFamily="2" charset="0"/>
              </a:rPr>
              <a:t>Не производит отбор признаков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Если в данных много "бесполезных" признаков, они все равно останутся в модели, усложняя её</a:t>
            </a:r>
            <a:endParaRPr lang="ru-RU" sz="2000" dirty="0">
              <a:latin typeface="HSE Sans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96C08-7984-4B1C-A89F-B4D7E5655A41}"/>
              </a:ext>
            </a:extLst>
          </p:cNvPr>
          <p:cNvSpPr txBox="1"/>
          <p:nvPr/>
        </p:nvSpPr>
        <p:spPr>
          <a:xfrm>
            <a:off x="962837" y="5091899"/>
            <a:ext cx="85962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Когда использовать:</a:t>
            </a:r>
          </a:p>
          <a:p>
            <a:r>
              <a:rPr lang="ru-RU" sz="2000" dirty="0"/>
              <a:t>Когда важна точность прогноза, а не отбор генов; признаки сильно связаны, и удалять ни один нельзя.</a:t>
            </a:r>
          </a:p>
        </p:txBody>
      </p:sp>
    </p:spTree>
    <p:extLst>
      <p:ext uri="{BB962C8B-B14F-4D97-AF65-F5344CB8AC3E}">
        <p14:creationId xmlns:p14="http://schemas.microsoft.com/office/powerpoint/2010/main" val="2579270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E4714-F4AE-02D4-30A6-513023736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3AA1843B-D85C-A46D-A1B3-FE177AD0DB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0322EC-DE51-B6FD-11F4-E4FDDB7D36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27A8419-439D-F1E9-94AA-3EB7AC8D3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L1</a:t>
            </a:r>
            <a:r>
              <a:rPr lang="ru-RU" sz="3600" dirty="0"/>
              <a:t> – Регуляризация (</a:t>
            </a:r>
            <a:r>
              <a:rPr lang="en-US" sz="3600" dirty="0"/>
              <a:t>Lasso)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A9E84A1-439F-7407-BDC3-57FCE7644C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FF6A00-160C-F20B-D6F0-AB61766B4AFC}"/>
                  </a:ext>
                </a:extLst>
              </p:cNvPr>
              <p:cNvSpPr txBox="1"/>
              <p:nvPr/>
            </p:nvSpPr>
            <p:spPr>
              <a:xfrm>
                <a:off x="587849" y="2162112"/>
                <a:ext cx="10782113" cy="1270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𝐋𝐨𝐬𝐬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𝐌𝐒𝐄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𝛌</m:t>
                      </m:r>
                      <m:nary>
                        <m:naryPr>
                          <m:chr m:val="∑"/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𝐢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0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𝐍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</m:nary>
                    </m:oMath>
                  </m:oMathPara>
                </a14:m>
                <a:endParaRPr lang="ru-RU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FF6A00-160C-F20B-D6F0-AB61766B4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49" y="2162112"/>
                <a:ext cx="10782113" cy="12701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C5C0272-1776-25BD-8D9F-9504ABB6BEBD}"/>
              </a:ext>
            </a:extLst>
          </p:cNvPr>
          <p:cNvSpPr txBox="1"/>
          <p:nvPr/>
        </p:nvSpPr>
        <p:spPr>
          <a:xfrm>
            <a:off x="681850" y="3171622"/>
            <a:ext cx="10594109" cy="224676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u-RU" sz="2000" b="1" dirty="0"/>
              <a:t>Преимущества: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Автоматически отбирает признаки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Упрощает модель, делая её более интерпретируемой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Может повысить производительность, убрав "мусорные" признаки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algn="l"/>
            <a:r>
              <a:rPr lang="ru-RU" sz="2000" b="1" dirty="0">
                <a:latin typeface="HSE Sans" panose="02000000000000000000" pitchFamily="2" charset="0"/>
              </a:rPr>
              <a:t>Недостатки: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Менее стабильна, чем </a:t>
            </a:r>
            <a:r>
              <a:rPr lang="en-US" sz="2000" dirty="0"/>
              <a:t>Ridge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При наличии группы коррелирующих признаков имеет тенденцию случайно выбирать один из них, а остальные обнулять</a:t>
            </a:r>
            <a:endParaRPr lang="ru-RU" sz="2000" dirty="0">
              <a:latin typeface="HSE Sans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3FE1C1-A994-434E-B1E8-57004B6B448E}"/>
              </a:ext>
            </a:extLst>
          </p:cNvPr>
          <p:cNvSpPr txBox="1"/>
          <p:nvPr/>
        </p:nvSpPr>
        <p:spPr>
          <a:xfrm>
            <a:off x="681850" y="5489464"/>
            <a:ext cx="859621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Когда использовать:</a:t>
            </a:r>
          </a:p>
          <a:p>
            <a:r>
              <a:rPr lang="ru-RU" sz="2000" dirty="0"/>
              <a:t>Поиск компактной панели </a:t>
            </a:r>
            <a:r>
              <a:rPr lang="ru-RU" sz="2000" dirty="0" err="1"/>
              <a:t>биомаркеров</a:t>
            </a:r>
            <a:r>
              <a:rPr lang="ru-RU" sz="2000" dirty="0"/>
              <a:t> (например, отобрать 5–10 генов для дешевой ПЦР-тест-системы).</a:t>
            </a:r>
          </a:p>
        </p:txBody>
      </p:sp>
    </p:spTree>
    <p:extLst>
      <p:ext uri="{BB962C8B-B14F-4D97-AF65-F5344CB8AC3E}">
        <p14:creationId xmlns:p14="http://schemas.microsoft.com/office/powerpoint/2010/main" val="817813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B6599-13CF-1DAF-BD7C-47A40CE55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1C380F2-6097-CF5C-A692-D5123504BD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40644F-9111-E72A-6ED4-3D0651FAFB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8EF3092-B647-6F0A-FDBF-D41FF6A7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Elastic Net</a:t>
            </a:r>
            <a:r>
              <a:rPr lang="ru-RU" sz="3600" dirty="0"/>
              <a:t> – Регуляризация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4789C19-1C03-8E3E-0151-EBD00EB1AF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901C34-5DCC-DC83-1671-F5E4667DF12B}"/>
                  </a:ext>
                </a:extLst>
              </p:cNvPr>
              <p:cNvSpPr txBox="1"/>
              <p:nvPr/>
            </p:nvSpPr>
            <p:spPr>
              <a:xfrm>
                <a:off x="587849" y="2162112"/>
                <a:ext cx="10782113" cy="29298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b="1" dirty="0"/>
                  <a:t>Elastic </a:t>
                </a:r>
                <a:r>
                  <a:rPr lang="ru-RU" sz="2000" b="1" dirty="0" err="1"/>
                  <a:t>Net</a:t>
                </a:r>
                <a:r>
                  <a:rPr lang="ru-RU" sz="2000" dirty="0"/>
                  <a:t> — это гибрид, который одновременно применяет и L1, и L2 штрафы. Это позволяет и отбирать признаки, и эффективно работать с группами связанных признаков</a:t>
                </a:r>
                <a:endParaRPr lang="ru-RU" sz="2000" b="1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𝐋𝐨𝐬𝐬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𝐌𝐒𝐄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𝛌</m:t>
                      </m:r>
                      <m:d>
                        <m:d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nary>
                            <m:naryPr>
                              <m:chr m:val="∑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𝐍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</m:e>
                          </m:nary>
                          <m:r>
                            <a:rPr lang="ru-R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+(</m:t>
                          </m:r>
                          <m:r>
                            <a:rPr lang="ru-R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ru-R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 </m:t>
                          </m:r>
                          <m:r>
                            <a:rPr lang="ru-R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𝜶</m:t>
                          </m:r>
                          <m:r>
                            <a:rPr lang="ru-RU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nary>
                            <m:naryPr>
                              <m:chr m:val="∑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𝐢</m:t>
                              </m:r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sz="20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𝐍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𝐰</m:t>
                                      </m:r>
                                    </m:e>
                                    <m:sub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𝐢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</m:oMath>
                  </m:oMathPara>
                </a14:m>
                <a:endParaRPr lang="ru-RU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US" sz="2000" b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>
                          <a:latin typeface="Cambria Math" panose="02040503050406030204" pitchFamily="18" charset="0"/>
                        </a:rPr>
                        <m:t>𝛌</m:t>
                      </m:r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ru-RU" sz="2000">
                          <a:latin typeface="Cambria Math" panose="02040503050406030204" pitchFamily="18" charset="0"/>
                        </a:rPr>
                        <m:t>коэффициент силы регуляризации</m:t>
                      </m:r>
                    </m:oMath>
                  </m:oMathPara>
                </a14:m>
                <a:endParaRPr lang="ru-RU" sz="2000" dirty="0"/>
              </a:p>
              <a:p>
                <a14:m>
                  <m:oMath xmlns:m="http://schemas.openxmlformats.org/officeDocument/2006/math">
                    <m:r>
                      <a:rPr lang="en-US" sz="2000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𝛂</m:t>
                    </m:r>
                    <m:r>
                      <a:rPr lang="ru-RU" sz="20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/>
                  <a:t> –  </a:t>
                </a:r>
                <a:r>
                  <a:rPr lang="ru-RU" sz="2000" dirty="0" err="1"/>
                  <a:t>микс</a:t>
                </a:r>
                <a:r>
                  <a:rPr lang="ru-RU" sz="2000" dirty="0"/>
                  <a:t>-параметр (от 0 до 1) </a:t>
                </a:r>
                <a:endParaRPr lang="ru-RU" sz="2000" b="1" dirty="0"/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C2BF7E1-4126-9934-8C78-D9CF057D4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49" y="2162112"/>
                <a:ext cx="10782113" cy="2929841"/>
              </a:xfrm>
              <a:prstGeom prst="rect">
                <a:avLst/>
              </a:prstGeom>
              <a:blipFill>
                <a:blip r:embed="rId3"/>
                <a:stretch>
                  <a:fillRect l="-565" t="-125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22C382A-2AF5-1EE8-EF43-2230FBD50925}"/>
              </a:ext>
            </a:extLst>
          </p:cNvPr>
          <p:cNvSpPr txBox="1"/>
          <p:nvPr/>
        </p:nvSpPr>
        <p:spPr>
          <a:xfrm>
            <a:off x="775853" y="4796586"/>
            <a:ext cx="10594109" cy="2246769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ru-RU" sz="2000" b="1" dirty="0"/>
              <a:t>Преимущества: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Стабильна и производит отбор признаков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Хорошо справляется с ситуациями, когда признаков больше, чем наблюдений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Лучше </a:t>
            </a:r>
            <a:r>
              <a:rPr lang="ru-RU" sz="2000" dirty="0" err="1"/>
              <a:t>Lasso</a:t>
            </a:r>
            <a:r>
              <a:rPr lang="ru-RU" sz="2000" dirty="0"/>
              <a:t> работает с коррелирующими признаками</a:t>
            </a:r>
          </a:p>
          <a:p>
            <a:br>
              <a:rPr lang="ru-RU" sz="2000" b="1" dirty="0">
                <a:latin typeface="HSE Sans" panose="02000000000000000000" pitchFamily="2" charset="0"/>
              </a:rPr>
            </a:br>
            <a:r>
              <a:rPr lang="ru-RU" sz="2000" b="1" dirty="0">
                <a:latin typeface="HSE Sans" panose="02000000000000000000" pitchFamily="2" charset="0"/>
              </a:rPr>
              <a:t>Недостатки: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Необходимо настраивать уже два </a:t>
            </a:r>
            <a:r>
              <a:rPr lang="ru-RU" sz="2000" dirty="0" err="1"/>
              <a:t>гиперпараметра</a:t>
            </a:r>
            <a:r>
              <a:rPr lang="ru-RU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Процесс настройки (Grid Search) становится более сложным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Дольше обучается</a:t>
            </a:r>
            <a:endParaRPr lang="ru-RU" sz="2000" dirty="0">
              <a:latin typeface="HSE Sans" panose="02000000000000000000" pitchFamily="2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43E872A-B10C-09B3-3AE5-7A538B172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Необходимо настраивать уже </a:t>
            </a:r>
            <a:r>
              <a:rPr kumimoji="0" lang="ru-RU" altLang="ru-RU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два</a:t>
            </a: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гиперпараметра: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λ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и </a:t>
            </a:r>
            <a:r>
              <a:rPr kumimoji="0" lang="ru-RU" altLang="ru-RU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α</a:t>
            </a:r>
            <a:r>
              <a:rPr kumimoji="0" lang="ru-RU" altLang="ru-RU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315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A49F-B89B-19D9-139B-79002FFA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686480E-3471-95DB-2890-DCB187AB2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13701-F1C7-6AAB-D2DD-0E78C5C96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AF63CC-9BC3-E1FB-9970-46A48D6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Зачем делить данные?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E71811-CAB9-7E09-9D2F-3A881A1CBB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4B389-D14C-ADDA-8B9F-CADCD7CC8C0B}"/>
              </a:ext>
            </a:extLst>
          </p:cNvPr>
          <p:cNvSpPr txBox="1"/>
          <p:nvPr/>
        </p:nvSpPr>
        <p:spPr>
          <a:xfrm>
            <a:off x="9452334" y="5098293"/>
            <a:ext cx="718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Kaggle</a:t>
            </a:r>
            <a:endParaRPr lang="ru-RU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B0438D-8E79-1BA6-EADD-964A7899D31E}"/>
              </a:ext>
            </a:extLst>
          </p:cNvPr>
          <p:cNvSpPr txBox="1"/>
          <p:nvPr/>
        </p:nvSpPr>
        <p:spPr>
          <a:xfrm>
            <a:off x="548147" y="2147081"/>
            <a:ext cx="73222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Чтобы объективно оценить, как модель будет работать на </a:t>
            </a:r>
            <a:r>
              <a:rPr lang="ru-RU" b="1" dirty="0"/>
              <a:t>новых, невиданных ранее </a:t>
            </a:r>
            <a:r>
              <a:rPr lang="ru-RU" dirty="0"/>
              <a:t>данных</a:t>
            </a:r>
            <a:br>
              <a:rPr lang="en-US" dirty="0"/>
            </a:br>
            <a:r>
              <a:rPr lang="ru-RU" dirty="0"/>
              <a:t>Если мы протестируем модель на тех же данных, на которых её обучали, она может просто "запомнить" правильные ответы, а не научиться обобщать закономерности</a:t>
            </a:r>
            <a:endParaRPr lang="en-US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Обучающая выборка </a:t>
            </a:r>
            <a:r>
              <a:rPr lang="en-US" dirty="0"/>
              <a:t>(Train Set):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Назначение</a:t>
            </a:r>
            <a:r>
              <a:rPr lang="ru-RU" b="1" dirty="0"/>
              <a:t>:</a:t>
            </a:r>
            <a:r>
              <a:rPr lang="ru-RU" dirty="0"/>
              <a:t> Основной материал для обучения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Процесс</a:t>
            </a:r>
            <a:r>
              <a:rPr lang="ru-RU" b="1" dirty="0"/>
              <a:t>:</a:t>
            </a:r>
            <a:r>
              <a:rPr lang="ru-RU" dirty="0"/>
              <a:t> На этих данных модель "учится": находит закономерности, зависимости и настраивает свои параметры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Обычно 70-80% всех данных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Тестовая выборка (</a:t>
            </a:r>
            <a:r>
              <a:rPr lang="en-US" b="1" dirty="0"/>
              <a:t>Test Set):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Назначение</a:t>
            </a:r>
            <a:r>
              <a:rPr lang="ru-RU" b="1" dirty="0"/>
              <a:t>:</a:t>
            </a:r>
            <a:r>
              <a:rPr lang="ru-RU" dirty="0"/>
              <a:t> Финальный, независимый экзамен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Процесс</a:t>
            </a:r>
            <a:r>
              <a:rPr lang="ru-RU" b="1" dirty="0"/>
              <a:t>:</a:t>
            </a:r>
            <a:r>
              <a:rPr lang="ru-RU" dirty="0"/>
              <a:t> Используется </a:t>
            </a:r>
            <a:r>
              <a:rPr lang="ru-RU" b="1" dirty="0"/>
              <a:t>только один раз в самом конце</a:t>
            </a:r>
            <a:r>
              <a:rPr lang="ru-RU" dirty="0"/>
              <a:t> для финальной, честной оценки качества уже обученной модели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u-RU" dirty="0"/>
              <a:t>Обычно 20-30% всех данных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B75831C-CD28-18E9-729D-D2BC0629E2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6" t="9922" r="5428" b="44228"/>
          <a:stretch>
            <a:fillRect/>
          </a:stretch>
        </p:blipFill>
        <p:spPr bwMode="auto">
          <a:xfrm>
            <a:off x="7699723" y="3039134"/>
            <a:ext cx="4223658" cy="159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2188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A49F-B89B-19D9-139B-79002FFA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686480E-3471-95DB-2890-DCB187AB2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13701-F1C7-6AAB-D2DD-0E78C5C96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AF63CC-9BC3-E1FB-9970-46A48D6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Аналогия: студенты и экзамен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E71811-CAB9-7E09-9D2F-3A881A1CBB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B9CDA-6719-D7BD-6F8F-C0AD1182D6F7}"/>
              </a:ext>
            </a:extLst>
          </p:cNvPr>
          <p:cNvSpPr txBox="1"/>
          <p:nvPr/>
        </p:nvSpPr>
        <p:spPr>
          <a:xfrm>
            <a:off x="587849" y="2162112"/>
            <a:ext cx="7116893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Обучающая выборка</a:t>
            </a:r>
            <a:r>
              <a:rPr lang="ru-RU" sz="2000" dirty="0"/>
              <a:t> — это учебник и задачи, которые студент решает дома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Тестовая выборка</a:t>
            </a:r>
            <a:r>
              <a:rPr lang="ru-RU" sz="2000" dirty="0"/>
              <a:t> — это экзаменационный билет с новыми, ранее не виденными задачами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Плохой студент:</a:t>
            </a:r>
            <a:r>
              <a:rPr lang="ru-RU" sz="2000" dirty="0"/>
              <a:t> Вызубрил ответы из учебника, но не понял суть. На экзамене он провалится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Хороший студент:</a:t>
            </a:r>
            <a:r>
              <a:rPr lang="ru-RU" sz="2000" dirty="0"/>
              <a:t> Понял общие принципы и может применить их к новым задачам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Обобщающая способность (</a:t>
            </a:r>
            <a:r>
              <a:rPr lang="ru-RU" sz="2000" b="1" dirty="0" err="1"/>
              <a:t>Generalization</a:t>
            </a:r>
            <a:r>
              <a:rPr lang="ru-RU" sz="2000" b="1" dirty="0"/>
              <a:t>):</a:t>
            </a:r>
            <a:r>
              <a:rPr lang="ru-RU" sz="2000" dirty="0"/>
              <a:t> Способность модели хорошо работать на новых, не виденных ранее данных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BAD29FD-23D4-47A4-ADE4-99C5F30A2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742" y="2091229"/>
            <a:ext cx="4037233" cy="403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11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ED23C-735F-A537-4599-7CA862978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8FFC0D8-FE4D-0EF7-B467-E1C028F247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0A9513-E3F8-C796-57A3-C86B7F18682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139D74C-63B4-7A2B-9987-FF5A85054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Почему двух выборок недостаточно?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92066FF-5887-270F-D732-BF786F9229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5A5DCD-423F-729A-669A-4710C0413A4A}"/>
              </a:ext>
            </a:extLst>
          </p:cNvPr>
          <p:cNvSpPr txBox="1"/>
          <p:nvPr/>
        </p:nvSpPr>
        <p:spPr>
          <a:xfrm>
            <a:off x="9566710" y="6049639"/>
            <a:ext cx="718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Kaggle</a:t>
            </a:r>
            <a:endParaRPr lang="ru-RU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A68180-737D-75CD-20D8-961B844876A3}"/>
              </a:ext>
            </a:extLst>
          </p:cNvPr>
          <p:cNvSpPr txBox="1"/>
          <p:nvPr/>
        </p:nvSpPr>
        <p:spPr>
          <a:xfrm>
            <a:off x="548147" y="2147081"/>
            <a:ext cx="73222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процессе работы мы хотим улучшить модель, меняя её </a:t>
            </a:r>
            <a:r>
              <a:rPr lang="ru-RU" b="1" dirty="0" err="1"/>
              <a:t>гиперпараметры</a:t>
            </a:r>
            <a:r>
              <a:rPr lang="ru-RU" dirty="0"/>
              <a:t> (например, сложность, скорость обучения)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мы будем проверять каждое изменение на </a:t>
            </a:r>
            <a:r>
              <a:rPr lang="ru-RU" b="1" dirty="0"/>
              <a:t>тестовой</a:t>
            </a:r>
            <a:r>
              <a:rPr lang="ru-RU" dirty="0"/>
              <a:t> выборке, мы начнём выбирать те </a:t>
            </a:r>
            <a:r>
              <a:rPr lang="ru-RU" dirty="0" err="1"/>
              <a:t>гиперпараметры</a:t>
            </a:r>
            <a:r>
              <a:rPr lang="ru-RU" dirty="0"/>
              <a:t>, которые лучше всего работают именно на </a:t>
            </a:r>
            <a:r>
              <a:rPr lang="ru-RU" b="1" dirty="0"/>
              <a:t>ней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Результат:</a:t>
            </a:r>
            <a:r>
              <a:rPr lang="ru-RU" dirty="0"/>
              <a:t> Мы "подгоняем" модель под тестовые данные. Тест перестаёт быть объективным, а его оценка - реалистичной</a:t>
            </a:r>
          </a:p>
          <a:p>
            <a:endParaRPr lang="ru-RU" dirty="0"/>
          </a:p>
          <a:p>
            <a:r>
              <a:rPr lang="ru-RU" b="1" dirty="0"/>
              <a:t>Решение</a:t>
            </a:r>
            <a:r>
              <a:rPr lang="ru-RU" dirty="0"/>
              <a:t>: </a:t>
            </a:r>
            <a:r>
              <a:rPr lang="ru-RU" dirty="0" err="1"/>
              <a:t>Валидационная</a:t>
            </a:r>
            <a:r>
              <a:rPr lang="ru-RU" dirty="0"/>
              <a:t> выборка</a:t>
            </a:r>
          </a:p>
          <a:p>
            <a:r>
              <a:rPr lang="ru-RU" dirty="0"/>
              <a:t>Это промежуточная выборка, которая служит для настройки модели и выбора лучшей её версии, не прикасаясь к "чистому" тестовому набору</a:t>
            </a:r>
          </a:p>
          <a:p>
            <a:r>
              <a:rPr lang="ru-RU" b="1" dirty="0"/>
              <a:t>Процесс</a:t>
            </a:r>
            <a:r>
              <a:rPr lang="ru-RU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dirty="0"/>
              <a:t>Обучение</a:t>
            </a:r>
            <a:r>
              <a:rPr lang="ru-RU" b="1" dirty="0"/>
              <a:t>:</a:t>
            </a:r>
            <a:r>
              <a:rPr lang="ru-RU" dirty="0"/>
              <a:t> Учим разные версии модели на </a:t>
            </a:r>
            <a:r>
              <a:rPr lang="ru-RU" b="1" dirty="0" err="1"/>
              <a:t>Train</a:t>
            </a:r>
            <a:r>
              <a:rPr lang="ru-RU" dirty="0"/>
              <a:t> сете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dirty="0"/>
              <a:t>Настройка</a:t>
            </a:r>
            <a:r>
              <a:rPr lang="ru-RU" b="1" dirty="0"/>
              <a:t>:</a:t>
            </a:r>
            <a:r>
              <a:rPr lang="ru-RU" dirty="0"/>
              <a:t> Сравниваем их на </a:t>
            </a:r>
            <a:r>
              <a:rPr lang="ru-RU" b="1" dirty="0" err="1"/>
              <a:t>Validation</a:t>
            </a:r>
            <a:r>
              <a:rPr lang="ru-RU" dirty="0"/>
              <a:t> сете и выбираем лучшую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1" dirty="0"/>
              <a:t>Оценка</a:t>
            </a:r>
            <a:r>
              <a:rPr lang="ru-RU" b="1" dirty="0"/>
              <a:t>:</a:t>
            </a:r>
            <a:r>
              <a:rPr lang="ru-RU" dirty="0"/>
              <a:t> Тестируем победителя </a:t>
            </a:r>
            <a:r>
              <a:rPr lang="ru-RU" b="1" dirty="0"/>
              <a:t>один раз</a:t>
            </a:r>
            <a:r>
              <a:rPr lang="ru-RU" dirty="0"/>
              <a:t> на </a:t>
            </a:r>
            <a:r>
              <a:rPr lang="ru-RU" b="1" dirty="0"/>
              <a:t>Test</a:t>
            </a:r>
            <a:r>
              <a:rPr lang="ru-RU" dirty="0"/>
              <a:t> сете и получаем честную оценку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1BABBEE-4D63-1D3C-4B30-363916A2B8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6" t="9921" r="5428" b="9668"/>
          <a:stretch>
            <a:fillRect/>
          </a:stretch>
        </p:blipFill>
        <p:spPr bwMode="auto">
          <a:xfrm>
            <a:off x="7757826" y="2904384"/>
            <a:ext cx="4223658" cy="2795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14699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A49F-B89B-19D9-139B-79002FFA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686480E-3471-95DB-2890-DCB187AB2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13701-F1C7-6AAB-D2DD-0E78C5C96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AF63CC-9BC3-E1FB-9970-46A48D6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Кросс-валидация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E71811-CAB9-7E09-9D2F-3A881A1CBB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B9CDA-6719-D7BD-6F8F-C0AD1182D6F7}"/>
              </a:ext>
            </a:extLst>
          </p:cNvPr>
          <p:cNvSpPr txBox="1"/>
          <p:nvPr/>
        </p:nvSpPr>
        <p:spPr>
          <a:xfrm>
            <a:off x="587849" y="2162112"/>
            <a:ext cx="1113637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Проблема с обычной </a:t>
            </a:r>
            <a:r>
              <a:rPr lang="ru-RU" sz="2000" b="1" dirty="0" err="1"/>
              <a:t>валидационной</a:t>
            </a:r>
            <a:r>
              <a:rPr lang="ru-RU" sz="2000" b="1" dirty="0"/>
              <a:t> выборкой: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Расточительство:</a:t>
            </a:r>
            <a:r>
              <a:rPr lang="ru-RU" sz="2000" dirty="0"/>
              <a:t> При маленьком наборе данных "замораживать" 15-20% для валидации — роскошь. Мы могли бы использовать их для обучения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Случайность:</a:t>
            </a:r>
            <a:r>
              <a:rPr lang="ru-RU" sz="2000" dirty="0"/>
              <a:t> Оценка модели сильно зависит от того, какие именно данные </a:t>
            </a:r>
            <a:r>
              <a:rPr lang="ru-RU" sz="2000" b="1" dirty="0"/>
              <a:t>случайно</a:t>
            </a:r>
            <a:r>
              <a:rPr lang="ru-RU" sz="2000" dirty="0"/>
              <a:t> попали в </a:t>
            </a:r>
            <a:r>
              <a:rPr lang="ru-RU" sz="2000" dirty="0" err="1"/>
              <a:t>валидационную</a:t>
            </a:r>
            <a:r>
              <a:rPr lang="ru-RU" sz="2000" dirty="0"/>
              <a:t> выборку. Результат может быть излишне пессимистичным или оптимистичным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737BB-E100-0FF7-D4D7-61299B74E788}"/>
              </a:ext>
            </a:extLst>
          </p:cNvPr>
          <p:cNvSpPr txBox="1"/>
          <p:nvPr/>
        </p:nvSpPr>
        <p:spPr>
          <a:xfrm>
            <a:off x="587850" y="4101104"/>
            <a:ext cx="669964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Решение: </a:t>
            </a:r>
            <a:r>
              <a:rPr lang="ru-RU" sz="2000" dirty="0"/>
              <a:t>K-</a:t>
            </a:r>
            <a:r>
              <a:rPr lang="ru-RU" sz="2000" dirty="0" err="1"/>
              <a:t>Fold</a:t>
            </a:r>
            <a:r>
              <a:rPr lang="ru-RU" sz="2000" dirty="0"/>
              <a:t> Кросс-валидация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Делим обучающие данные на </a:t>
            </a:r>
            <a:r>
              <a:rPr lang="en-US" sz="2000" b="1" dirty="0"/>
              <a:t>k</a:t>
            </a:r>
            <a:r>
              <a:rPr lang="ru-RU" sz="2000" dirty="0"/>
              <a:t> равных частей (</a:t>
            </a:r>
            <a:r>
              <a:rPr lang="ru-RU" sz="2000" b="1" dirty="0" err="1"/>
              <a:t>фолдов</a:t>
            </a:r>
            <a:r>
              <a:rPr lang="ru-RU" sz="2000" dirty="0"/>
              <a:t>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Проводим </a:t>
            </a:r>
            <a:r>
              <a:rPr lang="en-US" sz="2000" b="1" dirty="0"/>
              <a:t>k</a:t>
            </a:r>
            <a:r>
              <a:rPr lang="ru-RU" sz="2000" dirty="0"/>
              <a:t> раундов обучения и проверки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 каждом раунде: </a:t>
            </a:r>
            <a:r>
              <a:rPr lang="ru-RU" sz="2000" b="1" dirty="0"/>
              <a:t>1</a:t>
            </a:r>
            <a:r>
              <a:rPr lang="ru-RU" sz="2000" dirty="0"/>
              <a:t> </a:t>
            </a:r>
            <a:r>
              <a:rPr lang="ru-RU" sz="2000" dirty="0" err="1"/>
              <a:t>фолд</a:t>
            </a:r>
            <a:r>
              <a:rPr lang="ru-RU" sz="2000" dirty="0"/>
              <a:t> используется как </a:t>
            </a:r>
            <a:r>
              <a:rPr lang="ru-RU" sz="2000" dirty="0" err="1"/>
              <a:t>валидационный</a:t>
            </a:r>
            <a:r>
              <a:rPr lang="ru-RU" sz="2000" dirty="0"/>
              <a:t>, а остальные </a:t>
            </a:r>
            <a:r>
              <a:rPr lang="en-US" sz="2000" b="1" dirty="0"/>
              <a:t>k</a:t>
            </a:r>
            <a:r>
              <a:rPr lang="ru-RU" sz="2000" b="1" dirty="0"/>
              <a:t>-1</a:t>
            </a:r>
            <a:r>
              <a:rPr lang="ru-RU" sz="2000" dirty="0"/>
              <a:t> — как обучающие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Итоговая оценка качества модели — это </a:t>
            </a:r>
            <a:r>
              <a:rPr lang="ru-RU" sz="2000" b="1" dirty="0"/>
              <a:t>среднее арифметическое</a:t>
            </a:r>
            <a:r>
              <a:rPr lang="ru-RU" sz="2000" dirty="0"/>
              <a:t> оценок по всем </a:t>
            </a:r>
            <a:r>
              <a:rPr lang="en-US" sz="2000" b="1" dirty="0"/>
              <a:t>k</a:t>
            </a:r>
            <a:r>
              <a:rPr lang="ru-RU" sz="2000" dirty="0"/>
              <a:t> раундам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5D522B1-BBB9-EA82-6772-38436BCDF1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49" t="10241"/>
          <a:stretch>
            <a:fillRect/>
          </a:stretch>
        </p:blipFill>
        <p:spPr bwMode="auto">
          <a:xfrm>
            <a:off x="7692106" y="3802087"/>
            <a:ext cx="4032117" cy="2750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DEC242-A954-3AF2-CD20-BA159A366065}"/>
              </a:ext>
            </a:extLst>
          </p:cNvPr>
          <p:cNvSpPr txBox="1"/>
          <p:nvPr/>
        </p:nvSpPr>
        <p:spPr>
          <a:xfrm>
            <a:off x="8208964" y="6277788"/>
            <a:ext cx="7184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hlinkClick r:id="rId4"/>
              </a:rPr>
              <a:t>sklearn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56929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D1CF3-B5CD-5EA7-2339-8791A22BC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804C596-0371-29AC-87FE-CEB937837B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D30CD2C-137C-D4E6-2D68-081A0066FA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9E066BA-73DC-6BCB-08A4-AD51B9A5E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Кросс-валидация: ограничения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FB1375D-8550-17C9-5B88-A13BC323AFF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EA506D-7ED9-5ED1-7B27-0E9D8A00A35D}"/>
              </a:ext>
            </a:extLst>
          </p:cNvPr>
          <p:cNvSpPr txBox="1"/>
          <p:nvPr/>
        </p:nvSpPr>
        <p:spPr>
          <a:xfrm>
            <a:off x="587850" y="2162112"/>
            <a:ext cx="94982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Стратификация: Борьба с дисбалансом классов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Проблема:</a:t>
            </a:r>
            <a:r>
              <a:rPr lang="ru-RU" sz="2000" dirty="0"/>
              <a:t> В задачах классификации часто бывает </a:t>
            </a:r>
            <a:r>
              <a:rPr lang="ru-RU" sz="2000" b="1" dirty="0"/>
              <a:t>дисбаланс классов</a:t>
            </a:r>
            <a:r>
              <a:rPr lang="ru-RU" sz="2000" dirty="0"/>
              <a:t> (например, 95% здоровых пациентов и 5% больных). При случайном разбиении один из "</a:t>
            </a:r>
            <a:r>
              <a:rPr lang="ru-RU" sz="2000" dirty="0" err="1"/>
              <a:t>фолдов</a:t>
            </a:r>
            <a:r>
              <a:rPr lang="ru-RU" sz="2000" dirty="0"/>
              <a:t>" может случайно не получить ни одного примера редкого класса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Решение </a:t>
            </a:r>
            <a:r>
              <a:rPr lang="ru-RU" sz="2000" dirty="0"/>
              <a:t>—</a:t>
            </a:r>
            <a:r>
              <a:rPr lang="ru-RU" sz="2000" b="1" dirty="0"/>
              <a:t> </a:t>
            </a:r>
            <a:r>
              <a:rPr lang="ru-RU" sz="2000" b="1" dirty="0" err="1"/>
              <a:t>Stratified</a:t>
            </a:r>
            <a:r>
              <a:rPr lang="ru-RU" sz="2000" b="1" dirty="0"/>
              <a:t> </a:t>
            </a:r>
            <a:r>
              <a:rPr lang="en-US" sz="2000" b="1" dirty="0"/>
              <a:t>k</a:t>
            </a:r>
            <a:r>
              <a:rPr lang="ru-RU" sz="2000" b="1" dirty="0"/>
              <a:t>-</a:t>
            </a:r>
            <a:r>
              <a:rPr lang="ru-RU" sz="2000" b="1" dirty="0" err="1"/>
              <a:t>Fold</a:t>
            </a:r>
            <a:r>
              <a:rPr lang="ru-RU" sz="2000" b="1" dirty="0"/>
              <a:t>:</a:t>
            </a:r>
            <a:r>
              <a:rPr lang="ru-RU" sz="2000" dirty="0"/>
              <a:t> Этот метод гарантирует, что в каждом "</a:t>
            </a:r>
            <a:r>
              <a:rPr lang="ru-RU" sz="2000" dirty="0" err="1"/>
              <a:t>фолде</a:t>
            </a:r>
            <a:r>
              <a:rPr lang="ru-RU" sz="2000" dirty="0"/>
              <a:t>" сохраняются исходные пропорции классов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E5D31-0D05-5C86-1A3D-9CDB93EBCD94}"/>
              </a:ext>
            </a:extLst>
          </p:cNvPr>
          <p:cNvSpPr txBox="1"/>
          <p:nvPr/>
        </p:nvSpPr>
        <p:spPr>
          <a:xfrm>
            <a:off x="587850" y="4101104"/>
            <a:ext cx="1029258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Временные ряды</a:t>
            </a:r>
            <a:r>
              <a:rPr lang="ru-RU" sz="2000" dirty="0"/>
              <a:t>: Запрет на «путешествия во времени»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Проблема:</a:t>
            </a:r>
            <a:r>
              <a:rPr lang="ru-RU" sz="2000" dirty="0"/>
              <a:t> В данных, где важен порядок (курсы акций, погода, спрос), случайное перемешивание недопустимо. Это приводит к </a:t>
            </a:r>
            <a:r>
              <a:rPr lang="ru-RU" sz="2000" b="1" dirty="0"/>
              <a:t>утечке данных из будущего</a:t>
            </a:r>
            <a:r>
              <a:rPr lang="ru-RU" sz="2000" dirty="0"/>
              <a:t>: модель будет учиться на данных из января 2025 года, чтобы предсказать результат для ноября 2024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Решение — </a:t>
            </a:r>
            <a:r>
              <a:rPr lang="ru-RU" sz="2000" b="1" dirty="0" err="1"/>
              <a:t>TimeSeriesSplit</a:t>
            </a:r>
            <a:r>
              <a:rPr lang="ru-RU" sz="2000" b="1" dirty="0"/>
              <a:t>:</a:t>
            </a:r>
            <a:r>
              <a:rPr lang="ru-RU" sz="2000" dirty="0"/>
              <a:t> Используется специальная логика разбиения, которая имитирует реальность. </a:t>
            </a:r>
            <a:r>
              <a:rPr lang="ru-RU" sz="2000" dirty="0" err="1"/>
              <a:t>Валидационный</a:t>
            </a:r>
            <a:r>
              <a:rPr lang="ru-RU" sz="2000" dirty="0"/>
              <a:t> "</a:t>
            </a:r>
            <a:r>
              <a:rPr lang="ru-RU" sz="2000" dirty="0" err="1"/>
              <a:t>фолд</a:t>
            </a:r>
            <a:r>
              <a:rPr lang="ru-RU" sz="2000" dirty="0"/>
              <a:t>" </a:t>
            </a:r>
            <a:r>
              <a:rPr lang="ru-RU" sz="2000" b="1" dirty="0"/>
              <a:t>всегда идёт в будущем</a:t>
            </a:r>
            <a:r>
              <a:rPr lang="ru-RU" sz="2000" dirty="0"/>
              <a:t> после обучающего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38904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11FAA-23AF-2DAF-E6AC-233C5273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BBBEF1F-73DA-744C-3272-864C291455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B3E949-61CE-6C01-EC23-2CDCAAF368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A91E53B-5D9B-68EA-D2EE-FD1F19D3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Метрики классификации - повторение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424DC19-A2EF-CF69-3AFA-A79D30E2F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pic>
        <p:nvPicPr>
          <p:cNvPr id="5122" name="Picture 2" descr="Confusion matrix table">
            <a:extLst>
              <a:ext uri="{FF2B5EF4-FFF2-40B4-BE49-F238E27FC236}">
                <a16:creationId xmlns:a16="http://schemas.microsoft.com/office/drawing/2014/main" id="{5565E319-CDC3-96D6-B4E9-11B9493066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6" t="7092" r="16879" b="7553"/>
          <a:stretch/>
        </p:blipFill>
        <p:spPr bwMode="auto">
          <a:xfrm>
            <a:off x="7362863" y="1926223"/>
            <a:ext cx="4673495" cy="300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3AFFE6B-C857-C23C-DF6D-2CF085435322}"/>
              </a:ext>
            </a:extLst>
          </p:cNvPr>
          <p:cNvSpPr txBox="1"/>
          <p:nvPr/>
        </p:nvSpPr>
        <p:spPr>
          <a:xfrm>
            <a:off x="10104931" y="5410210"/>
            <a:ext cx="891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 err="1">
                <a:latin typeface="HSE Sans" panose="02000000000000000000" pitchFamily="2" charset="0"/>
                <a:hlinkClick r:id="rId4"/>
              </a:rPr>
              <a:t>EvidentlyAI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31073-A7FC-1829-B494-199DA76E9B3A}"/>
              </a:ext>
            </a:extLst>
          </p:cNvPr>
          <p:cNvSpPr txBox="1"/>
          <p:nvPr/>
        </p:nvSpPr>
        <p:spPr>
          <a:xfrm>
            <a:off x="587850" y="2162112"/>
            <a:ext cx="329348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Точность</a:t>
            </a:r>
            <a:r>
              <a:rPr lang="en-US" sz="2000" b="1" dirty="0"/>
              <a:t> #1</a:t>
            </a:r>
            <a:br>
              <a:rPr lang="en-US" sz="2000" b="1" dirty="0"/>
            </a:br>
            <a:r>
              <a:rPr lang="en-US" sz="2000" b="1" dirty="0"/>
              <a:t>(Accuracy)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Точность</a:t>
            </a:r>
            <a:r>
              <a:rPr lang="en-US" sz="2000" b="1" dirty="0"/>
              <a:t> #2</a:t>
            </a:r>
            <a:br>
              <a:rPr lang="en-US" sz="2000" b="1" dirty="0"/>
            </a:br>
            <a:r>
              <a:rPr lang="ru-RU" sz="2000" b="1" dirty="0"/>
              <a:t>(</a:t>
            </a:r>
            <a:r>
              <a:rPr lang="en-US" sz="2000" b="1" dirty="0"/>
              <a:t>Precision</a:t>
            </a:r>
            <a:r>
              <a:rPr lang="ru-RU" sz="2000" b="1" dirty="0"/>
              <a:t>)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Полнота </a:t>
            </a:r>
            <a:r>
              <a:rPr lang="en-US" sz="2000" b="1" dirty="0"/>
              <a:t>(Recall</a:t>
            </a:r>
            <a:r>
              <a:rPr lang="ru-RU" sz="2000" b="1" dirty="0"/>
              <a:t>, </a:t>
            </a:r>
            <a:r>
              <a:rPr lang="en-US" sz="2000" b="1" dirty="0"/>
              <a:t>Sensitivity)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Специфичность (</a:t>
            </a:r>
            <a:r>
              <a:rPr lang="en-US" sz="2000" b="1" dirty="0"/>
              <a:t>Specificity</a:t>
            </a:r>
            <a:r>
              <a:rPr lang="ru-RU" sz="2000" b="1" dirty="0"/>
              <a:t>)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F1-</a:t>
            </a:r>
            <a:r>
              <a:rPr lang="ru-RU" sz="2000" b="1" dirty="0"/>
              <a:t>мера</a:t>
            </a:r>
            <a:endParaRPr lang="en-US" sz="20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31073-A7FC-1829-B494-199DA76E9B3A}"/>
              </a:ext>
            </a:extLst>
          </p:cNvPr>
          <p:cNvSpPr txBox="1"/>
          <p:nvPr/>
        </p:nvSpPr>
        <p:spPr>
          <a:xfrm>
            <a:off x="3281897" y="2162112"/>
            <a:ext cx="431270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общая доля верных ответов</a:t>
            </a:r>
            <a:r>
              <a:rPr lang="en-US" sz="2000" b="1" dirty="0"/>
              <a:t>:</a:t>
            </a:r>
            <a:endParaRPr lang="en-US" sz="2000" dirty="0"/>
          </a:p>
          <a:p>
            <a:br>
              <a:rPr lang="en-US" sz="2000" dirty="0"/>
            </a:br>
            <a:endParaRPr lang="en-US" sz="2000" dirty="0"/>
          </a:p>
          <a:p>
            <a:r>
              <a:rPr lang="ru-RU" sz="2000" dirty="0"/>
              <a:t>насколько можно доверять положительным предсказаниям</a:t>
            </a:r>
          </a:p>
          <a:p>
            <a:endParaRPr lang="ru-RU" sz="2000" dirty="0"/>
          </a:p>
          <a:p>
            <a:r>
              <a:rPr lang="ru-RU" sz="2000" dirty="0"/>
              <a:t>как много реальных положительных случаев мы нашли</a:t>
            </a:r>
          </a:p>
          <a:p>
            <a:endParaRPr lang="ru-RU" sz="2000" dirty="0"/>
          </a:p>
          <a:p>
            <a:r>
              <a:rPr lang="ru-RU" sz="2000" dirty="0"/>
              <a:t>как много реальных отрицательных случаев мы нашли</a:t>
            </a:r>
            <a:endParaRPr lang="en-US" sz="2000" dirty="0"/>
          </a:p>
          <a:p>
            <a:endParaRPr lang="en-US" sz="2000" b="1" dirty="0"/>
          </a:p>
          <a:p>
            <a:r>
              <a:rPr lang="ru-RU" sz="2000" dirty="0"/>
              <a:t>среднее гармоническое между точностью и полнотой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70689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A49F-B89B-19D9-139B-79002FFA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686480E-3471-95DB-2890-DCB187AB2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13701-F1C7-6AAB-D2DD-0E78C5C96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AF63CC-9BC3-E1FB-9970-46A48D6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Словарь: ML ↔ клиника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E71811-CAB9-7E09-9D2F-3A881A1CBB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Метрики качества и подводные камни оценки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B9CDA-6719-D7BD-6F8F-C0AD1182D6F7}"/>
              </a:ext>
            </a:extLst>
          </p:cNvPr>
          <p:cNvSpPr txBox="1"/>
          <p:nvPr/>
        </p:nvSpPr>
        <p:spPr>
          <a:xfrm>
            <a:off x="606724" y="5959450"/>
            <a:ext cx="11016300" cy="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ru-RU" sz="1600" b="1" dirty="0"/>
              <a:t>Чувствительность и специфичность</a:t>
            </a:r>
            <a:r>
              <a:rPr lang="ru-RU" sz="1600" dirty="0"/>
              <a:t> — свойства теста. PPV и NPV — свойства теста и популяции, в которой его применяют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539691"/>
              </p:ext>
            </p:extLst>
          </p:nvPr>
        </p:nvGraphicFramePr>
        <p:xfrm>
          <a:off x="587850" y="2200000"/>
          <a:ext cx="11000000" cy="360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В ML</a:t>
                      </a:r>
                    </a:p>
                  </a:txBody>
                  <a:tcPr marL="70000" marR="70000" marT="40000" marB="40000">
                    <a:solidFill>
                      <a:srgbClr val="1B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В медицине</a:t>
                      </a:r>
                    </a:p>
                  </a:txBody>
                  <a:tcPr marL="70000" marR="70000" marT="40000" marB="40000">
                    <a:solidFill>
                      <a:srgbClr val="1B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Формула</a:t>
                      </a:r>
                    </a:p>
                  </a:txBody>
                  <a:tcPr marL="70000" marR="70000" marT="40000" marB="40000">
                    <a:solidFill>
                      <a:srgbClr val="1B2A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Отвечает на вопрос</a:t>
                      </a:r>
                    </a:p>
                  </a:txBody>
                  <a:tcPr marL="70000" marR="70000" marT="40000" marB="40000">
                    <a:solidFill>
                      <a:srgbClr val="1B2A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Recall, TPR</a:t>
                      </a:r>
                      <a:r>
                        <a:rPr lang="en-US" sz="1600" b="0" dirty="0">
                          <a:solidFill>
                            <a:srgbClr val="262B38"/>
                          </a:solidFill>
                        </a:rPr>
                        <a:t>, Sensitivity</a:t>
                      </a:r>
                      <a:endParaRPr sz="1600" b="0" dirty="0">
                        <a:solidFill>
                          <a:srgbClr val="262B38"/>
                        </a:solidFill>
                      </a:endParaRPr>
                    </a:p>
                  </a:txBody>
                  <a:tcPr marL="70000" marR="70000" marT="40000" marB="40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1B2A57"/>
                          </a:solidFill>
                        </a:rPr>
                        <a:t>Чувствительность</a:t>
                      </a:r>
                      <a:endParaRPr sz="1600" b="1" dirty="0">
                        <a:solidFill>
                          <a:srgbClr val="1B2A57"/>
                        </a:solidFill>
                      </a:endParaRPr>
                    </a:p>
                  </a:txBody>
                  <a:tcPr marL="70000" marR="70000" marT="40000" marB="40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TP / (TP + FN)</a:t>
                      </a:r>
                    </a:p>
                  </a:txBody>
                  <a:tcPr marL="70000" marR="70000" marT="40000" marB="40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8"/>
                          </a:solidFill>
                        </a:rPr>
                        <a:t>Какую долю больных тест находит?</a:t>
                      </a:r>
                    </a:p>
                  </a:txBody>
                  <a:tcPr marL="70000" marR="70000" marT="40000" marB="40000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Specificity, TNR</a:t>
                      </a:r>
                    </a:p>
                  </a:txBody>
                  <a:tcPr marL="70000" marR="7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1B2A57"/>
                          </a:solidFill>
                        </a:rPr>
                        <a:t>Специфичность</a:t>
                      </a:r>
                      <a:endParaRPr sz="1600" b="1" dirty="0">
                        <a:solidFill>
                          <a:srgbClr val="1B2A57"/>
                        </a:solidFill>
                      </a:endParaRPr>
                    </a:p>
                  </a:txBody>
                  <a:tcPr marL="70000" marR="7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TN / (TN + FP)</a:t>
                      </a:r>
                    </a:p>
                  </a:txBody>
                  <a:tcPr marL="70000" marR="7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Какую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долю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здоровых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тест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правильно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lang="ru-RU" sz="1600" b="0" dirty="0">
                          <a:solidFill>
                            <a:srgbClr val="262B38"/>
                          </a:solidFill>
                        </a:rPr>
                        <a:t>обозначает здоровыми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?</a:t>
                      </a:r>
                    </a:p>
                  </a:txBody>
                  <a:tcPr marL="70000" marR="7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FPR</a:t>
                      </a:r>
                    </a:p>
                  </a:txBody>
                  <a:tcPr marL="70000" marR="70000" marT="40000" marB="40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B2A57"/>
                          </a:solidFill>
                        </a:rPr>
                        <a:t>1 − </a:t>
                      </a:r>
                      <a:r>
                        <a:rPr sz="1600" b="1" dirty="0" err="1">
                          <a:solidFill>
                            <a:srgbClr val="1B2A57"/>
                          </a:solidFill>
                        </a:rPr>
                        <a:t>специфичность</a:t>
                      </a:r>
                      <a:endParaRPr sz="1600" b="1" dirty="0">
                        <a:solidFill>
                          <a:srgbClr val="1B2A57"/>
                        </a:solidFill>
                      </a:endParaRPr>
                    </a:p>
                  </a:txBody>
                  <a:tcPr marL="70000" marR="70000" marT="40000" marB="40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FP / (FP + TN)</a:t>
                      </a:r>
                    </a:p>
                  </a:txBody>
                  <a:tcPr marL="70000" marR="70000" marT="40000" marB="40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Какую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долю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здоровых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тест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ложно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lang="ru-RU" sz="1600" b="0" dirty="0">
                          <a:solidFill>
                            <a:srgbClr val="262B38"/>
                          </a:solidFill>
                        </a:rPr>
                        <a:t>"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тревожит</a:t>
                      </a:r>
                      <a:r>
                        <a:rPr lang="ru-RU" sz="1600" b="0" dirty="0">
                          <a:solidFill>
                            <a:srgbClr val="262B38"/>
                          </a:solidFill>
                        </a:rPr>
                        <a:t>"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?</a:t>
                      </a:r>
                    </a:p>
                  </a:txBody>
                  <a:tcPr marL="70000" marR="70000" marT="40000" marB="40000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Precision</a:t>
                      </a:r>
                    </a:p>
                  </a:txBody>
                  <a:tcPr marL="70000" marR="7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B2A57"/>
                          </a:solidFill>
                        </a:rPr>
                        <a:t>P</a:t>
                      </a:r>
                      <a:r>
                        <a:rPr lang="en-US" sz="1600" b="1" dirty="0">
                          <a:solidFill>
                            <a:srgbClr val="1B2A57"/>
                          </a:solidFill>
                        </a:rPr>
                        <a:t>PV</a:t>
                      </a:r>
                      <a:r>
                        <a:rPr lang="ru-RU" sz="1600" b="1" dirty="0">
                          <a:solidFill>
                            <a:srgbClr val="1B2A57"/>
                          </a:solidFill>
                        </a:rPr>
                        <a:t> (</a:t>
                      </a:r>
                      <a:r>
                        <a:rPr lang="en-US" sz="1600" b="1" dirty="0">
                          <a:solidFill>
                            <a:srgbClr val="1B2A57"/>
                          </a:solidFill>
                        </a:rPr>
                        <a:t>Positive Predictive Value</a:t>
                      </a:r>
                      <a:r>
                        <a:rPr lang="ru-RU" sz="1600" b="1" dirty="0">
                          <a:solidFill>
                            <a:srgbClr val="1B2A57"/>
                          </a:solidFill>
                        </a:rPr>
                        <a:t>) — </a:t>
                      </a:r>
                      <a:r>
                        <a:rPr sz="1600" b="1" dirty="0" err="1">
                          <a:solidFill>
                            <a:srgbClr val="1B2A57"/>
                          </a:solidFill>
                        </a:rPr>
                        <a:t>прогностическая</a:t>
                      </a:r>
                      <a:r>
                        <a:rPr sz="1600" b="1" dirty="0">
                          <a:solidFill>
                            <a:srgbClr val="1B2A57"/>
                          </a:solidFill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B2A57"/>
                          </a:solidFill>
                        </a:rPr>
                        <a:t>ценность</a:t>
                      </a:r>
                      <a:r>
                        <a:rPr sz="1600" b="1" dirty="0">
                          <a:solidFill>
                            <a:srgbClr val="1B2A57"/>
                          </a:solidFill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B2A57"/>
                          </a:solidFill>
                        </a:rPr>
                        <a:t>положительного</a:t>
                      </a:r>
                      <a:r>
                        <a:rPr sz="1600" b="1" dirty="0">
                          <a:solidFill>
                            <a:srgbClr val="1B2A57"/>
                          </a:solidFill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B2A57"/>
                          </a:solidFill>
                        </a:rPr>
                        <a:t>результата</a:t>
                      </a:r>
                      <a:endParaRPr sz="1600" b="1" dirty="0">
                        <a:solidFill>
                          <a:srgbClr val="1B2A57"/>
                        </a:solidFill>
                      </a:endParaRPr>
                    </a:p>
                  </a:txBody>
                  <a:tcPr marL="70000" marR="7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8"/>
                          </a:solidFill>
                        </a:rPr>
                        <a:t>TP / (TP + FP)</a:t>
                      </a:r>
                    </a:p>
                  </a:txBody>
                  <a:tcPr marL="70000" marR="70000" marT="40000" marB="400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Тест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положительный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—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насколько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вероятно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что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человек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болен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?</a:t>
                      </a:r>
                    </a:p>
                  </a:txBody>
                  <a:tcPr marL="70000" marR="70000" marT="40000" marB="400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—</a:t>
                      </a:r>
                    </a:p>
                  </a:txBody>
                  <a:tcPr marL="70000" marR="70000" marT="40000" marB="40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B2A57"/>
                          </a:solidFill>
                        </a:rPr>
                        <a:t>NPV — </a:t>
                      </a:r>
                      <a:r>
                        <a:rPr sz="1600" b="1" dirty="0" err="1">
                          <a:solidFill>
                            <a:srgbClr val="1B2A57"/>
                          </a:solidFill>
                        </a:rPr>
                        <a:t>прогностическая</a:t>
                      </a:r>
                      <a:r>
                        <a:rPr sz="1600" b="1" dirty="0">
                          <a:solidFill>
                            <a:srgbClr val="1B2A57"/>
                          </a:solidFill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B2A57"/>
                          </a:solidFill>
                        </a:rPr>
                        <a:t>ценность</a:t>
                      </a:r>
                      <a:r>
                        <a:rPr sz="1600" b="1" dirty="0">
                          <a:solidFill>
                            <a:srgbClr val="1B2A57"/>
                          </a:solidFill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B2A57"/>
                          </a:solidFill>
                        </a:rPr>
                        <a:t>отрицательного</a:t>
                      </a:r>
                      <a:r>
                        <a:rPr sz="1600" b="1" dirty="0">
                          <a:solidFill>
                            <a:srgbClr val="1B2A57"/>
                          </a:solidFill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B2A57"/>
                          </a:solidFill>
                        </a:rPr>
                        <a:t>результата</a:t>
                      </a:r>
                      <a:endParaRPr sz="1600" b="1" dirty="0">
                        <a:solidFill>
                          <a:srgbClr val="1B2A57"/>
                        </a:solidFill>
                      </a:endParaRPr>
                    </a:p>
                  </a:txBody>
                  <a:tcPr marL="70000" marR="70000" marT="40000" marB="40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8"/>
                          </a:solidFill>
                        </a:rPr>
                        <a:t>TN / (TN + FN)</a:t>
                      </a:r>
                    </a:p>
                  </a:txBody>
                  <a:tcPr marL="70000" marR="70000" marT="40000" marB="40000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Тест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отрицательный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—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насколько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вероятно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что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человек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62B38"/>
                          </a:solidFill>
                        </a:rPr>
                        <a:t>здоров</a:t>
                      </a:r>
                      <a:r>
                        <a:rPr sz="1600" b="0" dirty="0">
                          <a:solidFill>
                            <a:srgbClr val="262B38"/>
                          </a:solidFill>
                        </a:rPr>
                        <a:t>?</a:t>
                      </a:r>
                    </a:p>
                  </a:txBody>
                  <a:tcPr marL="70000" marR="70000" marT="40000" marB="40000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6906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2A49F-B89B-19D9-139B-79002FFA6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5686480E-3471-95DB-2890-DCB187AB2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013701-F1C7-6AAB-D2DD-0E78C5C961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4AF63CC-9BC3-E1FB-9970-46A48D6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Порог — решение, а не свойство модели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5E71811-CAB9-7E09-9D2F-3A881A1CBB6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Метрики качества и подводные камни оценки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7B9CDA-6719-D7BD-6F8F-C0AD1182D6F7}"/>
              </a:ext>
            </a:extLst>
          </p:cNvPr>
          <p:cNvSpPr txBox="1"/>
          <p:nvPr/>
        </p:nvSpPr>
        <p:spPr>
          <a:xfrm>
            <a:off x="587850" y="2162112"/>
            <a:ext cx="8037990" cy="378565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/>
              <a:t>Логистическая регрессия выдаёт вероятность. Класс появляется только тогда, когда мы выбрали порог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/>
              <a:t>Все «пороговые» метрики — accuracy, precision, recall, F1 — описывают пару «</a:t>
            </a:r>
            <a:r>
              <a:rPr lang="ru-RU" sz="2400" b="1" dirty="0"/>
              <a:t>модель + порог</a:t>
            </a:r>
            <a:r>
              <a:rPr lang="ru-RU" sz="2400" dirty="0"/>
              <a:t>», а не модель. Сравнивать модели по F1 при пороге по умолчанию некорректно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Порог 0.5</a:t>
            </a:r>
            <a:r>
              <a:rPr lang="ru-RU" sz="2400" dirty="0"/>
              <a:t> не имеет особого смысла: это просто значение по умолчанию в sklearn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dirty="0"/>
              <a:t>Чтобы оценить модель независимо от порога, смотрят сразу на все пороги — это и есть PR- и ROC-кривые</a:t>
            </a:r>
          </a:p>
        </p:txBody>
      </p:sp>
    </p:spTree>
    <p:extLst>
      <p:ext uri="{BB962C8B-B14F-4D97-AF65-F5344CB8AC3E}">
        <p14:creationId xmlns:p14="http://schemas.microsoft.com/office/powerpoint/2010/main" val="1164254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11FAA-23AF-2DAF-E6AC-233C5273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BBBEF1F-73DA-744C-3272-864C291455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B3E949-61CE-6C01-EC23-2CDCAAF368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A91E53B-5D9B-68EA-D2EE-FD1F19D3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Precision-Recall </a:t>
            </a:r>
            <a:r>
              <a:rPr lang="ru-RU" sz="3600" dirty="0"/>
              <a:t>кривая </a:t>
            </a:r>
            <a:r>
              <a:rPr lang="en-US" sz="3600" dirty="0"/>
              <a:t>(</a:t>
            </a:r>
            <a:r>
              <a:rPr lang="en-US" sz="3600" dirty="0" err="1"/>
              <a:t>PRCurve</a:t>
            </a:r>
            <a:r>
              <a:rPr lang="en-US" sz="3600" dirty="0"/>
              <a:t>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424DC19-A2EF-CF69-3AFA-A79D30E2F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FFE6B-C857-C23C-DF6D-2CF085435322}"/>
              </a:ext>
            </a:extLst>
          </p:cNvPr>
          <p:cNvSpPr txBox="1"/>
          <p:nvPr/>
        </p:nvSpPr>
        <p:spPr>
          <a:xfrm>
            <a:off x="9197017" y="6056496"/>
            <a:ext cx="891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 err="1">
                <a:latin typeface="HSE Sans" panose="02000000000000000000" pitchFamily="2" charset="0"/>
                <a:hlinkClick r:id="rId3"/>
              </a:rPr>
              <a:t>Loginom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31073-A7FC-1829-B494-199DA76E9B3A}"/>
              </a:ext>
            </a:extLst>
          </p:cNvPr>
          <p:cNvSpPr txBox="1"/>
          <p:nvPr/>
        </p:nvSpPr>
        <p:spPr>
          <a:xfrm>
            <a:off x="587850" y="2162112"/>
            <a:ext cx="6727350" cy="4161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Это график, который показывает </a:t>
            </a:r>
            <a:r>
              <a:rPr lang="ru-RU" b="1" dirty="0"/>
              <a:t>компромисс</a:t>
            </a:r>
            <a:r>
              <a:rPr lang="ru-RU" dirty="0"/>
              <a:t> между точностью и полнотой при изменении порога классификации</a:t>
            </a:r>
            <a:endParaRPr lang="en-US" dirty="0"/>
          </a:p>
          <a:p>
            <a:endParaRPr lang="ru-RU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Интерпретация:</a:t>
            </a:r>
            <a:r>
              <a:rPr lang="ru-RU" sz="2000" dirty="0"/>
              <a:t> Мы хотим, чтобы и точность, и полнота были высокими. Идеальная модель находится в </a:t>
            </a:r>
            <a:r>
              <a:rPr lang="ru-RU" sz="2000" b="1" dirty="0"/>
              <a:t>правом верхнем углу</a:t>
            </a:r>
            <a:r>
              <a:rPr lang="ru-RU" sz="2000" dirty="0"/>
              <a:t> (</a:t>
            </a:r>
            <a:r>
              <a:rPr lang="ru-RU" sz="2000" dirty="0" err="1"/>
              <a:t>Precision</a:t>
            </a:r>
            <a:r>
              <a:rPr lang="ru-RU" sz="2000" dirty="0"/>
              <a:t>=1, </a:t>
            </a:r>
            <a:r>
              <a:rPr lang="ru-RU" sz="2000" dirty="0" err="1"/>
              <a:t>Recall</a:t>
            </a:r>
            <a:r>
              <a:rPr lang="ru-RU" sz="2000" dirty="0"/>
              <a:t>=1)</a:t>
            </a:r>
            <a:endParaRPr lang="ru-RU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/>
              <a:t>Компромисс:</a:t>
            </a:r>
            <a:r>
              <a:rPr lang="ru-RU" sz="2000" dirty="0"/>
              <a:t> Часто, пытаясь увеличить полноту (найти всех мошенников</a:t>
            </a:r>
            <a:r>
              <a:rPr lang="en-US" sz="2000" dirty="0"/>
              <a:t>/</a:t>
            </a:r>
            <a:r>
              <a:rPr lang="ru-RU" sz="2000" dirty="0"/>
              <a:t>больных), мы вынуждены снижать порог, что ведёт к падению точности (больше ложных обвинений). Хорошая модель поддерживает высокую точность даже при высоком охвате</a:t>
            </a:r>
            <a:br>
              <a:rPr lang="ru-RU" sz="2000" dirty="0"/>
            </a:br>
            <a:endParaRPr lang="en-US" sz="2000" b="1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671151"/>
            <a:ext cx="4721030" cy="422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552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235D-3AA6-D538-08E9-82BE7A8D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48BBAE2-416D-A7DE-D5A1-455E40BD4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42E3D8-D79C-13E2-E597-9A1ABC6859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16BBAD-5C73-8418-AA55-C4EE5FF5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419FD0B-04F6-2CD5-83AD-A78E886C7C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95168D-F55C-A076-5B5A-A80B65F7615A}"/>
              </a:ext>
            </a:extLst>
          </p:cNvPr>
          <p:cNvSpPr txBox="1"/>
          <p:nvPr/>
        </p:nvSpPr>
        <p:spPr>
          <a:xfrm>
            <a:off x="1143688" y="2450743"/>
            <a:ext cx="95470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Вопрос </a:t>
            </a:r>
            <a:r>
              <a:rPr lang="en-US" sz="2000" b="1" dirty="0"/>
              <a:t>1</a:t>
            </a:r>
            <a:r>
              <a:rPr lang="ru-RU" sz="2000" b="1" dirty="0"/>
              <a:t>:</a:t>
            </a:r>
            <a:r>
              <a:rPr lang="ru-RU" sz="2000" dirty="0"/>
              <a:t> Как будет выглядеть график </a:t>
            </a:r>
            <a:r>
              <a:rPr lang="en-US" sz="2000" dirty="0"/>
              <a:t>PRC </a:t>
            </a:r>
            <a:r>
              <a:rPr lang="ru-RU" sz="2000" dirty="0"/>
              <a:t>для случайного классификатора?</a:t>
            </a:r>
            <a:r>
              <a:rPr lang="en-US" sz="2000" dirty="0"/>
              <a:t> </a:t>
            </a:r>
            <a:r>
              <a:rPr lang="ru-RU" sz="2000" dirty="0"/>
              <a:t>Почему?</a:t>
            </a:r>
            <a:br>
              <a:rPr lang="ru-RU" sz="2000" dirty="0"/>
            </a:br>
            <a:r>
              <a:rPr lang="ru-RU" sz="2000" b="1" dirty="0"/>
              <a:t>(0.2 балла)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70E21BC-CD6B-540A-26D6-05895CFAF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27F90-C6C3-2AF2-C2FC-E6B1C129220C}"/>
              </a:ext>
            </a:extLst>
          </p:cNvPr>
          <p:cNvSpPr txBox="1"/>
          <p:nvPr/>
        </p:nvSpPr>
        <p:spPr>
          <a:xfrm>
            <a:off x="1089305" y="3499315"/>
            <a:ext cx="634262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HSE Sans" panose="02000000000000000000" pitchFamily="2" charset="0"/>
              </a:rPr>
              <a:t>Это зависит от баланса классов</a:t>
            </a:r>
            <a:r>
              <a:rPr lang="ru-RU" sz="2000" dirty="0">
                <a:latin typeface="HSE Sans" panose="02000000000000000000" pitchFamily="2" charset="0"/>
              </a:rPr>
              <a:t>.</a:t>
            </a:r>
            <a:br>
              <a:rPr lang="ru-RU" sz="2000" dirty="0">
                <a:latin typeface="HSE Sans" panose="02000000000000000000" pitchFamily="2" charset="0"/>
              </a:rPr>
            </a:br>
            <a:r>
              <a:rPr lang="ru-RU" sz="2000" dirty="0">
                <a:latin typeface="HSE Sans" panose="02000000000000000000" pitchFamily="2" charset="0"/>
              </a:rPr>
              <a:t>По сути </a:t>
            </a:r>
            <a:r>
              <a:rPr lang="ru-RU" sz="2000" dirty="0" err="1">
                <a:latin typeface="HSE Sans" panose="02000000000000000000" pitchFamily="2" charset="0"/>
              </a:rPr>
              <a:t>бейзлайном</a:t>
            </a:r>
            <a:r>
              <a:rPr lang="ru-RU" sz="2000" dirty="0">
                <a:latin typeface="HSE Sans" panose="02000000000000000000" pitchFamily="2" charset="0"/>
              </a:rPr>
              <a:t> будет являться горизонтальная линия вдоль оси </a:t>
            </a:r>
            <a:r>
              <a:rPr lang="en-US" sz="2000" dirty="0" err="1">
                <a:latin typeface="HSE Sans" panose="02000000000000000000" pitchFamily="2" charset="0"/>
              </a:rPr>
              <a:t>oX</a:t>
            </a:r>
            <a:r>
              <a:rPr lang="en-US" sz="2000" dirty="0">
                <a:latin typeface="HSE Sans" panose="02000000000000000000" pitchFamily="2" charset="0"/>
              </a:rPr>
              <a:t> (</a:t>
            </a:r>
            <a:r>
              <a:rPr lang="ru-RU" sz="2000" dirty="0">
                <a:latin typeface="HSE Sans" panose="02000000000000000000" pitchFamily="2" charset="0"/>
              </a:rPr>
              <a:t>оси </a:t>
            </a:r>
            <a:r>
              <a:rPr lang="en-US" sz="2000" dirty="0">
                <a:latin typeface="HSE Sans" panose="02000000000000000000" pitchFamily="2" charset="0"/>
              </a:rPr>
              <a:t>Recall)</a:t>
            </a:r>
            <a:r>
              <a:rPr lang="ru-RU" sz="2000" dirty="0">
                <a:latin typeface="HSE Sans" panose="02000000000000000000" pitchFamily="2" charset="0"/>
              </a:rPr>
              <a:t> на уровне, где значение </a:t>
            </a:r>
            <a:r>
              <a:rPr lang="en-US" sz="2000" dirty="0">
                <a:latin typeface="HSE Sans" panose="02000000000000000000" pitchFamily="2" charset="0"/>
              </a:rPr>
              <a:t>Precision </a:t>
            </a:r>
            <a:r>
              <a:rPr lang="ru-RU" sz="2000" dirty="0">
                <a:latin typeface="HSE Sans" panose="02000000000000000000" pitchFamily="2" charset="0"/>
              </a:rPr>
              <a:t>равно соотношению классов.</a:t>
            </a:r>
            <a:br>
              <a:rPr lang="ru-RU" sz="2000" dirty="0">
                <a:latin typeface="HSE Sans" panose="02000000000000000000" pitchFamily="2" charset="0"/>
              </a:rPr>
            </a:br>
            <a:r>
              <a:rPr lang="ru-RU" sz="2000" dirty="0">
                <a:latin typeface="HSE Sans" panose="02000000000000000000" pitchFamily="2" charset="0"/>
              </a:rPr>
              <a:t>Например, если соотношение классов 50/50, то график </a:t>
            </a:r>
            <a:r>
              <a:rPr lang="en-US" sz="2000" dirty="0">
                <a:latin typeface="HSE Sans" panose="02000000000000000000" pitchFamily="2" charset="0"/>
              </a:rPr>
              <a:t>PRC </a:t>
            </a:r>
            <a:r>
              <a:rPr lang="ru-RU" sz="2000" dirty="0">
                <a:latin typeface="HSE Sans" panose="02000000000000000000" pitchFamily="2" charset="0"/>
              </a:rPr>
              <a:t>для случайного классификатора будет примерно следующий: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3381451F-A5B3-FE15-6A2D-0FCBC4CBC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035" y="2450743"/>
            <a:ext cx="707886" cy="70788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1931" y="3158628"/>
            <a:ext cx="4373465" cy="329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5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11FAA-23AF-2DAF-E6AC-233C5273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BBBEF1F-73DA-744C-3272-864C291455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B3E949-61CE-6C01-EC23-2CDCAAF368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A91E53B-5D9B-68EA-D2EE-FD1F19D3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ROC-</a:t>
            </a:r>
            <a:r>
              <a:rPr lang="ru-RU" sz="3600" dirty="0"/>
              <a:t>кривая: идея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424DC19-A2EF-CF69-3AFA-A79D30E2F2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FFE6B-C857-C23C-DF6D-2CF085435322}"/>
              </a:ext>
            </a:extLst>
          </p:cNvPr>
          <p:cNvSpPr txBox="1"/>
          <p:nvPr/>
        </p:nvSpPr>
        <p:spPr>
          <a:xfrm>
            <a:off x="9197017" y="6056496"/>
            <a:ext cx="891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 err="1">
                <a:latin typeface="HSE Sans" panose="02000000000000000000" pitchFamily="2" charset="0"/>
                <a:hlinkClick r:id="rId3"/>
              </a:rPr>
              <a:t>Loginom</a:t>
            </a:r>
            <a:endParaRPr lang="ru-RU" sz="1000" dirty="0">
              <a:latin typeface="HSE Sans" panose="020000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631073-A7FC-1829-B494-199DA76E9B3A}"/>
                  </a:ext>
                </a:extLst>
              </p:cNvPr>
              <p:cNvSpPr txBox="1"/>
              <p:nvPr/>
            </p:nvSpPr>
            <p:spPr>
              <a:xfrm>
                <a:off x="585897" y="2032803"/>
                <a:ext cx="6630072" cy="4609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/>
                  <a:t>Площадь под </a:t>
                </a:r>
                <a:r>
                  <a:rPr lang="en-US" dirty="0"/>
                  <a:t>ROC-</a:t>
                </a:r>
                <a:r>
                  <a:rPr lang="ru-RU" dirty="0"/>
                  <a:t>кривой (</a:t>
                </a:r>
                <a:r>
                  <a:rPr lang="en-US" dirty="0"/>
                  <a:t>AUC ROC: Area Under the Curve, Receiver Operating Characteristic) </a:t>
                </a:r>
                <a:r>
                  <a:rPr lang="ru-RU" dirty="0"/>
                  <a:t>показывает, н</a:t>
                </a:r>
                <a:r>
                  <a:rPr lang="ru-RU" sz="2000" dirty="0"/>
                  <a:t>асколько хорошо модель отличает два класса между собой («да» от «нет»)</a:t>
                </a:r>
              </a:p>
              <a:p>
                <a:endParaRPr lang="ru-RU" sz="20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ru-RU" sz="2000" b="1" dirty="0" err="1"/>
                  <a:t>True</a:t>
                </a:r>
                <a:r>
                  <a:rPr lang="ru-RU" sz="2000" b="1" dirty="0"/>
                  <a:t> </a:t>
                </a:r>
                <a:r>
                  <a:rPr lang="ru-RU" sz="2000" b="1" dirty="0" err="1"/>
                  <a:t>Positive</a:t>
                </a:r>
                <a:r>
                  <a:rPr lang="ru-RU" sz="2000" b="1" dirty="0"/>
                  <a:t> </a:t>
                </a:r>
                <a:r>
                  <a:rPr lang="ru-RU" sz="2000" b="1" dirty="0" err="1"/>
                  <a:t>Rate</a:t>
                </a:r>
                <a:r>
                  <a:rPr lang="ru-RU" sz="2000" b="1" dirty="0"/>
                  <a:t> (TPR) </a:t>
                </a:r>
                <a:r>
                  <a:rPr lang="ru-RU" sz="2000" dirty="0"/>
                  <a:t>/ Чувствительность:</a:t>
                </a:r>
                <a:br>
                  <a:rPr lang="ru-RU" sz="2000" dirty="0"/>
                </a:br>
                <a:r>
                  <a:rPr lang="ru-RU" sz="2000" dirty="0"/>
                  <a:t>Какую долю </a:t>
                </a:r>
                <a:r>
                  <a:rPr lang="ru-RU" sz="2000" b="1" dirty="0"/>
                  <a:t>реально положительных</a:t>
                </a:r>
                <a:r>
                  <a:rPr lang="ru-RU" sz="2000" dirty="0"/>
                  <a:t> объектов мы правильно определили?</a:t>
                </a:r>
                <a:br>
                  <a:rPr lang="ru-RU" sz="2000" dirty="0"/>
                </a:b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𝑇𝑃𝑅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ru-RU" sz="20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ru-RU" sz="20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False Positive Rate (FPR):</a:t>
                </a:r>
                <a:r>
                  <a:rPr lang="ru-RU" sz="2000" b="1" dirty="0"/>
                  <a:t> </a:t>
                </a:r>
                <a:br>
                  <a:rPr lang="ru-RU" sz="2000" b="1" dirty="0"/>
                </a:br>
                <a:r>
                  <a:rPr lang="ru-RU" sz="2000" dirty="0"/>
                  <a:t>Какую долю </a:t>
                </a:r>
                <a:r>
                  <a:rPr lang="ru-RU" sz="2000" b="1" dirty="0"/>
                  <a:t>реально отрицательных</a:t>
                </a:r>
                <a:r>
                  <a:rPr lang="ru-RU" sz="2000" dirty="0"/>
                  <a:t> объектов мы ошибочно назвали положительными?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ru-RU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𝑇𝑁</m:t>
                          </m:r>
                        </m:den>
                      </m:f>
                    </m:oMath>
                  </m:oMathPara>
                </a14:m>
                <a:br>
                  <a:rPr lang="ru-RU" sz="2000" dirty="0"/>
                </a:br>
                <a:endParaRPr lang="en-US" sz="20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5631073-A7FC-1829-B494-199DA76E9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897" y="2032803"/>
                <a:ext cx="6630072" cy="4609916"/>
              </a:xfrm>
              <a:prstGeom prst="rect">
                <a:avLst/>
              </a:prstGeom>
              <a:blipFill>
                <a:blip r:embed="rId4"/>
                <a:stretch>
                  <a:fillRect l="-919" t="-661" r="-11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5"/>
          <a:srcRect l="22705" t="7657" r="31002" b="8117"/>
          <a:stretch/>
        </p:blipFill>
        <p:spPr>
          <a:xfrm>
            <a:off x="7217922" y="1634247"/>
            <a:ext cx="4167840" cy="426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08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235D-3AA6-D538-08E9-82BE7A8D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48BBAE2-416D-A7DE-D5A1-455E40BD4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42E3D8-D79C-13E2-E597-9A1ABC6859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16BBAD-5C73-8418-AA55-C4EE5FF5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419FD0B-04F6-2CD5-83AD-A78E886C7C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95168D-F55C-A076-5B5A-A80B65F7615A}"/>
              </a:ext>
            </a:extLst>
          </p:cNvPr>
          <p:cNvSpPr txBox="1"/>
          <p:nvPr/>
        </p:nvSpPr>
        <p:spPr>
          <a:xfrm>
            <a:off x="1143689" y="2450743"/>
            <a:ext cx="9286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Вопрос </a:t>
            </a:r>
            <a:r>
              <a:rPr lang="en-US" sz="2000" b="1" dirty="0"/>
              <a:t>2</a:t>
            </a:r>
            <a:r>
              <a:rPr lang="ru-RU" sz="2000" b="1" dirty="0"/>
              <a:t>:</a:t>
            </a:r>
            <a:r>
              <a:rPr lang="ru-RU" sz="2000" dirty="0"/>
              <a:t> Можно ли считать показатель </a:t>
            </a:r>
            <a:r>
              <a:rPr lang="en-US" sz="2000" dirty="0"/>
              <a:t>ROC AUC 0.95</a:t>
            </a:r>
            <a:r>
              <a:rPr lang="ru-RU" sz="2000" dirty="0"/>
              <a:t> </a:t>
            </a:r>
            <a:r>
              <a:rPr lang="ru-RU" sz="2000" u="sng" dirty="0"/>
              <a:t>безусловно</a:t>
            </a:r>
            <a:r>
              <a:rPr lang="ru-RU" sz="2000" dirty="0"/>
              <a:t> «хорошим»</a:t>
            </a:r>
            <a:r>
              <a:rPr lang="en-US" sz="2000" dirty="0"/>
              <a:t> </a:t>
            </a:r>
            <a:r>
              <a:rPr lang="ru-RU" sz="2000" dirty="0"/>
              <a:t>при любом выбранном пороге</a:t>
            </a:r>
            <a:r>
              <a:rPr lang="en-US" sz="2000" dirty="0"/>
              <a:t>?</a:t>
            </a:r>
            <a:r>
              <a:rPr lang="ru-RU" sz="2000" dirty="0"/>
              <a:t> Аргументируйте. </a:t>
            </a:r>
            <a:r>
              <a:rPr lang="ru-RU" sz="2000" b="1" dirty="0"/>
              <a:t>(0.2 балла)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70E21BC-CD6B-540A-26D6-05895CFAF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27F90-C6C3-2AF2-C2FC-E6B1C129220C}"/>
              </a:ext>
            </a:extLst>
          </p:cNvPr>
          <p:cNvSpPr txBox="1"/>
          <p:nvPr/>
        </p:nvSpPr>
        <p:spPr>
          <a:xfrm>
            <a:off x="1089305" y="3499315"/>
            <a:ext cx="100133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latin typeface="HSE Sans" panose="02000000000000000000" pitchFamily="2" charset="0"/>
              </a:rPr>
              <a:t>Зависит от баланса классов</a:t>
            </a:r>
            <a:r>
              <a:rPr lang="ru-RU" sz="2000" dirty="0">
                <a:latin typeface="HSE Sans" panose="02000000000000000000" pitchFamily="2" charset="0"/>
              </a:rPr>
              <a:t>.</a:t>
            </a:r>
            <a:br>
              <a:rPr lang="ru-RU" sz="2000" dirty="0">
                <a:latin typeface="HSE Sans" panose="02000000000000000000" pitchFamily="2" charset="0"/>
              </a:rPr>
            </a:br>
            <a:r>
              <a:rPr lang="ru-RU" sz="2000" dirty="0">
                <a:latin typeface="HSE Sans" panose="02000000000000000000" pitchFamily="2" charset="0"/>
              </a:rPr>
              <a:t>Например, если в </a:t>
            </a:r>
            <a:r>
              <a:rPr lang="ru-RU" sz="2000" dirty="0" err="1">
                <a:latin typeface="HSE Sans" panose="02000000000000000000" pitchFamily="2" charset="0"/>
              </a:rPr>
              <a:t>датасете</a:t>
            </a:r>
            <a:r>
              <a:rPr lang="ru-RU" sz="2000" dirty="0">
                <a:latin typeface="HSE Sans" panose="02000000000000000000" pitchFamily="2" charset="0"/>
              </a:rPr>
              <a:t> у нас 9990 здоровых (класс 0) и 10 больных (класс 1). </a:t>
            </a:r>
            <a:br>
              <a:rPr lang="ru-RU" sz="2000" dirty="0">
                <a:latin typeface="HSE Sans" panose="02000000000000000000" pitchFamily="2" charset="0"/>
              </a:rPr>
            </a:br>
            <a:r>
              <a:rPr lang="ru-RU" sz="2000" dirty="0">
                <a:latin typeface="HSE Sans" panose="02000000000000000000" pitchFamily="2" charset="0"/>
              </a:rPr>
              <a:t>Модель нашла 9 из 10 больных (хороший </a:t>
            </a:r>
            <a:r>
              <a:rPr lang="ru-RU" sz="2000" dirty="0" err="1">
                <a:latin typeface="HSE Sans" panose="02000000000000000000" pitchFamily="2" charset="0"/>
              </a:rPr>
              <a:t>Recall</a:t>
            </a:r>
            <a:r>
              <a:rPr lang="en-US" sz="2000" dirty="0">
                <a:latin typeface="HSE Sans" panose="02000000000000000000" pitchFamily="2" charset="0"/>
              </a:rPr>
              <a:t>/</a:t>
            </a:r>
            <a:r>
              <a:rPr lang="ru-RU" sz="2000" dirty="0">
                <a:latin typeface="HSE Sans" panose="02000000000000000000" pitchFamily="2" charset="0"/>
              </a:rPr>
              <a:t>TPR). </a:t>
            </a:r>
            <a:br>
              <a:rPr lang="en-US" sz="2000" dirty="0">
                <a:latin typeface="HSE Sans" panose="02000000000000000000" pitchFamily="2" charset="0"/>
              </a:rPr>
            </a:br>
            <a:r>
              <a:rPr lang="ru-RU" sz="2000" dirty="0">
                <a:latin typeface="HSE Sans" panose="02000000000000000000" pitchFamily="2" charset="0"/>
              </a:rPr>
              <a:t>FPR тоже хороший – 0.05, но это значит, что из 9990 здоровых модель посчитала 499 человек больными. То есть Precision у такой модели 1.8%.</a:t>
            </a:r>
            <a:br>
              <a:rPr lang="ru-RU" sz="2000" dirty="0">
                <a:latin typeface="HSE Sans" panose="02000000000000000000" pitchFamily="2" charset="0"/>
              </a:rPr>
            </a:br>
            <a:br>
              <a:rPr lang="ru-RU" sz="2000" dirty="0">
                <a:latin typeface="HSE Sans" panose="02000000000000000000" pitchFamily="2" charset="0"/>
              </a:rPr>
            </a:br>
            <a:r>
              <a:rPr lang="ru-RU" sz="2000" dirty="0">
                <a:latin typeface="HSE Sans" panose="02000000000000000000" pitchFamily="2" charset="0"/>
              </a:rPr>
              <a:t>Да, модель выявила почти всех больных, но при этом доля ложноположительных срабатываний слишком велика и итоговая </a:t>
            </a:r>
            <a:r>
              <a:rPr lang="en-US" sz="2000" dirty="0">
                <a:latin typeface="HSE Sans" panose="02000000000000000000" pitchFamily="2" charset="0"/>
              </a:rPr>
              <a:t>F1 </a:t>
            </a:r>
            <a:r>
              <a:rPr lang="ru-RU" sz="2000" dirty="0">
                <a:latin typeface="HSE Sans" panose="02000000000000000000" pitchFamily="2" charset="0"/>
              </a:rPr>
              <a:t>мера будет очень низкой.</a:t>
            </a: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3381451F-A5B3-FE15-6A2D-0FCBC4CBC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35" y="2450743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8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40198-A2EF-A16E-B776-1F476B100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F6F07B2-B8EC-1108-88D4-47113D81A6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8B7865-D7D6-90A7-593A-BB32F3CDBD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1B03CD6-5B6E-88C2-B733-48E6757D7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Дисбаланс классов – проблема «иголок в стоге сена»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69D939C6-BE03-8C7B-75D8-00E38310F1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D4CE1E-EE0C-9F08-B13E-9924BB261E21}"/>
              </a:ext>
            </a:extLst>
          </p:cNvPr>
          <p:cNvSpPr txBox="1"/>
          <p:nvPr/>
        </p:nvSpPr>
        <p:spPr>
          <a:xfrm>
            <a:off x="587850" y="2162112"/>
            <a:ext cx="550815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Дисбаланс классов</a:t>
            </a:r>
            <a:r>
              <a:rPr lang="ru-RU" sz="2000" dirty="0"/>
              <a:t> — это ситуация, когда один класс в данных встречается значительно чаще другого (например, </a:t>
            </a:r>
            <a:r>
              <a:rPr lang="ru-RU" sz="2000" b="1" dirty="0"/>
              <a:t>класс 0 </a:t>
            </a:r>
            <a:r>
              <a:rPr lang="ru-RU" sz="2000" dirty="0"/>
              <a:t>- </a:t>
            </a:r>
            <a:r>
              <a:rPr lang="ru-RU" sz="2000" b="1" dirty="0"/>
              <a:t>99%</a:t>
            </a:r>
            <a:r>
              <a:rPr lang="ru-RU" sz="2000" dirty="0"/>
              <a:t>, </a:t>
            </a:r>
            <a:r>
              <a:rPr lang="ru-RU" sz="2000" b="1" dirty="0"/>
              <a:t>класс 1 </a:t>
            </a:r>
            <a:r>
              <a:rPr lang="ru-RU" sz="2000" dirty="0"/>
              <a:t>– </a:t>
            </a:r>
            <a:r>
              <a:rPr lang="ru-RU" sz="2000" b="1" dirty="0"/>
              <a:t>1%)</a:t>
            </a:r>
            <a:br>
              <a:rPr lang="ru-RU" sz="2000" dirty="0"/>
            </a:br>
            <a:br>
              <a:rPr lang="ru-RU" sz="2000" dirty="0"/>
            </a:br>
            <a:r>
              <a:rPr lang="ru-RU" sz="2000" b="1" dirty="0"/>
              <a:t>Главная опасность:</a:t>
            </a:r>
            <a:r>
              <a:rPr lang="ru-RU" sz="2000" dirty="0"/>
              <a:t> Модели, оптимизирующие общую точность всех предсказаний, склонны к жульничеству. </a:t>
            </a:r>
            <a:br>
              <a:rPr lang="ru-RU" sz="2000" dirty="0"/>
            </a:br>
            <a:r>
              <a:rPr lang="ru-RU" sz="2000" dirty="0"/>
              <a:t>Модель может достичь 99% точности, просто всегда предсказывая доминирующий класс, но при этом будет абсолютно бесполезной, так как никогда не найдет редкие, но важные события</a:t>
            </a:r>
            <a:br>
              <a:rPr lang="ru-RU" sz="2000" dirty="0"/>
            </a:br>
            <a:br>
              <a:rPr lang="ru-RU" sz="2000" dirty="0"/>
            </a:br>
            <a:endParaRPr lang="en-US" sz="2000" b="1" dirty="0"/>
          </a:p>
        </p:txBody>
      </p:sp>
      <p:pic>
        <p:nvPicPr>
          <p:cNvPr id="1026" name="Picture 2" descr="Нужно ли бояться несбалансированности классов? / Хабр">
            <a:extLst>
              <a:ext uri="{FF2B5EF4-FFF2-40B4-BE49-F238E27FC236}">
                <a16:creationId xmlns:a16="http://schemas.microsoft.com/office/drawing/2014/main" id="{74E224E6-50D8-C421-10AF-8C65B853E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80" y="2447922"/>
            <a:ext cx="6136506" cy="2770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01D92D-EF9D-ACF7-0CA5-11B49B3ECD12}"/>
              </a:ext>
            </a:extLst>
          </p:cNvPr>
          <p:cNvSpPr txBox="1"/>
          <p:nvPr/>
        </p:nvSpPr>
        <p:spPr>
          <a:xfrm>
            <a:off x="8537563" y="5767702"/>
            <a:ext cx="8915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latin typeface="HSE Sans" panose="02000000000000000000" pitchFamily="2" charset="0"/>
                <a:hlinkClick r:id="rId4"/>
              </a:rPr>
              <a:t>Habr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2682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46A66-264C-0652-F093-4B8377908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87975EB3-BD1E-7BAB-82F9-8779BEC062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66D643-5810-A0D7-B4A7-DD097202E2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53FF708-BB74-1559-C8BC-776FBDC8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Дисбаланс классов – что делать?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4898D3-9173-498E-F9E2-3D800B7614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AB8D9-6CB5-36E8-1911-E47B913F19DB}"/>
              </a:ext>
            </a:extLst>
          </p:cNvPr>
          <p:cNvSpPr txBox="1"/>
          <p:nvPr/>
        </p:nvSpPr>
        <p:spPr>
          <a:xfrm>
            <a:off x="548148" y="1986621"/>
            <a:ext cx="1089295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Методы на уровне данных (только </a:t>
            </a:r>
            <a:r>
              <a:rPr lang="en-US" sz="2000" b="1" dirty="0"/>
              <a:t>Train</a:t>
            </a:r>
            <a:r>
              <a:rPr lang="en-US" sz="2000" dirty="0"/>
              <a:t>)</a:t>
            </a:r>
            <a:r>
              <a:rPr lang="ru-RU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err="1"/>
              <a:t>Undersampling</a:t>
            </a:r>
            <a:r>
              <a:rPr lang="ru-RU" sz="2000" b="1" dirty="0"/>
              <a:t> (Уменьшение выборки большинства):</a:t>
            </a:r>
            <a:r>
              <a:rPr lang="ru-RU" sz="2000" dirty="0"/>
              <a:t> Случайное удаление примеров из доминирующего класса.</a:t>
            </a:r>
            <a:br>
              <a:rPr lang="en-US" sz="2000" dirty="0"/>
            </a:br>
            <a:r>
              <a:rPr lang="ru-RU" sz="2000" b="1" dirty="0"/>
              <a:t>(+)</a:t>
            </a:r>
            <a:r>
              <a:rPr lang="ru-RU" sz="2000" dirty="0"/>
              <a:t> Ускоряет обучение.</a:t>
            </a:r>
            <a:br>
              <a:rPr lang="en-US" sz="2000" dirty="0"/>
            </a:br>
            <a:r>
              <a:rPr lang="ru-RU" sz="2000" b="1" dirty="0"/>
              <a:t>(-)</a:t>
            </a:r>
            <a:r>
              <a:rPr lang="ru-RU" sz="2000" dirty="0"/>
              <a:t> Можно потерять важную информацию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 err="1"/>
              <a:t>Oversampling</a:t>
            </a:r>
            <a:r>
              <a:rPr lang="ru-RU" sz="2000" b="1" dirty="0"/>
              <a:t> (Увеличение выборки меньшинства):</a:t>
            </a:r>
            <a:r>
              <a:rPr lang="ru-RU" sz="2000" dirty="0"/>
              <a:t> Создание дубликатов или синтетических примеров редкого класса.</a:t>
            </a:r>
            <a:br>
              <a:rPr lang="en-US" sz="2000" dirty="0"/>
            </a:br>
            <a:r>
              <a:rPr lang="ru-RU" sz="2000" b="1" dirty="0"/>
              <a:t>(+)</a:t>
            </a:r>
            <a:r>
              <a:rPr lang="ru-RU" sz="2000" dirty="0"/>
              <a:t> Не теряется информация.</a:t>
            </a:r>
            <a:br>
              <a:rPr lang="en-US" sz="2000" dirty="0"/>
            </a:br>
            <a:r>
              <a:rPr lang="ru-RU" sz="2000" b="1" dirty="0"/>
              <a:t>(-)</a:t>
            </a:r>
            <a:r>
              <a:rPr lang="ru-RU" sz="2000" dirty="0"/>
              <a:t> Риск переобучения на "выдуманных" 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ru-RU" sz="2000" dirty="0"/>
              <a:t>Метод на уровне модели</a:t>
            </a:r>
            <a:r>
              <a:rPr lang="en-US" sz="2000" dirty="0"/>
              <a:t> - </a:t>
            </a:r>
            <a:r>
              <a:rPr lang="ru-RU" sz="2000" b="1" dirty="0"/>
              <a:t>Взвешивание классов</a:t>
            </a:r>
            <a:r>
              <a:rPr lang="en-US" sz="2000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Мы "штрафуем" модель гораздо сильнее за ошибки на редком классе. Это заставляет модель уделять ему больше внимания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В функцию потерь добавляется </a:t>
            </a:r>
            <a:r>
              <a:rPr lang="ru-RU" sz="2000" b="1" dirty="0"/>
              <a:t>вес для каждого класса</a:t>
            </a:r>
            <a:r>
              <a:rPr lang="ru-RU" sz="2000" dirty="0"/>
              <a:t>. Вес редкого класса большим, а вес частого — маленьким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60301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88D1-E36C-285D-4252-1CD02A422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C4750FF-318D-3704-D02D-AC419B29F8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EB3C31-7104-1BB1-2EA1-A0631EB32A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A7AD6D6-62B0-F6F9-6B0A-F721D7D70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Утечки данных (</a:t>
            </a:r>
            <a:r>
              <a:rPr lang="en-US" sz="3600" dirty="0"/>
              <a:t>Data Leakage)</a:t>
            </a:r>
            <a:endParaRPr lang="ru-RU" sz="3600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FA6C6A1-0CA9-3727-BC88-6F2F231CA3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F2DC0B-A433-B0CB-F315-8D6079DB07F7}"/>
              </a:ext>
            </a:extLst>
          </p:cNvPr>
          <p:cNvSpPr txBox="1"/>
          <p:nvPr/>
        </p:nvSpPr>
        <p:spPr>
          <a:xfrm>
            <a:off x="587850" y="2077323"/>
            <a:ext cx="639253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Почему моя модель была идеальной, а в жизни не работает?</a:t>
            </a:r>
            <a:br>
              <a:rPr lang="ru-RU" sz="2000" dirty="0"/>
            </a:br>
            <a:br>
              <a:rPr lang="ru-RU" sz="2000" dirty="0"/>
            </a:br>
            <a:r>
              <a:rPr lang="ru-RU" sz="2000" b="1" dirty="0"/>
              <a:t>Утечка данных (Data </a:t>
            </a:r>
            <a:r>
              <a:rPr lang="ru-RU" sz="2000" b="1" dirty="0" err="1"/>
              <a:t>Leakage</a:t>
            </a:r>
            <a:r>
              <a:rPr lang="ru-RU" sz="2000" b="1" dirty="0"/>
              <a:t>)</a:t>
            </a:r>
            <a:r>
              <a:rPr lang="ru-RU" sz="2000" dirty="0"/>
              <a:t> — это ситуация, когда в процессе обучения модель получает доступ к информации, которая </a:t>
            </a:r>
            <a:r>
              <a:rPr lang="ru-RU" sz="2000" b="1" dirty="0"/>
              <a:t>не будет доступна</a:t>
            </a:r>
            <a:r>
              <a:rPr lang="ru-RU" sz="2000" dirty="0"/>
              <a:t> в момент реального предсказания</a:t>
            </a:r>
            <a:br>
              <a:rPr lang="ru-RU" sz="2000" dirty="0"/>
            </a:br>
            <a:br>
              <a:rPr lang="ru-RU" sz="2000" dirty="0"/>
            </a:br>
            <a:r>
              <a:rPr lang="ru-RU" sz="2000" b="1" dirty="0"/>
              <a:t>Аналогия:</a:t>
            </a:r>
            <a:r>
              <a:rPr lang="ru-RU" sz="2000" dirty="0"/>
              <a:t> Вы создаёте модель для предсказания цены акции на завтра, но случайно подаёте ей в качестве признака "изменение цены за завтрашний день". Модель покажет 100% точность, но она абсолютно бесполезна, так как в реальности вы не знаете эту информацию заранее</a:t>
            </a:r>
            <a:endParaRPr lang="en-US" sz="2000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337C6FD-F69C-86C8-742D-80C05B7E4A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10" b="8784"/>
          <a:stretch>
            <a:fillRect/>
          </a:stretch>
        </p:blipFill>
        <p:spPr>
          <a:xfrm>
            <a:off x="6980382" y="2032000"/>
            <a:ext cx="4859926" cy="422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31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F049E-6F8D-7DB5-9C4C-71F10406F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BE7E89A5-596A-83DE-81FD-CE1B581CB6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7FDCCC-DA77-44C4-C691-9E465CE0110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FB77C18-783D-E802-1C6F-16CB5CAA3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Утечки данных (</a:t>
            </a:r>
            <a:r>
              <a:rPr lang="en-US" sz="3600" dirty="0"/>
              <a:t>Data Leakage)</a:t>
            </a:r>
            <a:r>
              <a:rPr lang="ru-RU" sz="3600" dirty="0"/>
              <a:t> – основные причины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6CC6E94-7190-A799-187B-9E25B29444B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4B2C2E-CE4D-0682-4755-7AD431DF1858}"/>
              </a:ext>
            </a:extLst>
          </p:cNvPr>
          <p:cNvSpPr txBox="1"/>
          <p:nvPr/>
        </p:nvSpPr>
        <p:spPr>
          <a:xfrm>
            <a:off x="587849" y="2077323"/>
            <a:ext cx="11271641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Предобработка данных ДО разделения выборки</a:t>
            </a:r>
            <a:br>
              <a:rPr lang="ru-RU" b="1" dirty="0"/>
            </a:br>
            <a:r>
              <a:rPr lang="ru-RU" b="1" dirty="0"/>
              <a:t>Проблема:</a:t>
            </a:r>
            <a:r>
              <a:rPr lang="ru-RU" dirty="0"/>
              <a:t> Вы делаете масштабирование (</a:t>
            </a:r>
            <a:r>
              <a:rPr lang="ru-RU" sz="1600" dirty="0" err="1"/>
              <a:t>StandardScaler</a:t>
            </a:r>
            <a:r>
              <a:rPr lang="ru-RU" dirty="0"/>
              <a:t>), заполнение пропусков (</a:t>
            </a:r>
            <a:r>
              <a:rPr lang="ru-RU" sz="1600" dirty="0" err="1"/>
              <a:t>Imputer</a:t>
            </a:r>
            <a:r>
              <a:rPr lang="ru-RU" dirty="0"/>
              <a:t>) или кодирование на </a:t>
            </a:r>
            <a:r>
              <a:rPr lang="ru-RU" b="1" dirty="0"/>
              <a:t>всём наборе данных</a:t>
            </a:r>
            <a:r>
              <a:rPr lang="ru-RU" dirty="0"/>
              <a:t>, и только потом делите его на </a:t>
            </a:r>
            <a:r>
              <a:rPr lang="ru-RU" sz="1600" dirty="0" err="1"/>
              <a:t>train</a:t>
            </a:r>
            <a:r>
              <a:rPr lang="ru-RU" dirty="0"/>
              <a:t> и </a:t>
            </a:r>
            <a:r>
              <a:rPr lang="ru-RU" sz="1600" dirty="0" err="1"/>
              <a:t>test</a:t>
            </a:r>
            <a:r>
              <a:rPr lang="ru-RU" dirty="0"/>
              <a:t>. В этом случае </a:t>
            </a:r>
            <a:r>
              <a:rPr lang="ru-RU" sz="1600" dirty="0" err="1"/>
              <a:t>train</a:t>
            </a:r>
            <a:r>
              <a:rPr lang="ru-RU" dirty="0"/>
              <a:t> часть данных "узнаёт" о распределении (среднем, медиане) тестовой части</a:t>
            </a:r>
            <a:br>
              <a:rPr lang="ru-RU" dirty="0"/>
            </a:br>
            <a:r>
              <a:rPr lang="ru-RU" b="1" dirty="0"/>
              <a:t>Решение: ВСЕГДА</a:t>
            </a:r>
            <a:r>
              <a:rPr lang="ru-RU" dirty="0"/>
              <a:t> сначала делите данные на </a:t>
            </a:r>
            <a:r>
              <a:rPr lang="ru-RU" b="1" dirty="0" err="1"/>
              <a:t>train</a:t>
            </a:r>
            <a:r>
              <a:rPr lang="ru-RU" sz="2000" dirty="0"/>
              <a:t> </a:t>
            </a:r>
            <a:r>
              <a:rPr lang="ru-RU" dirty="0"/>
              <a:t>и</a:t>
            </a:r>
            <a:r>
              <a:rPr lang="ru-RU" sz="2000" dirty="0"/>
              <a:t> </a:t>
            </a:r>
            <a:r>
              <a:rPr lang="ru-RU" b="1" dirty="0" err="1"/>
              <a:t>test</a:t>
            </a:r>
            <a:r>
              <a:rPr lang="ru-RU" dirty="0"/>
              <a:t>. Любые шаги предобработки должны "обучаться" (</a:t>
            </a:r>
            <a:r>
              <a:rPr lang="ru-RU" sz="1600" dirty="0"/>
              <a:t>.</a:t>
            </a:r>
            <a:r>
              <a:rPr lang="ru-RU" sz="1600" dirty="0" err="1"/>
              <a:t>fit</a:t>
            </a:r>
            <a:r>
              <a:rPr lang="ru-RU" sz="1600" dirty="0"/>
              <a:t>()</a:t>
            </a:r>
            <a:r>
              <a:rPr lang="ru-RU" dirty="0"/>
              <a:t>) </a:t>
            </a:r>
            <a:r>
              <a:rPr lang="ru-RU" b="1" dirty="0"/>
              <a:t>ТОЛЬКО</a:t>
            </a:r>
            <a:r>
              <a:rPr lang="ru-RU" dirty="0"/>
              <a:t> на обучающей выборке, а затем применяться (</a:t>
            </a:r>
            <a:r>
              <a:rPr lang="ru-RU" sz="1600" dirty="0"/>
              <a:t>.</a:t>
            </a:r>
            <a:r>
              <a:rPr lang="ru-RU" sz="1600" dirty="0" err="1"/>
              <a:t>transform</a:t>
            </a:r>
            <a:r>
              <a:rPr lang="ru-RU" sz="1600" dirty="0"/>
              <a:t>()-</a:t>
            </a:r>
            <a:r>
              <a:rPr lang="ru-RU" dirty="0"/>
              <a:t>) ко всем остальным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00AA87-99A7-5983-4C4D-4A2617C4AA1B}"/>
              </a:ext>
            </a:extLst>
          </p:cNvPr>
          <p:cNvSpPr txBox="1"/>
          <p:nvPr/>
        </p:nvSpPr>
        <p:spPr>
          <a:xfrm>
            <a:off x="587849" y="3809033"/>
            <a:ext cx="112716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Неправильная кросс-валидация для временных рядов</a:t>
            </a:r>
            <a:br>
              <a:rPr lang="ru-RU" b="1" dirty="0"/>
            </a:br>
            <a:r>
              <a:rPr lang="ru-RU" b="1" dirty="0"/>
              <a:t>Проблема:</a:t>
            </a:r>
            <a:r>
              <a:rPr lang="ru-RU" dirty="0"/>
              <a:t> Использование случайной кросс-валидации (K-</a:t>
            </a:r>
            <a:r>
              <a:rPr lang="ru-RU" dirty="0" err="1"/>
              <a:t>Fold</a:t>
            </a:r>
            <a:r>
              <a:rPr lang="ru-RU" dirty="0"/>
              <a:t>) для временных данных. Модель учится на "будущих" данных, чтобы предсказать "прошлое".</a:t>
            </a:r>
            <a:br>
              <a:rPr lang="ru-RU" dirty="0"/>
            </a:br>
            <a:r>
              <a:rPr lang="ru-RU" b="1" dirty="0"/>
              <a:t>Решение:</a:t>
            </a:r>
            <a:r>
              <a:rPr lang="ru-RU" dirty="0"/>
              <a:t> Используйте специальные методы, такие как </a:t>
            </a:r>
            <a:r>
              <a:rPr lang="ru-RU" sz="1600" dirty="0" err="1"/>
              <a:t>TimeSeriesSplit</a:t>
            </a:r>
            <a:r>
              <a:rPr lang="ru-RU" dirty="0"/>
              <a:t>, где </a:t>
            </a:r>
            <a:r>
              <a:rPr lang="ru-RU" dirty="0" err="1"/>
              <a:t>валидационная</a:t>
            </a:r>
            <a:r>
              <a:rPr lang="ru-RU" dirty="0"/>
              <a:t> выборка всегда идёт хронологически после обучающей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A32704-C654-691C-95F6-B5196754133E}"/>
              </a:ext>
            </a:extLst>
          </p:cNvPr>
          <p:cNvSpPr txBox="1"/>
          <p:nvPr/>
        </p:nvSpPr>
        <p:spPr>
          <a:xfrm>
            <a:off x="585896" y="5286361"/>
            <a:ext cx="110579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Утечка целевой переменной в признаки</a:t>
            </a:r>
            <a:br>
              <a:rPr lang="ru-RU" b="1" dirty="0"/>
            </a:br>
            <a:r>
              <a:rPr lang="ru-RU" dirty="0"/>
              <a:t>Включение в признаки данных, которые прямо или косвенно связаны с целевой переменной</a:t>
            </a:r>
            <a:br>
              <a:rPr lang="ru-RU" dirty="0"/>
            </a:br>
            <a:r>
              <a:rPr lang="ru-RU" dirty="0"/>
              <a:t>Например, признак </a:t>
            </a:r>
            <a:r>
              <a:rPr lang="ru-RU" i="1" dirty="0" err="1"/>
              <a:t>сумма_штрафа_за_просрочку</a:t>
            </a:r>
            <a:r>
              <a:rPr lang="ru-RU" i="1" dirty="0"/>
              <a:t> </a:t>
            </a:r>
            <a:r>
              <a:rPr lang="ru-RU" dirty="0"/>
              <a:t>при предсказании </a:t>
            </a:r>
            <a:r>
              <a:rPr lang="ru-RU" i="1" dirty="0" err="1"/>
              <a:t>факта_просрочки_платежа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63992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33D25-8888-AAA2-0400-1552CD7B7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97DB889-F62C-0356-24C7-381A357F4E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E219C6-F232-A9E8-193A-44D3C408B8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E13882E-B86F-37AC-BC1F-F67831F9D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DDE931B-9CBC-B702-A0CF-631C57638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A19C85-3EE4-E10C-52EB-338497D1D5E8}"/>
              </a:ext>
            </a:extLst>
          </p:cNvPr>
          <p:cNvSpPr txBox="1"/>
          <p:nvPr/>
        </p:nvSpPr>
        <p:spPr>
          <a:xfrm>
            <a:off x="1143688" y="2450743"/>
            <a:ext cx="98383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Вопрос 3:</a:t>
            </a:r>
            <a:r>
              <a:rPr lang="ru-RU" sz="2000" dirty="0"/>
              <a:t> Вы разрабатываете модель, которая предсказывает, есть ли у пациента редкая, но легко излечимая инфекция. Пропуск больного (</a:t>
            </a:r>
            <a:r>
              <a:rPr lang="ru-RU" sz="2000" dirty="0" err="1"/>
              <a:t>False</a:t>
            </a:r>
            <a:r>
              <a:rPr lang="ru-RU" sz="2000" dirty="0"/>
              <a:t> </a:t>
            </a:r>
            <a:r>
              <a:rPr lang="ru-RU" sz="2000" dirty="0" err="1"/>
              <a:t>Negative</a:t>
            </a:r>
            <a:r>
              <a:rPr lang="ru-RU" sz="2000" dirty="0"/>
              <a:t>) приведет к серьезным осложнениям и судебному иску со средней стоимостью для больницы в </a:t>
            </a:r>
            <a:r>
              <a:rPr lang="ru-RU" sz="2000" b="1" dirty="0"/>
              <a:t>$10,000</a:t>
            </a:r>
            <a:r>
              <a:rPr lang="ru-RU" sz="2000" dirty="0"/>
              <a:t>. Ложная тревога (</a:t>
            </a:r>
            <a:r>
              <a:rPr lang="ru-RU" sz="2000" dirty="0" err="1"/>
              <a:t>False</a:t>
            </a:r>
            <a:r>
              <a:rPr lang="ru-RU" sz="2000" dirty="0"/>
              <a:t> </a:t>
            </a:r>
            <a:r>
              <a:rPr lang="ru-RU" sz="2000" dirty="0" err="1"/>
              <a:t>Positive</a:t>
            </a:r>
            <a:r>
              <a:rPr lang="ru-RU" sz="2000" dirty="0"/>
              <a:t>) приведет к назначению дешевого подтверждающего анализа стоимостью </a:t>
            </a:r>
            <a:r>
              <a:rPr lang="ru-RU" sz="2000" b="1" dirty="0"/>
              <a:t>$50</a:t>
            </a:r>
            <a:br>
              <a:rPr lang="ru-RU" sz="2000" b="1" dirty="0"/>
            </a:br>
            <a:r>
              <a:rPr lang="ru-RU" sz="2000" b="1" dirty="0"/>
              <a:t>Какую метрику – </a:t>
            </a:r>
            <a:r>
              <a:rPr lang="en-US" sz="2000" b="1" dirty="0"/>
              <a:t>Precision </a:t>
            </a:r>
            <a:r>
              <a:rPr lang="ru-RU" sz="2000" b="1" dirty="0"/>
              <a:t>или </a:t>
            </a:r>
            <a:r>
              <a:rPr lang="en-US" sz="2000" b="1" dirty="0"/>
              <a:t>Recall </a:t>
            </a:r>
            <a:r>
              <a:rPr lang="ru-RU" sz="2000" b="1" dirty="0"/>
              <a:t>вы будете в первую очередь максимизировать?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32BD040F-19BE-23BD-284A-9594D3C9F1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8D167D-E33C-66A1-B71B-DD0F355C6FD9}"/>
              </a:ext>
            </a:extLst>
          </p:cNvPr>
          <p:cNvSpPr txBox="1"/>
          <p:nvPr/>
        </p:nvSpPr>
        <p:spPr>
          <a:xfrm>
            <a:off x="1143688" y="4433131"/>
            <a:ext cx="100133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Нужно максимизировать </a:t>
            </a:r>
            <a:r>
              <a:rPr lang="ru-RU" sz="2000" b="1" dirty="0"/>
              <a:t>Полноту (</a:t>
            </a:r>
            <a:r>
              <a:rPr lang="en-US" sz="2000" b="1" dirty="0"/>
              <a:t>Recall)</a:t>
            </a:r>
            <a:r>
              <a:rPr lang="en-US" sz="2000" dirty="0"/>
              <a:t>.</a:t>
            </a:r>
            <a:br>
              <a:rPr lang="ru-RU" sz="2000" dirty="0"/>
            </a:br>
            <a:r>
              <a:rPr lang="ru-RU" sz="2000" dirty="0"/>
              <a:t>Цена ошибки </a:t>
            </a:r>
            <a:r>
              <a:rPr lang="ru-RU" sz="2000" dirty="0" err="1"/>
              <a:t>False</a:t>
            </a:r>
            <a:r>
              <a:rPr lang="ru-RU" sz="2000" dirty="0"/>
              <a:t> </a:t>
            </a:r>
            <a:r>
              <a:rPr lang="ru-RU" sz="2000" dirty="0" err="1"/>
              <a:t>Negative</a:t>
            </a:r>
            <a:r>
              <a:rPr lang="ru-RU" sz="2000" dirty="0"/>
              <a:t> ($10,000) в 200 раз выше цены ошибки </a:t>
            </a:r>
            <a:r>
              <a:rPr lang="ru-RU" sz="2000" dirty="0" err="1"/>
              <a:t>False</a:t>
            </a:r>
            <a:r>
              <a:rPr lang="ru-RU" sz="2000" dirty="0"/>
              <a:t> </a:t>
            </a:r>
            <a:r>
              <a:rPr lang="ru-RU" sz="2000" dirty="0" err="1"/>
              <a:t>Positive</a:t>
            </a:r>
            <a:r>
              <a:rPr lang="ru-RU" sz="2000" dirty="0"/>
              <a:t> ($50). Гораздо страшнее пропустить больного, чем назначить 200 лишних дешевых анализов. Максимизация полноты как раз и направлена на минимизацию количества пропущенных больных (FN)</a:t>
            </a:r>
            <a:endParaRPr lang="en-US" sz="20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F0791934-38EF-E24C-203B-A11264966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35" y="2450743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326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1235D-3AA6-D538-08E9-82BE7A8DA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48BBAE2-416D-A7DE-D5A1-455E40BD40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F42E3D8-D79C-13E2-E597-9A1ABC6859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C16BBAD-5C73-8418-AA55-C4EE5FF5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D419FD0B-04F6-2CD5-83AD-A78E886C7CA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95168D-F55C-A076-5B5A-A80B65F7615A}"/>
              </a:ext>
            </a:extLst>
          </p:cNvPr>
          <p:cNvSpPr txBox="1"/>
          <p:nvPr/>
        </p:nvSpPr>
        <p:spPr>
          <a:xfrm>
            <a:off x="1143689" y="2450743"/>
            <a:ext cx="92860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Вопрос 4:</a:t>
            </a:r>
            <a:r>
              <a:rPr lang="ru-RU" sz="2000" dirty="0"/>
              <a:t> При сдвиге порога в логистической регрессии </a:t>
            </a:r>
            <a:r>
              <a:rPr lang="ru-RU" sz="2000" dirty="0" err="1"/>
              <a:t>Recall</a:t>
            </a:r>
            <a:r>
              <a:rPr lang="ru-RU" sz="2000" dirty="0"/>
              <a:t> вырос с 0.70 до 0.90. Что почти наверняка произойдёт с Precision и почему?</a:t>
            </a:r>
            <a:endParaRPr lang="ru-RU" sz="2000" b="1" dirty="0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970E21BC-CD6B-540A-26D6-05895CFAF8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27F90-C6C3-2AF2-C2FC-E6B1C129220C}"/>
              </a:ext>
            </a:extLst>
          </p:cNvPr>
          <p:cNvSpPr txBox="1"/>
          <p:nvPr/>
        </p:nvSpPr>
        <p:spPr>
          <a:xfrm>
            <a:off x="1089305" y="3499315"/>
            <a:ext cx="1001339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(Вспоминаем примеры графика </a:t>
            </a:r>
            <a:r>
              <a:rPr lang="en-US" sz="2000" dirty="0"/>
              <a:t>Precision-Recall Curve)</a:t>
            </a:r>
            <a:br>
              <a:rPr lang="en-US" sz="2000" dirty="0"/>
            </a:br>
            <a:r>
              <a:rPr lang="ru-RU" sz="2000" dirty="0"/>
              <a:t>Precision обычно </a:t>
            </a:r>
            <a:r>
              <a:rPr lang="ru-RU" sz="2000" b="1" dirty="0"/>
              <a:t>снижается</a:t>
            </a:r>
            <a:r>
              <a:rPr lang="ru-RU" sz="2000" dirty="0"/>
              <a:t>: при снижении порога больше объектов помечаются «положительными», вместе с TP растут и FP → доля истинно положительных среди предсказанных положительных уменьшается</a:t>
            </a:r>
            <a:endParaRPr lang="ru-RU" sz="2000" dirty="0">
              <a:latin typeface="HSE Sans" panose="02000000000000000000" pitchFamily="2" charset="0"/>
            </a:endParaRPr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3381451F-A5B3-FE15-6A2D-0FCBC4CBC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35" y="2450743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1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67D85-0E86-1067-57D6-CB39A9CC6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ED34B56-EFC7-A532-843C-C263C31C8B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 dirty="0"/>
              <a:t>Центр биомедицинских исследований и технологий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17F4C60-9AA5-0BEC-99FF-E37BA4933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1D68AF6-41D7-A789-2557-5D11C1D4E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Вопросы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F55BFE9-9996-086F-1749-18E03F2BA6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549DA2-86EF-E29F-928D-EEC8204C550C}"/>
              </a:ext>
            </a:extLst>
          </p:cNvPr>
          <p:cNvSpPr txBox="1"/>
          <p:nvPr/>
        </p:nvSpPr>
        <p:spPr>
          <a:xfrm>
            <a:off x="1143689" y="2224815"/>
            <a:ext cx="1018009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Вопрос 5:</a:t>
            </a:r>
            <a:r>
              <a:rPr lang="ru-RU" sz="2000" dirty="0"/>
              <a:t> Вы работаете над задачей предсказания ответа на новую терапию. </a:t>
            </a:r>
          </a:p>
          <a:p>
            <a:r>
              <a:rPr lang="ru-RU" sz="2000" dirty="0"/>
              <a:t>У вас есть данные всего по </a:t>
            </a:r>
            <a:r>
              <a:rPr lang="ru-RU" sz="2000" b="1" dirty="0"/>
              <a:t>30 пациентам</a:t>
            </a:r>
            <a:r>
              <a:rPr lang="ru-RU" sz="2000" dirty="0"/>
              <a:t>, но для каждого из них вы измерили экспрессию </a:t>
            </a:r>
            <a:r>
              <a:rPr lang="ru-RU" sz="2000" b="1" dirty="0"/>
              <a:t>20,000 генов</a:t>
            </a:r>
            <a:r>
              <a:rPr lang="ru-RU" sz="2000" dirty="0"/>
              <a:t>. Ваш коллега предлагает использовать очень гибкую и сложную модель (например, глубокую нейронную сеть), чтобы "найти все возможные скрытые закономерности". Вы же предлагаете использовать  простую модель (например, логистическую регрессию с сильной L1-регуляризацией). </a:t>
            </a:r>
            <a:br>
              <a:rPr lang="ru-RU" sz="2000" dirty="0"/>
            </a:br>
            <a:r>
              <a:rPr lang="ru-RU" sz="2000" dirty="0"/>
              <a:t>Чей подход, скорее всего, приведет к созданию более полезной и обобщающей модели?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33AE3A86-7F3B-590E-8278-28930D51716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B20263-E16E-17C4-8C79-8186C527840E}"/>
              </a:ext>
            </a:extLst>
          </p:cNvPr>
          <p:cNvSpPr txBox="1"/>
          <p:nvPr/>
        </p:nvSpPr>
        <p:spPr>
          <a:xfrm>
            <a:off x="1143688" y="4712453"/>
            <a:ext cx="101800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/>
              <a:t>Это классический случай, когда количество признаков (p=20,000) намного превышает количество наблюдений (n=30)</a:t>
            </a:r>
            <a:br>
              <a:rPr lang="ru-RU" sz="2000" dirty="0"/>
            </a:br>
            <a:r>
              <a:rPr lang="ru-RU" sz="2000" dirty="0"/>
              <a:t>Сложная модель идеально «вызубрит» обучающую выборку, но на новых данных покажет результат не лучше случайного угадывания (переобучение).</a:t>
            </a:r>
            <a:br>
              <a:rPr lang="ru-RU" sz="2000" dirty="0"/>
            </a:br>
            <a:r>
              <a:rPr lang="ru-RU" sz="2000" dirty="0"/>
              <a:t>Простая модель с регуляризацией сможет обнулить лишние гены и найти основной </a:t>
            </a:r>
            <a:r>
              <a:rPr lang="ru-RU" sz="2000"/>
              <a:t>биологический сигнал.</a:t>
            </a:r>
            <a:endParaRPr lang="ru-RU" sz="200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5333441E-B4A2-7897-802E-529CAEC07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035" y="2224815"/>
            <a:ext cx="70788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87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4A022-1FE1-ACA3-7F8E-05BBAC96D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1ED199E-2A35-44CB-B297-87A2DD87A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ctr"/>
          <a:lstStyle/>
          <a:p>
            <a:r>
              <a:rPr lang="ru-RU"/>
              <a:t>Центр биомедицинских исследований и технологий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EBC24B-8D95-C1D8-4DF7-4B21C73646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anchor="ctr"/>
          <a:lstStyle/>
          <a:p>
            <a:r>
              <a:rPr lang="ru-RU" dirty="0"/>
              <a:t>Введение в машинное обучение. Лекция 5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5E49FA6-1477-3908-18E5-E0F77F6A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Заключение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70859C3A-CE7A-2679-9899-2DD3748C17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anchor="ctr"/>
          <a:lstStyle/>
          <a:p>
            <a:r>
              <a:rPr lang="ru-RU" dirty="0"/>
              <a:t>Оценка моделей и борьба с переобучением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519B4773-5194-F9B3-E3A7-9116D9AFC46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5C6087-1FED-9715-77D2-851DA364099C}"/>
              </a:ext>
            </a:extLst>
          </p:cNvPr>
          <p:cNvSpPr txBox="1"/>
          <p:nvPr/>
        </p:nvSpPr>
        <p:spPr>
          <a:xfrm>
            <a:off x="585897" y="2154296"/>
            <a:ext cx="80685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Цель — обобщение, а не запоминание.</a:t>
            </a:r>
            <a:r>
              <a:rPr lang="ru-RU" sz="2400" dirty="0"/>
              <a:t> Хорошая модель — та, что работает на новых данных, а не та, что вызубрила старые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Бойтесь крайностей: </a:t>
            </a:r>
            <a:r>
              <a:rPr lang="ru-RU" sz="2400" b="1" dirty="0" err="1"/>
              <a:t>недообучения</a:t>
            </a:r>
            <a:r>
              <a:rPr lang="ru-RU" sz="2400" b="1" dirty="0"/>
              <a:t> и переобучения.</a:t>
            </a:r>
            <a:r>
              <a:rPr lang="ru-RU" sz="2400" dirty="0"/>
              <a:t> Всегда ищите баланс между смещением (</a:t>
            </a:r>
            <a:r>
              <a:rPr lang="ru-RU" sz="2400" dirty="0" err="1"/>
              <a:t>bias</a:t>
            </a:r>
            <a:r>
              <a:rPr lang="ru-RU" sz="2400" dirty="0"/>
              <a:t>) и дисперсией (</a:t>
            </a:r>
            <a:r>
              <a:rPr lang="ru-RU" sz="2400" dirty="0" err="1"/>
              <a:t>variance</a:t>
            </a:r>
            <a:r>
              <a:rPr lang="ru-RU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Разделение данных.</a:t>
            </a:r>
            <a:r>
              <a:rPr lang="ru-RU" sz="2400" dirty="0"/>
              <a:t> Обучайте на </a:t>
            </a:r>
            <a:r>
              <a:rPr lang="ru-RU" sz="2400" b="1" dirty="0" err="1"/>
              <a:t>train</a:t>
            </a:r>
            <a:r>
              <a:rPr lang="ru-RU" sz="2400" dirty="0"/>
              <a:t>, настраивайте на </a:t>
            </a:r>
            <a:r>
              <a:rPr lang="ru-RU" sz="2400" b="1" dirty="0" err="1"/>
              <a:t>validation</a:t>
            </a:r>
            <a:r>
              <a:rPr lang="ru-RU" sz="2400" dirty="0"/>
              <a:t>, а финальную оценку проводите на </a:t>
            </a:r>
            <a:r>
              <a:rPr lang="ru-RU" sz="2400" b="1" dirty="0" err="1"/>
              <a:t>test</a:t>
            </a:r>
            <a:r>
              <a:rPr lang="ru-RU" sz="2400" dirty="0"/>
              <a:t> только один раз. Для надежности используйте кросс-валидацию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Метрика зависит от задачи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Контролируйте сложность.</a:t>
            </a:r>
            <a:r>
              <a:rPr lang="ru-RU" sz="2400" dirty="0"/>
              <a:t> Регуляризация, параметры модели</a:t>
            </a:r>
            <a:endParaRPr lang="ru-RU" sz="24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0505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16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>
            <a:latin typeface="HSE Sans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E5D50C9-9995-4F81-99C1-2709443C08DD}">
  <we:reference id="wa104381909" version="3.19.0.0" store="ru-RU" storeType="OMEX"/>
  <we:alternateReferences>
    <we:reference id="WA104381909" version="3.19.0.0" store="WA10438190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2A9C74E6E830D74E9B0FDDB4017A5417" ma:contentTypeVersion="13" ma:contentTypeDescription="Создание документа." ma:contentTypeScope="" ma:versionID="d4e423622451d608a8a05f4da7a1e1a2">
  <xsd:schema xmlns:xsd="http://www.w3.org/2001/XMLSchema" xmlns:xs="http://www.w3.org/2001/XMLSchema" xmlns:p="http://schemas.microsoft.com/office/2006/metadata/properties" xmlns:ns2="9875bd71-cde8-496c-a136-433f55d5e6d0" xmlns:ns3="e96afe77-3acb-4328-97fc-408e1bde3ecd" targetNamespace="http://schemas.microsoft.com/office/2006/metadata/properties" ma:root="true" ma:fieldsID="4831203c63c08b9f52ea6d3ee0d7a96e" ns2:_="" ns3:_="">
    <xsd:import namespace="9875bd71-cde8-496c-a136-433f55d5e6d0"/>
    <xsd:import namespace="e96afe77-3acb-4328-97fc-408e1bde3e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5bd71-cde8-496c-a136-433f55d5e6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6afe77-3acb-4328-97fc-408e1bde3ec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4386AA-1848-4C75-B336-1053927CB0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3DAF31-D8A6-49A0-9A5D-8B2EA5B1C511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  <ds:schemaRef ds:uri="e96afe77-3acb-4328-97fc-408e1bde3ecd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9875bd71-cde8-496c-a136-433f55d5e6d0"/>
  </ds:schemaRefs>
</ds:datastoreItem>
</file>

<file path=customXml/itemProps3.xml><?xml version="1.0" encoding="utf-8"?>
<ds:datastoreItem xmlns:ds="http://schemas.openxmlformats.org/officeDocument/2006/customXml" ds:itemID="{4D4651DD-DCCC-4759-B2F6-7F520BDCC2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75bd71-cde8-496c-a136-433f55d5e6d0"/>
    <ds:schemaRef ds:uri="e96afe77-3acb-4328-97fc-408e1bde3e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5320</TotalTime>
  <Words>3615</Words>
  <Application>Microsoft Office PowerPoint</Application>
  <PresentationFormat>Широкоэкранный</PresentationFormat>
  <Paragraphs>405</Paragraphs>
  <Slides>37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4" baseType="lpstr">
      <vt:lpstr>Arial</vt:lpstr>
      <vt:lpstr>Arial Unicode MS</vt:lpstr>
      <vt:lpstr>Calibri</vt:lpstr>
      <vt:lpstr>Calibri Light</vt:lpstr>
      <vt:lpstr>Cambria Math</vt:lpstr>
      <vt:lpstr>HSE Sans</vt:lpstr>
      <vt:lpstr>Office Theme</vt:lpstr>
      <vt:lpstr>Лекция 5: Оценка моделей и борьба с переобучением</vt:lpstr>
      <vt:lpstr>План лекции</vt:lpstr>
      <vt:lpstr>Что означает «хорошая» модель?</vt:lpstr>
      <vt:lpstr>Недообучение vs Переобучение</vt:lpstr>
      <vt:lpstr>Недообучение vs Переобучение</vt:lpstr>
      <vt:lpstr>Дилемма смещения-дисперсии</vt:lpstr>
      <vt:lpstr>Дилемма смещения-дисперсии</vt:lpstr>
      <vt:lpstr>Регуляризация</vt:lpstr>
      <vt:lpstr>L2 – Регуляризация (Тихонова, Ridge)</vt:lpstr>
      <vt:lpstr>L1 – Регуляризация (Lasso)</vt:lpstr>
      <vt:lpstr>Почему регуляризация работает?</vt:lpstr>
      <vt:lpstr>Почему регуляризация зануляет признаки?</vt:lpstr>
      <vt:lpstr>Почему регуляризация зануляет признаки?</vt:lpstr>
      <vt:lpstr>L2 – Регуляризация (Тихонова, Ridge)</vt:lpstr>
      <vt:lpstr>L1 – Регуляризация (Lasso)</vt:lpstr>
      <vt:lpstr>Elastic Net – Регуляризация</vt:lpstr>
      <vt:lpstr>Зачем делить данные?</vt:lpstr>
      <vt:lpstr>Аналогия: студенты и экзамен</vt:lpstr>
      <vt:lpstr>Почему двух выборок недостаточно?</vt:lpstr>
      <vt:lpstr>Кросс-валидация</vt:lpstr>
      <vt:lpstr>Кросс-валидация: ограничения</vt:lpstr>
      <vt:lpstr>Метрики классификации - повторение</vt:lpstr>
      <vt:lpstr>Словарь: ML ↔ клиника</vt:lpstr>
      <vt:lpstr>Порог — решение, а не свойство модели</vt:lpstr>
      <vt:lpstr>Precision-Recall кривая (PRCurve)</vt:lpstr>
      <vt:lpstr>Вопросы</vt:lpstr>
      <vt:lpstr>ROC-кривая: идея</vt:lpstr>
      <vt:lpstr>Вопросы</vt:lpstr>
      <vt:lpstr>Дисбаланс классов – проблема «иголок в стоге сена»</vt:lpstr>
      <vt:lpstr>Дисбаланс классов – что делать?</vt:lpstr>
      <vt:lpstr>Утечки данных (Data Leakage)</vt:lpstr>
      <vt:lpstr>Утечки данных (Data Leakage) – основные причины</vt:lpstr>
      <vt:lpstr>Вопросы</vt:lpstr>
      <vt:lpstr>Вопросы</vt:lpstr>
      <vt:lpstr>Вопросы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Кутьков Юрий Юрьевич</dc:creator>
  <cp:lastModifiedBy>Artem Bashkatov</cp:lastModifiedBy>
  <cp:revision>358</cp:revision>
  <cp:lastPrinted>2021-11-11T13:08:42Z</cp:lastPrinted>
  <dcterms:created xsi:type="dcterms:W3CDTF">2021-11-11T08:52:47Z</dcterms:created>
  <dcterms:modified xsi:type="dcterms:W3CDTF">2026-10-20T14:52:00Z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0x0101002A9C74E6E830D74E9B0FDDB4017A5417</vt:lpwstr>
  </property>
</Properties>
</file>